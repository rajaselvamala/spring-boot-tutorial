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Lst>
  <p:sldSz cy="5143500" cx="9144000"/>
  <p:notesSz cx="6858000" cy="9144000"/>
  <p:embeddedFontLst>
    <p:embeddedFont>
      <p:font typeface="Roboto"/>
      <p:regular r:id="rId103"/>
      <p:bold r:id="rId104"/>
      <p:italic r:id="rId105"/>
      <p:boldItalic r:id="rId106"/>
    </p:embeddedFont>
    <p:embeddedFont>
      <p:font typeface="Nunito"/>
      <p:regular r:id="rId107"/>
      <p:bold r:id="rId108"/>
      <p:italic r:id="rId109"/>
      <p:boldItalic r:id="rId1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CF43B0-E42B-4D9D-A980-A0F6B66A534A}">
  <a:tblStyle styleId="{C6CF43B0-E42B-4D9D-A980-A0F6B66A53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Nunito-regular.fntdata"/><Relationship Id="rId106" Type="http://schemas.openxmlformats.org/officeDocument/2006/relationships/font" Target="fonts/Roboto-boldItalic.fntdata"/><Relationship Id="rId105" Type="http://schemas.openxmlformats.org/officeDocument/2006/relationships/font" Target="fonts/Roboto-italic.fntdata"/><Relationship Id="rId104" Type="http://schemas.openxmlformats.org/officeDocument/2006/relationships/font" Target="fonts/Roboto-bold.fntdata"/><Relationship Id="rId109" Type="http://schemas.openxmlformats.org/officeDocument/2006/relationships/font" Target="fonts/Nunito-italic.fntdata"/><Relationship Id="rId108" Type="http://schemas.openxmlformats.org/officeDocument/2006/relationships/font" Target="fonts/Nunito-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oboto-regular.fntdata"/><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10" Type="http://schemas.openxmlformats.org/officeDocument/2006/relationships/font" Target="fonts/Nunito-boldItalic.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2330360c4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2330360c4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2330360c4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2330360c4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2330360c4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2330360c4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2330360c4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2330360c4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2330360c4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2330360c4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2330360c4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2330360c4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2330360c4a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2330360c4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2330360c4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2330360c4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2330360c4a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2330360c4a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2330360c4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2330360c4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2330360c4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2330360c4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2395474b5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2395474b5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2395474b5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2395474b5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2642f34c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2642f34c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e014b88b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e014b88b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e014b88bd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e014b88bd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e014b88bd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e014b88bd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e014b88bd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e014b88bd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e014b88bd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e014b88bd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e014b88bd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e014b88bd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2330360c4a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2330360c4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2395474b5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2395474b5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2395474b5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2395474b5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2642f34cc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2642f34c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2642f34cc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2642f34cc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e014b88bd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e014b88bd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e014b88bd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e014b88bd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e014b88bd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e014b88bd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e014b88bd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e014b88bd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e014b88bd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e014b88bd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e014b88bd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e014b88bd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e014b88bd7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e014b88bd7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e014b88bd7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e014b88bd7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e014b88bd7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e014b88bd7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e014b88bd7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e014b88bd7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e014b88bd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e014b88bd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e014b88bd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e014b88bd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e014b88bd7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e014b88bd7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e014b88bd7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e014b88bd7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1472384c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1472384c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2e2e87693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2e2e87693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2e2e87693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2e2e87693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2e2e87693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2e2e87693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2e2e87693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2e2e87693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2e2e87693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2e2e87693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2e2e87693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2e2e87693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2e2e87693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2e2e87693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2e2e87693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2e2e87693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2e2e87693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2e2e87693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2e2e87693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2e2e87693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2e2e87693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2e2e87693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2e2e87693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2e2e87693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2e2e87693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2e2e87693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2e2e87693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2e2e87693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2e2e87693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2e2e87693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2e2e87693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2e2e87693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2e2e87693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2e2e87693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2e2e87693a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2e2e87693a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2e2e87693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2e2e87693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2e2e87693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2e2e87693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2e2e87693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2e2e87693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2e2e87693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2e2e87693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2e2e87693a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2e2e87693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2e2e87693a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2e2e87693a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2e2e87693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2e2e87693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2e2e87693a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2e2e87693a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2e2e87693a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2e2e87693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2e2e87693a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22e2e87693a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2e2e87693a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2e2e87693a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2e2e87693a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2e2e87693a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2e2e87693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2e2e87693a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2e2e87693a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2e2e87693a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22e2e87693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22e2e87693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2e2e87693a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2e2e87693a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2e2e87693a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22e2e87693a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2e2e87693a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2e2e87693a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2e2e87693a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2e2e87693a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2e89a8ea5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2e89a8ea5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2e89a8ea5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2e89a8ea5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2e89a8ea5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2e89a8ea5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2e89a8ea5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2e89a8ea5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2e89a8ea5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2e89a8ea5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2e89a8ea5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2e89a8ea5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2e89a8ea5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22e89a8ea5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2e89a8ea5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2e89a8ea5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2e89a8ea5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2e89a8ea5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2e89a8ea5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2e89a8ea5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2e89a8ea5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2e89a8ea5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22e89a8ea5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22e89a8ea5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22e89a8ea5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22e89a8ea5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2e89a8ea5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2e89a8ea5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22e89a8ea57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22e89a8ea57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2e89a8ea57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22e89a8ea57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22e89a8ea5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22e89a8ea5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22e89a8ea57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22e89a8ea57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www.javaguides.net/2018/09/spring-propertysource-annotation-with-example.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www.javaguides.net/2018/09/spring-boot-springbootapplication-annotation-with-example.html" TargetMode="External"/><Relationship Id="rId4" Type="http://schemas.openxmlformats.org/officeDocument/2006/relationships/hyperlink" Target="http://www.javaguides.net/2018/09/spring-bean-annotation-with-example.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www.javaguides.net/2018/09/spring-boot-enableautoconfiguration-annotation-with-example.html" TargetMode="External"/><Relationship Id="rId4" Type="http://schemas.openxmlformats.org/officeDocument/2006/relationships/hyperlink" Target="http://www.javaguides.net/2018/09/spring-boot-enableautoconfiguration-annotation-with-example.html" TargetMode="External"/><Relationship Id="rId5" Type="http://schemas.openxmlformats.org/officeDocument/2006/relationships/hyperlink" Target="http://www.javaguides.net/2018/09/spring-boot-springbootapplication-annotation-with-example.htm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hyperlink" Target="https://www.softwaretestinghelp.com/restful-web-services-interview-question/"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Spring Boot</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Basic concept in Spring Boot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Spring?</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400">
                <a:solidFill>
                  <a:srgbClr val="374151"/>
                </a:solidFill>
                <a:highlight>
                  <a:srgbClr val="F7F7F8"/>
                </a:highlight>
                <a:latin typeface="Nunito"/>
                <a:ea typeface="Nunito"/>
                <a:cs typeface="Nunito"/>
                <a:sym typeface="Nunito"/>
              </a:rPr>
              <a:t>Spring is a popular open-source framework for building Java applications</a:t>
            </a:r>
            <a:r>
              <a:rPr lang="en" sz="2400">
                <a:solidFill>
                  <a:srgbClr val="374151"/>
                </a:solidFill>
                <a:highlight>
                  <a:srgbClr val="F7F7F8"/>
                </a:highlight>
                <a:latin typeface="Nunito"/>
                <a:ea typeface="Nunito"/>
                <a:cs typeface="Nunito"/>
                <a:sym typeface="Nunito"/>
              </a:rPr>
              <a:t> that provides a wide range of features for </a:t>
            </a:r>
            <a:r>
              <a:rPr b="1" lang="en" sz="2400">
                <a:solidFill>
                  <a:srgbClr val="374151"/>
                </a:solidFill>
                <a:highlight>
                  <a:srgbClr val="F7F7F8"/>
                </a:highlight>
                <a:latin typeface="Nunito"/>
                <a:ea typeface="Nunito"/>
                <a:cs typeface="Nunito"/>
                <a:sym typeface="Nunito"/>
              </a:rPr>
              <a:t>developing robust, scalable, and maintainable applications.</a:t>
            </a:r>
            <a:endParaRPr b="1" sz="2400">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Spring Boot?</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solidFill>
                  <a:srgbClr val="374151"/>
                </a:solidFill>
                <a:highlight>
                  <a:srgbClr val="F7F7F8"/>
                </a:highlight>
                <a:latin typeface="Nunito"/>
                <a:ea typeface="Nunito"/>
                <a:cs typeface="Nunito"/>
                <a:sym typeface="Nunito"/>
              </a:rPr>
              <a:t>Spring Boot is a framework for building and deploying stand-alone, production-grade </a:t>
            </a:r>
            <a:r>
              <a:rPr b="1" lang="en" sz="1800">
                <a:solidFill>
                  <a:srgbClr val="374151"/>
                </a:solidFill>
                <a:highlight>
                  <a:srgbClr val="F7F7F8"/>
                </a:highlight>
                <a:latin typeface="Nunito"/>
                <a:ea typeface="Nunito"/>
                <a:cs typeface="Nunito"/>
                <a:sym typeface="Nunito"/>
              </a:rPr>
              <a:t>Spring-based applications quickly and with minimal configuration.</a:t>
            </a:r>
            <a:br>
              <a:rPr b="1" lang="en" sz="1800">
                <a:solidFill>
                  <a:srgbClr val="374151"/>
                </a:solidFill>
                <a:highlight>
                  <a:srgbClr val="F7F7F8"/>
                </a:highlight>
                <a:latin typeface="Nunito"/>
                <a:ea typeface="Nunito"/>
                <a:cs typeface="Nunito"/>
                <a:sym typeface="Nunito"/>
              </a:rPr>
            </a:br>
            <a:br>
              <a:rPr b="1" lang="en" sz="1800">
                <a:solidFill>
                  <a:srgbClr val="374151"/>
                </a:solidFill>
                <a:highlight>
                  <a:srgbClr val="F7F7F8"/>
                </a:highlight>
                <a:latin typeface="Nunito"/>
                <a:ea typeface="Nunito"/>
                <a:cs typeface="Nunito"/>
                <a:sym typeface="Nunito"/>
              </a:rPr>
            </a:br>
            <a:r>
              <a:rPr b="1" lang="en" sz="1800">
                <a:solidFill>
                  <a:srgbClr val="000000"/>
                </a:solidFill>
                <a:latin typeface="Nunito"/>
                <a:ea typeface="Nunito"/>
                <a:cs typeface="Nunito"/>
                <a:sym typeface="Nunito"/>
              </a:rPr>
              <a:t>Spring boot is an extension of spring framework. It eliminates the boilerplate configuration code in our developing application.</a:t>
            </a:r>
            <a:endParaRPr b="1" sz="180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 between Spring and Spring Boot?</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48" name="Google Shape;148;p16"/>
          <p:cNvGraphicFramePr/>
          <p:nvPr/>
        </p:nvGraphicFramePr>
        <p:xfrm>
          <a:off x="891725" y="2053450"/>
          <a:ext cx="3000000" cy="3000000"/>
        </p:xfrm>
        <a:graphic>
          <a:graphicData uri="http://schemas.openxmlformats.org/drawingml/2006/table">
            <a:tbl>
              <a:tblPr>
                <a:noFill/>
                <a:tableStyleId>{C6CF43B0-E42B-4D9D-A980-A0F6B66A534A}</a:tableStyleId>
              </a:tblPr>
              <a:tblGrid>
                <a:gridCol w="3619500"/>
                <a:gridCol w="3619500"/>
              </a:tblGrid>
              <a:tr h="381000">
                <a:tc>
                  <a:txBody>
                    <a:bodyPr/>
                    <a:lstStyle/>
                    <a:p>
                      <a:pPr indent="0" lvl="0" marL="0" rtl="0" algn="l">
                        <a:spcBef>
                          <a:spcPts val="0"/>
                        </a:spcBef>
                        <a:spcAft>
                          <a:spcPts val="0"/>
                        </a:spcAft>
                        <a:buNone/>
                      </a:pPr>
                      <a:r>
                        <a:rPr lang="en"/>
                        <a:t>Spring</a:t>
                      </a:r>
                      <a:endParaRPr/>
                    </a:p>
                  </a:txBody>
                  <a:tcPr marT="91425" marB="91425" marR="91425" marL="91425"/>
                </a:tc>
                <a:tc>
                  <a:txBody>
                    <a:bodyPr/>
                    <a:lstStyle/>
                    <a:p>
                      <a:pPr indent="0" lvl="0" marL="0" rtl="0" algn="l">
                        <a:spcBef>
                          <a:spcPts val="0"/>
                        </a:spcBef>
                        <a:spcAft>
                          <a:spcPts val="0"/>
                        </a:spcAft>
                        <a:buNone/>
                      </a:pPr>
                      <a:r>
                        <a:rPr lang="en"/>
                        <a:t>Spring Boot</a:t>
                      </a:r>
                      <a:endParaRPr/>
                    </a:p>
                  </a:txBody>
                  <a:tcPr marT="91425" marB="91425" marR="91425" marL="91425"/>
                </a:tc>
              </a:tr>
              <a:tr h="381000">
                <a:tc>
                  <a:txBody>
                    <a:bodyPr/>
                    <a:lstStyle/>
                    <a:p>
                      <a:pPr indent="0" lvl="0" marL="0" rtl="0" algn="l">
                        <a:spcBef>
                          <a:spcPts val="0"/>
                        </a:spcBef>
                        <a:spcAft>
                          <a:spcPts val="0"/>
                        </a:spcAft>
                        <a:buNone/>
                      </a:pPr>
                      <a:r>
                        <a:rPr lang="en" sz="1050">
                          <a:solidFill>
                            <a:srgbClr val="374151"/>
                          </a:solidFill>
                          <a:highlight>
                            <a:srgbClr val="F7F7F8"/>
                          </a:highlight>
                          <a:latin typeface="Roboto"/>
                          <a:ea typeface="Roboto"/>
                          <a:cs typeface="Roboto"/>
                          <a:sym typeface="Roboto"/>
                        </a:rPr>
                        <a:t>Spring is a modular framework for building Java applications that provides various components and modules for developing enterprise-level applications.</a:t>
                      </a:r>
                      <a:endParaRPr/>
                    </a:p>
                  </a:txBody>
                  <a:tcPr marT="91425" marB="91425" marR="91425" marL="91425"/>
                </a:tc>
                <a:tc>
                  <a:txBody>
                    <a:bodyPr/>
                    <a:lstStyle/>
                    <a:p>
                      <a:pPr indent="0" lvl="0" marL="0" rtl="0" algn="l">
                        <a:spcBef>
                          <a:spcPts val="0"/>
                        </a:spcBef>
                        <a:spcAft>
                          <a:spcPts val="0"/>
                        </a:spcAft>
                        <a:buNone/>
                      </a:pPr>
                      <a:r>
                        <a:rPr lang="en" sz="1050">
                          <a:solidFill>
                            <a:srgbClr val="374151"/>
                          </a:solidFill>
                          <a:highlight>
                            <a:srgbClr val="F7F7F8"/>
                          </a:highlight>
                          <a:latin typeface="Roboto"/>
                          <a:ea typeface="Roboto"/>
                          <a:cs typeface="Roboto"/>
                          <a:sym typeface="Roboto"/>
                        </a:rPr>
                        <a:t>Spring Boot is an opinionated framework built on top of the Spring framework that provides an easy and quick way to build stand-alone, production-grade Spring applications with minimal configuration.</a:t>
                      </a:r>
                      <a:endParaRPr/>
                    </a:p>
                  </a:txBody>
                  <a:tcPr marT="91425" marB="91425" marR="91425" marL="91425"/>
                </a:tc>
              </a:tr>
              <a:tr h="381000">
                <a:tc>
                  <a:txBody>
                    <a:bodyPr/>
                    <a:lstStyle/>
                    <a:p>
                      <a:pPr indent="0" lvl="0" marL="0" rtl="0" algn="l">
                        <a:spcBef>
                          <a:spcPts val="0"/>
                        </a:spcBef>
                        <a:spcAft>
                          <a:spcPts val="0"/>
                        </a:spcAft>
                        <a:buNone/>
                      </a:pPr>
                      <a:r>
                        <a:rPr lang="en" sz="1050">
                          <a:solidFill>
                            <a:srgbClr val="374151"/>
                          </a:solidFill>
                          <a:highlight>
                            <a:srgbClr val="F7F7F8"/>
                          </a:highlight>
                          <a:latin typeface="Roboto"/>
                          <a:ea typeface="Roboto"/>
                          <a:cs typeface="Roboto"/>
                          <a:sym typeface="Roboto"/>
                        </a:rPr>
                        <a:t>Spring requires manual configuration and setup for various components, such as web applications, security, and data access.</a:t>
                      </a:r>
                      <a:endParaRPr/>
                    </a:p>
                  </a:txBody>
                  <a:tcPr marT="91425" marB="91425" marR="91425" marL="91425"/>
                </a:tc>
                <a:tc>
                  <a:txBody>
                    <a:bodyPr/>
                    <a:lstStyle/>
                    <a:p>
                      <a:pPr indent="0" lvl="0" marL="0" rtl="0" algn="l">
                        <a:spcBef>
                          <a:spcPts val="0"/>
                        </a:spcBef>
                        <a:spcAft>
                          <a:spcPts val="0"/>
                        </a:spcAft>
                        <a:buNone/>
                      </a:pPr>
                      <a:r>
                        <a:rPr lang="en" sz="1050">
                          <a:solidFill>
                            <a:srgbClr val="374151"/>
                          </a:solidFill>
                          <a:highlight>
                            <a:srgbClr val="F7F7F8"/>
                          </a:highlight>
                          <a:latin typeface="Roboto"/>
                          <a:ea typeface="Roboto"/>
                          <a:cs typeface="Roboto"/>
                          <a:sym typeface="Roboto"/>
                        </a:rPr>
                        <a:t>Spring Boot provides auto-configuration for many components, which reduces manual configuration and speeds up the development process.</a:t>
                      </a:r>
                      <a:endParaRPr/>
                    </a:p>
                  </a:txBody>
                  <a:tcPr marT="91425" marB="91425" marR="91425" marL="91425"/>
                </a:tc>
              </a:tr>
              <a:tr h="381000">
                <a:tc>
                  <a:txBody>
                    <a:bodyPr/>
                    <a:lstStyle/>
                    <a:p>
                      <a:pPr indent="0" lvl="0" marL="0" rtl="0" algn="l">
                        <a:spcBef>
                          <a:spcPts val="0"/>
                        </a:spcBef>
                        <a:spcAft>
                          <a:spcPts val="0"/>
                        </a:spcAft>
                        <a:buNone/>
                      </a:pPr>
                      <a:r>
                        <a:rPr lang="en" sz="1050">
                          <a:solidFill>
                            <a:srgbClr val="374151"/>
                          </a:solidFill>
                          <a:highlight>
                            <a:srgbClr val="F7F7F8"/>
                          </a:highlight>
                          <a:latin typeface="Roboto"/>
                          <a:ea typeface="Roboto"/>
                          <a:cs typeface="Roboto"/>
                          <a:sym typeface="Roboto"/>
                        </a:rPr>
                        <a:t>Spring requires developers to choose and configure various dependencies and versions manually.</a:t>
                      </a:r>
                      <a:endParaRPr sz="1050">
                        <a:solidFill>
                          <a:srgbClr val="374151"/>
                        </a:solidFill>
                        <a:highlight>
                          <a:srgbClr val="F7F7F8"/>
                        </a:highlight>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050">
                          <a:solidFill>
                            <a:srgbClr val="374151"/>
                          </a:solidFill>
                          <a:highlight>
                            <a:srgbClr val="F7F7F8"/>
                          </a:highlight>
                          <a:latin typeface="Roboto"/>
                          <a:ea typeface="Roboto"/>
                          <a:cs typeface="Roboto"/>
                          <a:sym typeface="Roboto"/>
                        </a:rPr>
                        <a:t>Spring Boot provides a pre-configured set of dependencies and versions that work together seamlessly, reducing the time and effort required for manual configuration.</a:t>
                      </a:r>
                      <a:endParaRPr sz="1050">
                        <a:solidFill>
                          <a:srgbClr val="374151"/>
                        </a:solidFill>
                        <a:highlight>
                          <a:srgbClr val="F7F7F8"/>
                        </a:highlight>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a:t>
            </a:r>
            <a:r>
              <a:rPr lang="en"/>
              <a:t> Spring IOC and Dependency Injection?</a:t>
            </a:r>
            <a:endParaRPr/>
          </a:p>
        </p:txBody>
      </p:sp>
      <p:sp>
        <p:nvSpPr>
          <p:cNvPr id="154" name="Google Shape;154;p1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36550" lvl="0" marL="457200" rtl="0" algn="l">
              <a:spcBef>
                <a:spcPts val="1600"/>
              </a:spcBef>
              <a:spcAft>
                <a:spcPts val="0"/>
              </a:spcAft>
              <a:buClr>
                <a:srgbClr val="374151"/>
              </a:buClr>
              <a:buSzPts val="1700"/>
              <a:buFont typeface="Nunito"/>
              <a:buChar char="●"/>
            </a:pPr>
            <a:r>
              <a:rPr lang="en" sz="1700">
                <a:solidFill>
                  <a:srgbClr val="374151"/>
                </a:solidFill>
                <a:latin typeface="Nunito"/>
                <a:ea typeface="Nunito"/>
                <a:cs typeface="Nunito"/>
                <a:sym typeface="Nunito"/>
              </a:rPr>
              <a:t>Spring IoC (Inversion of Control) is a core principle of the Spring framework, which provides a way for </a:t>
            </a:r>
            <a:r>
              <a:rPr b="1" lang="en" sz="1700">
                <a:solidFill>
                  <a:srgbClr val="374151"/>
                </a:solidFill>
                <a:latin typeface="Nunito"/>
                <a:ea typeface="Nunito"/>
                <a:cs typeface="Nunito"/>
                <a:sym typeface="Nunito"/>
              </a:rPr>
              <a:t>objects to be managed by the Spring container</a:t>
            </a:r>
            <a:br>
              <a:rPr b="1" lang="en" sz="1700">
                <a:solidFill>
                  <a:srgbClr val="374151"/>
                </a:solidFill>
                <a:latin typeface="Nunito"/>
                <a:ea typeface="Nunito"/>
                <a:cs typeface="Nunito"/>
                <a:sym typeface="Nunito"/>
              </a:rPr>
            </a:br>
            <a:endParaRPr b="1" sz="1700">
              <a:solidFill>
                <a:srgbClr val="374151"/>
              </a:solidFill>
              <a:latin typeface="Nunito"/>
              <a:ea typeface="Nunito"/>
              <a:cs typeface="Nunito"/>
              <a:sym typeface="Nunito"/>
            </a:endParaRPr>
          </a:p>
          <a:p>
            <a:pPr indent="-336550" lvl="0" marL="457200" rtl="0" algn="l">
              <a:spcBef>
                <a:spcPts val="0"/>
              </a:spcBef>
              <a:spcAft>
                <a:spcPts val="0"/>
              </a:spcAft>
              <a:buClr>
                <a:srgbClr val="374151"/>
              </a:buClr>
              <a:buSzPts val="1700"/>
              <a:buFont typeface="Nunito"/>
              <a:buChar char="●"/>
            </a:pPr>
            <a:r>
              <a:rPr lang="en" sz="1700">
                <a:solidFill>
                  <a:srgbClr val="374151"/>
                </a:solidFill>
                <a:latin typeface="Nunito"/>
                <a:ea typeface="Nunito"/>
                <a:cs typeface="Nunito"/>
                <a:sym typeface="Nunito"/>
              </a:rPr>
              <a:t>Dependency Injection (DI) is a </a:t>
            </a:r>
            <a:r>
              <a:rPr b="1" lang="en" sz="1700">
                <a:solidFill>
                  <a:srgbClr val="374151"/>
                </a:solidFill>
                <a:latin typeface="Nunito"/>
                <a:ea typeface="Nunito"/>
                <a:cs typeface="Nunito"/>
                <a:sym typeface="Nunito"/>
              </a:rPr>
              <a:t>design pattern that implements IoC</a:t>
            </a:r>
            <a:r>
              <a:rPr lang="en" sz="1700">
                <a:solidFill>
                  <a:srgbClr val="374151"/>
                </a:solidFill>
                <a:latin typeface="Nunito"/>
                <a:ea typeface="Nunito"/>
                <a:cs typeface="Nunito"/>
                <a:sym typeface="Nunito"/>
              </a:rPr>
              <a:t>. </a:t>
            </a:r>
            <a:r>
              <a:rPr b="1" lang="en" sz="1700">
                <a:solidFill>
                  <a:srgbClr val="374151"/>
                </a:solidFill>
                <a:latin typeface="Nunito"/>
                <a:ea typeface="Nunito"/>
                <a:cs typeface="Nunito"/>
                <a:sym typeface="Nunito"/>
              </a:rPr>
              <a:t>In a DI-based system, the objects are given their dependencies at creation time</a:t>
            </a:r>
            <a:r>
              <a:rPr lang="en" sz="1700">
                <a:solidFill>
                  <a:srgbClr val="374151"/>
                </a:solidFill>
                <a:latin typeface="Nunito"/>
                <a:ea typeface="Nunito"/>
                <a:cs typeface="Nunito"/>
                <a:sym typeface="Nunito"/>
              </a:rPr>
              <a:t>, rather than being responsible for creating or locating their own dependencies.</a:t>
            </a:r>
            <a:endParaRPr sz="170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For </a:t>
            </a:r>
            <a:r>
              <a:rPr lang="en"/>
              <a:t>Dependency Injection</a:t>
            </a:r>
            <a:endParaRPr/>
          </a:p>
        </p:txBody>
      </p:sp>
      <p:sp>
        <p:nvSpPr>
          <p:cNvPr id="160" name="Google Shape;160;p18"/>
          <p:cNvSpPr txBox="1"/>
          <p:nvPr>
            <p:ph idx="1" type="body"/>
          </p:nvPr>
        </p:nvSpPr>
        <p:spPr>
          <a:xfrm>
            <a:off x="819150" y="1581925"/>
            <a:ext cx="7505700" cy="2856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sz="1700"/>
              <a:t>Define Dependency Beans </a:t>
            </a:r>
            <a:br>
              <a:rPr b="1" lang="en" sz="1700"/>
            </a:br>
            <a:r>
              <a:rPr b="1" lang="en" sz="1700"/>
              <a:t>using </a:t>
            </a:r>
            <a:r>
              <a:rPr b="1" lang="en" sz="1700">
                <a:solidFill>
                  <a:srgbClr val="FF0000"/>
                </a:solidFill>
              </a:rPr>
              <a:t>@Bean</a:t>
            </a:r>
            <a:br>
              <a:rPr lang="en"/>
            </a:br>
            <a:br>
              <a:rPr lang="en"/>
            </a:br>
            <a:br>
              <a:rPr lang="en"/>
            </a:br>
            <a:endParaRPr/>
          </a:p>
          <a:p>
            <a:pPr indent="-311150" lvl="0" marL="457200" rtl="0" algn="l">
              <a:spcBef>
                <a:spcPts val="0"/>
              </a:spcBef>
              <a:spcAft>
                <a:spcPts val="0"/>
              </a:spcAft>
              <a:buSzPts val="1300"/>
              <a:buChar char="●"/>
            </a:pPr>
            <a:r>
              <a:rPr b="1" lang="en" sz="1700"/>
              <a:t>we use the </a:t>
            </a:r>
            <a:r>
              <a:rPr b="1" lang="en" sz="1700">
                <a:solidFill>
                  <a:srgbClr val="EF4444"/>
                </a:solidFill>
              </a:rPr>
              <a:t>@Autowired</a:t>
            </a:r>
            <a:r>
              <a:rPr b="1" lang="en" sz="1700"/>
              <a:t> </a:t>
            </a:r>
            <a:br>
              <a:rPr b="1" lang="en" sz="1700"/>
            </a:br>
            <a:r>
              <a:rPr b="1" lang="en" sz="1700"/>
              <a:t>annotation to inject</a:t>
            </a:r>
            <a:br>
              <a:rPr lang="en" sz="1200">
                <a:solidFill>
                  <a:srgbClr val="EF4444"/>
                </a:solidFill>
                <a:highlight>
                  <a:srgbClr val="F7F7F8"/>
                </a:highlight>
                <a:latin typeface="Roboto"/>
                <a:ea typeface="Roboto"/>
                <a:cs typeface="Roboto"/>
                <a:sym typeface="Roboto"/>
              </a:rPr>
            </a:br>
            <a:endParaRPr/>
          </a:p>
        </p:txBody>
      </p:sp>
      <p:pic>
        <p:nvPicPr>
          <p:cNvPr id="161" name="Google Shape;161;p18"/>
          <p:cNvPicPr preferRelativeResize="0"/>
          <p:nvPr/>
        </p:nvPicPr>
        <p:blipFill rotWithShape="1">
          <a:blip r:embed="rId3">
            <a:alphaModFix/>
          </a:blip>
          <a:srcRect b="0" l="0" r="42667" t="0"/>
          <a:stretch/>
        </p:blipFill>
        <p:spPr>
          <a:xfrm>
            <a:off x="4333800" y="1779875"/>
            <a:ext cx="4433950" cy="1583750"/>
          </a:xfrm>
          <a:prstGeom prst="rect">
            <a:avLst/>
          </a:prstGeom>
          <a:noFill/>
          <a:ln>
            <a:noFill/>
          </a:ln>
        </p:spPr>
      </p:pic>
      <p:pic>
        <p:nvPicPr>
          <p:cNvPr id="162" name="Google Shape;162;p18"/>
          <p:cNvPicPr preferRelativeResize="0"/>
          <p:nvPr/>
        </p:nvPicPr>
        <p:blipFill rotWithShape="1">
          <a:blip r:embed="rId4">
            <a:alphaModFix/>
          </a:blip>
          <a:srcRect b="0" l="0" r="45504" t="0"/>
          <a:stretch/>
        </p:blipFill>
        <p:spPr>
          <a:xfrm>
            <a:off x="4333800" y="3490100"/>
            <a:ext cx="4433950" cy="1336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Security Implement?</a:t>
            </a:r>
            <a:endParaRPr/>
          </a:p>
        </p:txBody>
      </p:sp>
      <p:sp>
        <p:nvSpPr>
          <p:cNvPr id="168" name="Google Shape;168;p19"/>
          <p:cNvSpPr txBox="1"/>
          <p:nvPr>
            <p:ph idx="1" type="body"/>
          </p:nvPr>
        </p:nvSpPr>
        <p:spPr>
          <a:xfrm>
            <a:off x="819150" y="1680950"/>
            <a:ext cx="7505700" cy="27579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SzPct val="108333"/>
              <a:buChar char="●"/>
            </a:pPr>
            <a:r>
              <a:rPr b="1" lang="en"/>
              <a:t>Authentication</a:t>
            </a:r>
            <a:br>
              <a:rPr lang="en"/>
            </a:br>
            <a:r>
              <a:rPr lang="en"/>
              <a:t>	</a:t>
            </a:r>
            <a:r>
              <a:rPr lang="en" sz="1050">
                <a:solidFill>
                  <a:srgbClr val="000000"/>
                </a:solidFill>
                <a:latin typeface="Roboto"/>
                <a:ea typeface="Roboto"/>
                <a:cs typeface="Roboto"/>
                <a:sym typeface="Roboto"/>
              </a:rPr>
              <a:t>It’s</a:t>
            </a:r>
            <a:r>
              <a:rPr lang="en" sz="1050">
                <a:solidFill>
                  <a:srgbClr val="000000"/>
                </a:solidFill>
                <a:latin typeface="Roboto"/>
                <a:ea typeface="Roboto"/>
                <a:cs typeface="Roboto"/>
                <a:sym typeface="Roboto"/>
              </a:rPr>
              <a:t> the process of verifying the identity of a user or system attempting to access a resource or service.</a:t>
            </a:r>
            <a:br>
              <a:rPr lang="en" sz="1050">
                <a:solidFill>
                  <a:srgbClr val="000000"/>
                </a:solidFill>
                <a:latin typeface="Roboto"/>
                <a:ea typeface="Roboto"/>
                <a:cs typeface="Roboto"/>
                <a:sym typeface="Roboto"/>
              </a:rPr>
            </a:br>
            <a:endParaRPr sz="1200">
              <a:solidFill>
                <a:srgbClr val="374151"/>
              </a:solidFill>
              <a:highlight>
                <a:srgbClr val="F7F7F8"/>
              </a:highlight>
              <a:latin typeface="Roboto"/>
              <a:ea typeface="Roboto"/>
              <a:cs typeface="Roboto"/>
              <a:sym typeface="Roboto"/>
            </a:endParaRPr>
          </a:p>
          <a:p>
            <a:pPr indent="-298767" lvl="0" marL="457200" rtl="0" algn="l">
              <a:spcBef>
                <a:spcPts val="0"/>
              </a:spcBef>
              <a:spcAft>
                <a:spcPts val="0"/>
              </a:spcAft>
              <a:buSzPct val="100000"/>
              <a:buChar char="●"/>
            </a:pPr>
            <a:r>
              <a:rPr b="1" lang="en"/>
              <a:t>Authorization</a:t>
            </a:r>
            <a:br>
              <a:rPr lang="en"/>
            </a:br>
            <a:r>
              <a:rPr lang="en"/>
              <a:t>	</a:t>
            </a:r>
            <a:r>
              <a:rPr lang="en" sz="1050">
                <a:solidFill>
                  <a:srgbClr val="000000"/>
                </a:solidFill>
                <a:latin typeface="Roboto"/>
                <a:ea typeface="Roboto"/>
                <a:cs typeface="Roboto"/>
                <a:sym typeface="Roboto"/>
              </a:rPr>
              <a:t>It’s the process of granting or denying access to a resource or service based on the authenticated user's privileges and permissions.</a:t>
            </a:r>
            <a:br>
              <a:rPr lang="en" sz="1050">
                <a:solidFill>
                  <a:srgbClr val="000000"/>
                </a:solidFill>
                <a:latin typeface="Roboto"/>
                <a:ea typeface="Roboto"/>
                <a:cs typeface="Roboto"/>
                <a:sym typeface="Roboto"/>
              </a:rPr>
            </a:br>
            <a:endParaRPr/>
          </a:p>
          <a:p>
            <a:pPr indent="-298767" lvl="0" marL="457200" rtl="0" algn="l">
              <a:spcBef>
                <a:spcPts val="0"/>
              </a:spcBef>
              <a:spcAft>
                <a:spcPts val="0"/>
              </a:spcAft>
              <a:buSzPct val="100000"/>
              <a:buChar char="●"/>
            </a:pPr>
            <a:r>
              <a:rPr b="1" lang="en"/>
              <a:t>Principle</a:t>
            </a:r>
            <a:br>
              <a:rPr lang="en"/>
            </a:br>
            <a:r>
              <a:rPr lang="en"/>
              <a:t>	</a:t>
            </a:r>
            <a:r>
              <a:rPr lang="en" sz="1200">
                <a:solidFill>
                  <a:srgbClr val="374151"/>
                </a:solidFill>
                <a:highlight>
                  <a:srgbClr val="F7F7F8"/>
                </a:highlight>
                <a:latin typeface="Roboto"/>
                <a:ea typeface="Roboto"/>
                <a:cs typeface="Roboto"/>
                <a:sym typeface="Roboto"/>
              </a:rPr>
              <a:t>Identifying the person based on stored principle in session</a:t>
            </a:r>
            <a:br>
              <a:rPr lang="en" sz="1200">
                <a:solidFill>
                  <a:srgbClr val="374151"/>
                </a:solidFill>
                <a:highlight>
                  <a:srgbClr val="F7F7F8"/>
                </a:highlight>
                <a:latin typeface="Roboto"/>
                <a:ea typeface="Roboto"/>
                <a:cs typeface="Roboto"/>
                <a:sym typeface="Roboto"/>
              </a:rPr>
            </a:br>
            <a:endParaRPr/>
          </a:p>
          <a:p>
            <a:pPr indent="-298767" lvl="0" marL="457200" rtl="0" algn="l">
              <a:spcBef>
                <a:spcPts val="0"/>
              </a:spcBef>
              <a:spcAft>
                <a:spcPts val="0"/>
              </a:spcAft>
              <a:buSzPct val="100000"/>
              <a:buChar char="●"/>
            </a:pPr>
            <a:r>
              <a:rPr b="1" lang="en"/>
              <a:t>Granted Authority</a:t>
            </a:r>
            <a:br>
              <a:rPr lang="en"/>
            </a:br>
            <a:r>
              <a:rPr lang="en"/>
              <a:t>	It’s </a:t>
            </a:r>
            <a:r>
              <a:rPr lang="en" sz="1200">
                <a:solidFill>
                  <a:srgbClr val="374151"/>
                </a:solidFill>
                <a:highlight>
                  <a:srgbClr val="F7F7F8"/>
                </a:highlight>
                <a:latin typeface="Roboto"/>
                <a:ea typeface="Roboto"/>
                <a:cs typeface="Roboto"/>
                <a:sym typeface="Roboto"/>
              </a:rPr>
              <a:t>the permissions or privileges granted to an authenticated user or system to access specific resources or perform certain actions.</a:t>
            </a:r>
            <a:br>
              <a:rPr lang="en" sz="1200">
                <a:solidFill>
                  <a:srgbClr val="374151"/>
                </a:solidFill>
                <a:highlight>
                  <a:srgbClr val="F7F7F8"/>
                </a:highlight>
                <a:latin typeface="Roboto"/>
                <a:ea typeface="Roboto"/>
                <a:cs typeface="Roboto"/>
                <a:sym typeface="Roboto"/>
              </a:rPr>
            </a:br>
            <a:endParaRPr/>
          </a:p>
          <a:p>
            <a:pPr indent="-298767" lvl="0" marL="457200" rtl="0" algn="l">
              <a:spcBef>
                <a:spcPts val="0"/>
              </a:spcBef>
              <a:spcAft>
                <a:spcPts val="0"/>
              </a:spcAft>
              <a:buSzPct val="100000"/>
              <a:buChar char="●"/>
            </a:pPr>
            <a:r>
              <a:rPr b="1" lang="en"/>
              <a:t>Roles</a:t>
            </a:r>
            <a:br>
              <a:rPr lang="en"/>
            </a:br>
            <a:r>
              <a:rPr lang="en"/>
              <a:t>	</a:t>
            </a:r>
            <a:r>
              <a:rPr lang="en" sz="1200">
                <a:solidFill>
                  <a:srgbClr val="374151"/>
                </a:solidFill>
                <a:highlight>
                  <a:srgbClr val="F7F7F8"/>
                </a:highlight>
                <a:latin typeface="Roboto"/>
                <a:ea typeface="Roboto"/>
                <a:cs typeface="Roboto"/>
                <a:sym typeface="Roboto"/>
              </a:rPr>
              <a:t>Roles are a collection of permissions or authorities that are assigned to a specific user or group of users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Spring Security</a:t>
            </a:r>
            <a:endParaRPr/>
          </a:p>
        </p:txBody>
      </p:sp>
      <p:sp>
        <p:nvSpPr>
          <p:cNvPr id="174" name="Google Shape;174;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Clr>
                <a:srgbClr val="374151"/>
              </a:buClr>
              <a:buSzPct val="100000"/>
              <a:buFont typeface="Nunito"/>
              <a:buChar char="●"/>
            </a:pPr>
            <a:r>
              <a:rPr b="1" lang="en" sz="1800">
                <a:solidFill>
                  <a:srgbClr val="374151"/>
                </a:solidFill>
                <a:highlight>
                  <a:srgbClr val="F7F7F8"/>
                </a:highlight>
                <a:latin typeface="Nunito"/>
                <a:ea typeface="Nunito"/>
                <a:cs typeface="Nunito"/>
                <a:sym typeface="Nunito"/>
              </a:rPr>
              <a:t>Spring Security is a powerful and highly customizable security framework for Java-based applications. </a:t>
            </a:r>
            <a:br>
              <a:rPr lang="en" sz="1800">
                <a:solidFill>
                  <a:srgbClr val="374151"/>
                </a:solidFill>
                <a:highlight>
                  <a:srgbClr val="F7F7F8"/>
                </a:highlight>
                <a:latin typeface="Nunito"/>
                <a:ea typeface="Nunito"/>
                <a:cs typeface="Nunito"/>
                <a:sym typeface="Nunito"/>
              </a:rPr>
            </a:br>
            <a:endParaRPr sz="1800">
              <a:solidFill>
                <a:srgbClr val="374151"/>
              </a:solidFill>
              <a:highlight>
                <a:srgbClr val="F7F7F8"/>
              </a:highlight>
              <a:latin typeface="Nunito"/>
              <a:ea typeface="Nunito"/>
              <a:cs typeface="Nunito"/>
              <a:sym typeface="Nunito"/>
            </a:endParaRPr>
          </a:p>
          <a:p>
            <a:pPr indent="-325755" lvl="0" marL="457200" rtl="0" algn="l">
              <a:spcBef>
                <a:spcPts val="0"/>
              </a:spcBef>
              <a:spcAft>
                <a:spcPts val="0"/>
              </a:spcAft>
              <a:buClr>
                <a:srgbClr val="374151"/>
              </a:buClr>
              <a:buSzPct val="100000"/>
              <a:buFont typeface="Nunito"/>
              <a:buChar char="●"/>
            </a:pPr>
            <a:r>
              <a:rPr b="1" lang="en" sz="1800">
                <a:solidFill>
                  <a:srgbClr val="374151"/>
                </a:solidFill>
                <a:highlight>
                  <a:srgbClr val="F7F7F8"/>
                </a:highlight>
                <a:latin typeface="Nunito"/>
                <a:ea typeface="Nunito"/>
                <a:cs typeface="Nunito"/>
                <a:sym typeface="Nunito"/>
              </a:rPr>
              <a:t>It provides a set of features and APIs for implementing authentication, authorization, and other security mechanisms in web and enterprise applications. </a:t>
            </a:r>
            <a:br>
              <a:rPr lang="en" sz="1800">
                <a:solidFill>
                  <a:srgbClr val="374151"/>
                </a:solidFill>
                <a:highlight>
                  <a:srgbClr val="F7F7F8"/>
                </a:highlight>
                <a:latin typeface="Nunito"/>
                <a:ea typeface="Nunito"/>
                <a:cs typeface="Nunito"/>
                <a:sym typeface="Nunito"/>
              </a:rPr>
            </a:br>
            <a:endParaRPr sz="1800">
              <a:solidFill>
                <a:srgbClr val="374151"/>
              </a:solidFill>
              <a:highlight>
                <a:srgbClr val="F7F7F8"/>
              </a:highlight>
              <a:latin typeface="Nunito"/>
              <a:ea typeface="Nunito"/>
              <a:cs typeface="Nunito"/>
              <a:sym typeface="Nunito"/>
            </a:endParaRPr>
          </a:p>
          <a:p>
            <a:pPr indent="-325755" lvl="0" marL="457200" rtl="0" algn="l">
              <a:spcBef>
                <a:spcPts val="0"/>
              </a:spcBef>
              <a:spcAft>
                <a:spcPts val="0"/>
              </a:spcAft>
              <a:buClr>
                <a:srgbClr val="374151"/>
              </a:buClr>
              <a:buSzPct val="100000"/>
              <a:buFont typeface="Nunito"/>
              <a:buChar char="●"/>
            </a:pPr>
            <a:r>
              <a:rPr lang="en" sz="1800">
                <a:solidFill>
                  <a:srgbClr val="374151"/>
                </a:solidFill>
                <a:highlight>
                  <a:srgbClr val="F7F7F8"/>
                </a:highlight>
                <a:latin typeface="Nunito"/>
                <a:ea typeface="Nunito"/>
                <a:cs typeface="Nunito"/>
                <a:sym typeface="Nunito"/>
              </a:rPr>
              <a:t>Spring Security integrates well with the Spring Framework and can be easily configured and extended to meet specific application requirements.</a:t>
            </a:r>
            <a:endParaRPr sz="1800">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For Spring Security Implementation</a:t>
            </a:r>
            <a:endParaRPr/>
          </a:p>
        </p:txBody>
      </p:sp>
      <p:sp>
        <p:nvSpPr>
          <p:cNvPr id="180" name="Google Shape;180;p21"/>
          <p:cNvSpPr txBox="1"/>
          <p:nvPr>
            <p:ph idx="1" type="body"/>
          </p:nvPr>
        </p:nvSpPr>
        <p:spPr>
          <a:xfrm>
            <a:off x="303075" y="1449875"/>
            <a:ext cx="3876900" cy="2944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374151"/>
              </a:buClr>
              <a:buSzPts val="1200"/>
              <a:buFont typeface="Nunito"/>
              <a:buChar char="●"/>
            </a:pPr>
            <a:r>
              <a:rPr b="1" lang="en" sz="1200">
                <a:solidFill>
                  <a:srgbClr val="EF4444"/>
                </a:solidFill>
                <a:highlight>
                  <a:srgbClr val="F7F7F8"/>
                </a:highlight>
                <a:latin typeface="Nunito"/>
                <a:ea typeface="Nunito"/>
                <a:cs typeface="Nunito"/>
                <a:sym typeface="Nunito"/>
              </a:rPr>
              <a:t>@EnableWebSecurity</a:t>
            </a:r>
            <a:r>
              <a:rPr b="1" lang="en" sz="1200">
                <a:solidFill>
                  <a:srgbClr val="374151"/>
                </a:solidFill>
                <a:highlight>
                  <a:srgbClr val="F7F7F8"/>
                </a:highlight>
                <a:latin typeface="Nunito"/>
                <a:ea typeface="Nunito"/>
                <a:cs typeface="Nunito"/>
                <a:sym typeface="Nunito"/>
              </a:rPr>
              <a:t> is an annotation that is used to enable Spring Security in a web application.</a:t>
            </a:r>
            <a:r>
              <a:rPr lang="en" sz="1200">
                <a:solidFill>
                  <a:srgbClr val="374151"/>
                </a:solidFill>
                <a:highlight>
                  <a:srgbClr val="F7F7F8"/>
                </a:highlight>
                <a:latin typeface="Nunito"/>
                <a:ea typeface="Nunito"/>
                <a:cs typeface="Nunito"/>
                <a:sym typeface="Nunito"/>
              </a:rPr>
              <a:t> It is typically used in a configuration class that extends </a:t>
            </a:r>
            <a:r>
              <a:rPr lang="en" sz="1200">
                <a:solidFill>
                  <a:srgbClr val="EF4444"/>
                </a:solidFill>
                <a:highlight>
                  <a:srgbClr val="F7F7F8"/>
                </a:highlight>
                <a:latin typeface="Nunito"/>
                <a:ea typeface="Nunito"/>
                <a:cs typeface="Nunito"/>
                <a:sym typeface="Nunito"/>
              </a:rPr>
              <a:t>WebSecurityConfigurerAdapter</a:t>
            </a:r>
            <a:r>
              <a:rPr lang="en" sz="1200">
                <a:solidFill>
                  <a:srgbClr val="374151"/>
                </a:solidFill>
                <a:highlight>
                  <a:srgbClr val="F7F7F8"/>
                </a:highlight>
                <a:latin typeface="Nunito"/>
                <a:ea typeface="Nunito"/>
                <a:cs typeface="Nunito"/>
                <a:sym typeface="Nunito"/>
              </a:rPr>
              <a:t>.</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304800" lvl="0" marL="457200" rtl="0" algn="l">
              <a:spcBef>
                <a:spcPts val="0"/>
              </a:spcBef>
              <a:spcAft>
                <a:spcPts val="0"/>
              </a:spcAft>
              <a:buClr>
                <a:srgbClr val="374151"/>
              </a:buClr>
              <a:buSzPts val="1200"/>
              <a:buFont typeface="Nunito"/>
              <a:buChar char="●"/>
            </a:pPr>
            <a:r>
              <a:rPr lang="en" sz="1200">
                <a:solidFill>
                  <a:srgbClr val="EF4444"/>
                </a:solidFill>
                <a:highlight>
                  <a:srgbClr val="F7F7F8"/>
                </a:highlight>
                <a:latin typeface="Nunito"/>
                <a:ea typeface="Nunito"/>
                <a:cs typeface="Nunito"/>
                <a:sym typeface="Nunito"/>
              </a:rPr>
              <a:t>WebSecurityConfigurerAdapter</a:t>
            </a:r>
            <a:r>
              <a:rPr lang="en" sz="1200">
                <a:solidFill>
                  <a:srgbClr val="374151"/>
                </a:solidFill>
                <a:highlight>
                  <a:srgbClr val="F7F7F8"/>
                </a:highlight>
                <a:latin typeface="Nunito"/>
                <a:ea typeface="Nunito"/>
                <a:cs typeface="Nunito"/>
                <a:sym typeface="Nunito"/>
              </a:rPr>
              <a:t> is an abstract class that provides a set of convenient methods for configuring Spring Security in a web application. It allows developers to customize security features such as authentication, authorization, and access control. By extending this class and overriding its methods, developers can provide their own custom security configuration for their web application.</a:t>
            </a:r>
            <a:br>
              <a:rPr lang="en" sz="1200">
                <a:solidFill>
                  <a:srgbClr val="374151"/>
                </a:solidFill>
                <a:highlight>
                  <a:srgbClr val="F7F7F8"/>
                </a:highlight>
                <a:latin typeface="Nunito"/>
                <a:ea typeface="Nunito"/>
                <a:cs typeface="Nunito"/>
                <a:sym typeface="Nunito"/>
              </a:rPr>
            </a:br>
            <a:endParaRPr sz="1200">
              <a:latin typeface="Nunito"/>
              <a:ea typeface="Nunito"/>
              <a:cs typeface="Nunito"/>
              <a:sym typeface="Nunito"/>
            </a:endParaRPr>
          </a:p>
        </p:txBody>
      </p:sp>
      <p:pic>
        <p:nvPicPr>
          <p:cNvPr id="181" name="Google Shape;181;p21"/>
          <p:cNvPicPr preferRelativeResize="0"/>
          <p:nvPr/>
        </p:nvPicPr>
        <p:blipFill rotWithShape="1">
          <a:blip r:embed="rId3">
            <a:alphaModFix/>
          </a:blip>
          <a:srcRect b="0" l="0" r="26578" t="0"/>
          <a:stretch/>
        </p:blipFill>
        <p:spPr>
          <a:xfrm>
            <a:off x="4179950" y="1422875"/>
            <a:ext cx="4594426" cy="3362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idx="1" type="body"/>
          </p:nvPr>
        </p:nvSpPr>
        <p:spPr>
          <a:xfrm>
            <a:off x="819150" y="1136500"/>
            <a:ext cx="3392700" cy="3378300"/>
          </a:xfrm>
          <a:prstGeom prst="rect">
            <a:avLst/>
          </a:prstGeom>
        </p:spPr>
        <p:txBody>
          <a:bodyPr anchorCtr="0" anchor="t" bIns="91425" lIns="91425" spcFirstLastPara="1" rIns="91425" wrap="square" tIns="91425">
            <a:normAutofit fontScale="92500"/>
          </a:bodyPr>
          <a:lstStyle/>
          <a:p>
            <a:pPr indent="-310832" lvl="0" marL="457200" rtl="0" algn="l">
              <a:spcBef>
                <a:spcPts val="0"/>
              </a:spcBef>
              <a:spcAft>
                <a:spcPts val="0"/>
              </a:spcAft>
              <a:buClr>
                <a:srgbClr val="374151"/>
              </a:buClr>
              <a:buSzPct val="100000"/>
              <a:buFont typeface="Nunito"/>
              <a:buChar char="●"/>
            </a:pPr>
            <a:r>
              <a:rPr lang="en" sz="1400">
                <a:solidFill>
                  <a:srgbClr val="374151"/>
                </a:solidFill>
                <a:highlight>
                  <a:srgbClr val="F7F7F8"/>
                </a:highlight>
                <a:latin typeface="Nunito"/>
                <a:ea typeface="Nunito"/>
                <a:cs typeface="Nunito"/>
                <a:sym typeface="Nunito"/>
              </a:rPr>
              <a:t>In this example, we are configuring Spring Security to require authentication and authorization for certain URLs based on user roles. </a:t>
            </a:r>
            <a:br>
              <a:rPr lang="en" sz="1400">
                <a:solidFill>
                  <a:srgbClr val="374151"/>
                </a:solidFill>
                <a:highlight>
                  <a:srgbClr val="F7F7F8"/>
                </a:highlight>
                <a:latin typeface="Nunito"/>
                <a:ea typeface="Nunito"/>
                <a:cs typeface="Nunito"/>
                <a:sym typeface="Nunito"/>
              </a:rPr>
            </a:br>
            <a:endParaRPr sz="1400">
              <a:solidFill>
                <a:srgbClr val="374151"/>
              </a:solidFill>
              <a:highlight>
                <a:srgbClr val="F7F7F8"/>
              </a:highlight>
              <a:latin typeface="Nunito"/>
              <a:ea typeface="Nunito"/>
              <a:cs typeface="Nunito"/>
              <a:sym typeface="Nunito"/>
            </a:endParaRPr>
          </a:p>
          <a:p>
            <a:pPr indent="-310832" lvl="0" marL="457200" rtl="0" algn="l">
              <a:spcBef>
                <a:spcPts val="0"/>
              </a:spcBef>
              <a:spcAft>
                <a:spcPts val="0"/>
              </a:spcAft>
              <a:buClr>
                <a:srgbClr val="374151"/>
              </a:buClr>
              <a:buSzPct val="100000"/>
              <a:buFont typeface="Nunito"/>
              <a:buChar char="●"/>
            </a:pPr>
            <a:r>
              <a:rPr lang="en" sz="1400">
                <a:solidFill>
                  <a:srgbClr val="374151"/>
                </a:solidFill>
                <a:highlight>
                  <a:srgbClr val="F7F7F8"/>
                </a:highlight>
                <a:latin typeface="Nunito"/>
                <a:ea typeface="Nunito"/>
                <a:cs typeface="Nunito"/>
                <a:sym typeface="Nunito"/>
              </a:rPr>
              <a:t>We are also specifying a custom user details service and a password encoder for password storage and verification. </a:t>
            </a:r>
            <a:br>
              <a:rPr lang="en" sz="1400">
                <a:solidFill>
                  <a:srgbClr val="374151"/>
                </a:solidFill>
                <a:highlight>
                  <a:srgbClr val="F7F7F8"/>
                </a:highlight>
                <a:latin typeface="Nunito"/>
                <a:ea typeface="Nunito"/>
                <a:cs typeface="Nunito"/>
                <a:sym typeface="Nunito"/>
              </a:rPr>
            </a:br>
            <a:endParaRPr sz="1400">
              <a:solidFill>
                <a:srgbClr val="374151"/>
              </a:solidFill>
              <a:highlight>
                <a:srgbClr val="F7F7F8"/>
              </a:highlight>
              <a:latin typeface="Nunito"/>
              <a:ea typeface="Nunito"/>
              <a:cs typeface="Nunito"/>
              <a:sym typeface="Nunito"/>
            </a:endParaRPr>
          </a:p>
          <a:p>
            <a:pPr indent="-310832" lvl="0" marL="457200" rtl="0" algn="l">
              <a:spcBef>
                <a:spcPts val="0"/>
              </a:spcBef>
              <a:spcAft>
                <a:spcPts val="0"/>
              </a:spcAft>
              <a:buClr>
                <a:srgbClr val="374151"/>
              </a:buClr>
              <a:buSzPct val="100000"/>
              <a:buFont typeface="Nunito"/>
              <a:buChar char="●"/>
            </a:pPr>
            <a:r>
              <a:rPr lang="en" sz="1400">
                <a:solidFill>
                  <a:srgbClr val="374151"/>
                </a:solidFill>
                <a:highlight>
                  <a:srgbClr val="F7F7F8"/>
                </a:highlight>
                <a:latin typeface="Nunito"/>
                <a:ea typeface="Nunito"/>
                <a:cs typeface="Nunito"/>
                <a:sym typeface="Nunito"/>
              </a:rPr>
              <a:t>This is just a basic example, and Spring Security provides many more features and options for customizing security in your application.</a:t>
            </a:r>
            <a:endParaRPr sz="1400"/>
          </a:p>
        </p:txBody>
      </p:sp>
      <p:pic>
        <p:nvPicPr>
          <p:cNvPr id="187" name="Google Shape;187;p22"/>
          <p:cNvPicPr preferRelativeResize="0"/>
          <p:nvPr/>
        </p:nvPicPr>
        <p:blipFill>
          <a:blip r:embed="rId3">
            <a:alphaModFix/>
          </a:blip>
          <a:stretch>
            <a:fillRect/>
          </a:stretch>
        </p:blipFill>
        <p:spPr>
          <a:xfrm>
            <a:off x="4444150" y="1728788"/>
            <a:ext cx="4179821" cy="1685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Hibernate?</a:t>
            </a:r>
            <a:endParaRPr/>
          </a:p>
        </p:txBody>
      </p:sp>
      <p:sp>
        <p:nvSpPr>
          <p:cNvPr id="193" name="Google Shape;193;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400">
                <a:solidFill>
                  <a:srgbClr val="374151"/>
                </a:solidFill>
                <a:highlight>
                  <a:srgbClr val="F7F7F8"/>
                </a:highlight>
                <a:latin typeface="Nunito"/>
                <a:ea typeface="Nunito"/>
                <a:cs typeface="Nunito"/>
                <a:sym typeface="Nunito"/>
              </a:rPr>
              <a:t>Hibernate is a Java-based Object-Relational Mapping (ORM) framework that provides a high-level, object-oriented interface for interacting with relational databases</a:t>
            </a:r>
            <a:r>
              <a:rPr lang="en" sz="2400">
                <a:solidFill>
                  <a:srgbClr val="374151"/>
                </a:solidFill>
                <a:highlight>
                  <a:srgbClr val="F7F7F8"/>
                </a:highlight>
                <a:latin typeface="Nunito"/>
                <a:ea typeface="Nunito"/>
                <a:cs typeface="Nunito"/>
                <a:sym typeface="Nunito"/>
              </a:rPr>
              <a:t>, simplifying database access and management for developers.</a:t>
            </a:r>
            <a:endParaRPr sz="2400">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JPA?</a:t>
            </a:r>
            <a:endParaRPr/>
          </a:p>
        </p:txBody>
      </p:sp>
      <p:sp>
        <p:nvSpPr>
          <p:cNvPr id="199" name="Google Shape;199;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374151"/>
                </a:solidFill>
                <a:highlight>
                  <a:srgbClr val="F7F7F8"/>
                </a:highlight>
                <a:latin typeface="Nunito"/>
                <a:ea typeface="Nunito"/>
                <a:cs typeface="Nunito"/>
                <a:sym typeface="Nunito"/>
              </a:rPr>
              <a:t>JPA stands for Java Persistence API, </a:t>
            </a:r>
            <a:r>
              <a:rPr b="1" lang="en" sz="2400">
                <a:solidFill>
                  <a:srgbClr val="374151"/>
                </a:solidFill>
                <a:highlight>
                  <a:srgbClr val="F7F7F8"/>
                </a:highlight>
                <a:latin typeface="Nunito"/>
                <a:ea typeface="Nunito"/>
                <a:cs typeface="Nunito"/>
                <a:sym typeface="Nunito"/>
              </a:rPr>
              <a:t>which is a Java specification for Object-Relational Mapping (ORM) that provides a standardized way to persist and manage data between Java objects and a relational database.</a:t>
            </a:r>
            <a:endParaRPr b="1" sz="2400">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For </a:t>
            </a:r>
            <a:r>
              <a:rPr lang="en"/>
              <a:t>Hibernate</a:t>
            </a:r>
            <a:r>
              <a:rPr lang="en"/>
              <a:t> &amp; JPA</a:t>
            </a:r>
            <a:endParaRPr/>
          </a:p>
        </p:txBody>
      </p:sp>
      <p:sp>
        <p:nvSpPr>
          <p:cNvPr id="205" name="Google Shape;205;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
              <a:t>Add dependency on </a:t>
            </a:r>
            <a:r>
              <a:rPr b="1" lang="en"/>
              <a:t>pom.xml</a:t>
            </a:r>
            <a:br>
              <a:rPr b="1" lang="en"/>
            </a:br>
            <a:br>
              <a:rPr b="1" lang="en"/>
            </a:br>
            <a:br>
              <a:rPr b="1" lang="en"/>
            </a:br>
            <a:endParaRPr b="1"/>
          </a:p>
          <a:p>
            <a:pPr indent="-311150" lvl="0" marL="457200" rtl="0" algn="l">
              <a:spcBef>
                <a:spcPts val="0"/>
              </a:spcBef>
              <a:spcAft>
                <a:spcPts val="0"/>
              </a:spcAft>
              <a:buSzPts val="1300"/>
              <a:buFont typeface="Arial"/>
              <a:buAutoNum type="arabicPeriod"/>
            </a:pPr>
            <a:r>
              <a:rPr lang="en"/>
              <a:t>Add database connection details in </a:t>
            </a:r>
            <a:r>
              <a:rPr b="1" lang="en" sz="1050">
                <a:solidFill>
                  <a:srgbClr val="111827"/>
                </a:solidFill>
                <a:highlight>
                  <a:srgbClr val="F7F7F8"/>
                </a:highlight>
                <a:latin typeface="Courier New"/>
                <a:ea typeface="Courier New"/>
                <a:cs typeface="Courier New"/>
                <a:sym typeface="Courier New"/>
              </a:rPr>
              <a:t>application.properties</a:t>
            </a:r>
            <a:br>
              <a:rPr b="1" lang="en" sz="1050">
                <a:solidFill>
                  <a:srgbClr val="111827"/>
                </a:solidFill>
                <a:highlight>
                  <a:srgbClr val="F7F7F8"/>
                </a:highlight>
                <a:latin typeface="Courier New"/>
                <a:ea typeface="Courier New"/>
                <a:cs typeface="Courier New"/>
                <a:sym typeface="Courier New"/>
              </a:rPr>
            </a:br>
            <a:endParaRPr b="1"/>
          </a:p>
        </p:txBody>
      </p:sp>
      <p:pic>
        <p:nvPicPr>
          <p:cNvPr id="206" name="Google Shape;206;p25"/>
          <p:cNvPicPr preferRelativeResize="0"/>
          <p:nvPr/>
        </p:nvPicPr>
        <p:blipFill>
          <a:blip r:embed="rId3">
            <a:alphaModFix/>
          </a:blip>
          <a:stretch>
            <a:fillRect/>
          </a:stretch>
        </p:blipFill>
        <p:spPr>
          <a:xfrm>
            <a:off x="4272363" y="1702813"/>
            <a:ext cx="3914775" cy="1209675"/>
          </a:xfrm>
          <a:prstGeom prst="rect">
            <a:avLst/>
          </a:prstGeom>
          <a:noFill/>
          <a:ln>
            <a:noFill/>
          </a:ln>
        </p:spPr>
      </p:pic>
      <p:pic>
        <p:nvPicPr>
          <p:cNvPr id="207" name="Google Shape;207;p25"/>
          <p:cNvPicPr preferRelativeResize="0"/>
          <p:nvPr/>
        </p:nvPicPr>
        <p:blipFill>
          <a:blip r:embed="rId4">
            <a:alphaModFix/>
          </a:blip>
          <a:stretch>
            <a:fillRect/>
          </a:stretch>
        </p:blipFill>
        <p:spPr>
          <a:xfrm>
            <a:off x="2064325" y="3258888"/>
            <a:ext cx="4686300" cy="1571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idx="1" type="body"/>
          </p:nvPr>
        </p:nvSpPr>
        <p:spPr>
          <a:xfrm>
            <a:off x="819150" y="478700"/>
            <a:ext cx="4116300" cy="4213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Nunito"/>
              <a:buChar char="●"/>
            </a:pPr>
            <a:r>
              <a:rPr lang="en">
                <a:latin typeface="Nunito"/>
                <a:ea typeface="Nunito"/>
                <a:cs typeface="Nunito"/>
                <a:sym typeface="Nunito"/>
              </a:rPr>
              <a:t>Create a </a:t>
            </a:r>
            <a:r>
              <a:rPr lang="en">
                <a:solidFill>
                  <a:srgbClr val="EF4444"/>
                </a:solidFill>
                <a:latin typeface="Nunito"/>
                <a:ea typeface="Nunito"/>
                <a:cs typeface="Nunito"/>
                <a:sym typeface="Nunito"/>
              </a:rPr>
              <a:t>@Entity</a:t>
            </a:r>
            <a:r>
              <a:rPr lang="en">
                <a:latin typeface="Nunito"/>
                <a:ea typeface="Nunito"/>
                <a:cs typeface="Nunito"/>
                <a:sym typeface="Nunito"/>
              </a:rPr>
              <a:t> class to map to a database table:</a:t>
            </a:r>
            <a:br>
              <a:rPr lang="en">
                <a:latin typeface="Nunito"/>
                <a:ea typeface="Nunito"/>
                <a:cs typeface="Nunito"/>
                <a:sym typeface="Nunito"/>
              </a:rPr>
            </a:br>
            <a:br>
              <a:rPr lang="en">
                <a:latin typeface="Nunito"/>
                <a:ea typeface="Nunito"/>
                <a:cs typeface="Nunito"/>
                <a:sym typeface="Nunito"/>
              </a:rPr>
            </a:br>
            <a:br>
              <a:rPr lang="en">
                <a:latin typeface="Nunito"/>
                <a:ea typeface="Nunito"/>
                <a:cs typeface="Nunito"/>
                <a:sym typeface="Nunito"/>
              </a:rPr>
            </a:br>
            <a:br>
              <a:rPr lang="en">
                <a:latin typeface="Nunito"/>
                <a:ea typeface="Nunito"/>
                <a:cs typeface="Nunito"/>
                <a:sym typeface="Nunito"/>
              </a:rPr>
            </a:br>
            <a:endParaRPr>
              <a:latin typeface="Nunito"/>
              <a:ea typeface="Nunito"/>
              <a:cs typeface="Nunito"/>
              <a:sym typeface="Nunito"/>
            </a:endParaRPr>
          </a:p>
          <a:p>
            <a:pPr indent="-311150" lvl="0" marL="457200" rtl="0" algn="l">
              <a:spcBef>
                <a:spcPts val="0"/>
              </a:spcBef>
              <a:spcAft>
                <a:spcPts val="0"/>
              </a:spcAft>
              <a:buSzPts val="1300"/>
              <a:buFont typeface="Nunito"/>
              <a:buChar char="●"/>
            </a:pPr>
            <a:r>
              <a:rPr lang="en">
                <a:latin typeface="Nunito"/>
                <a:ea typeface="Nunito"/>
                <a:cs typeface="Nunito"/>
                <a:sym typeface="Nunito"/>
              </a:rPr>
              <a:t>Create a </a:t>
            </a:r>
            <a:r>
              <a:rPr lang="en">
                <a:solidFill>
                  <a:srgbClr val="EF4444"/>
                </a:solidFill>
                <a:latin typeface="Nunito"/>
                <a:ea typeface="Nunito"/>
                <a:cs typeface="Nunito"/>
                <a:sym typeface="Nunito"/>
              </a:rPr>
              <a:t>@Repository</a:t>
            </a:r>
            <a:r>
              <a:rPr lang="en">
                <a:latin typeface="Nunito"/>
                <a:ea typeface="Nunito"/>
                <a:cs typeface="Nunito"/>
                <a:sym typeface="Nunito"/>
              </a:rPr>
              <a:t> interface to define database operations:</a:t>
            </a:r>
            <a:br>
              <a:rPr lang="en">
                <a:latin typeface="Nunito"/>
                <a:ea typeface="Nunito"/>
                <a:cs typeface="Nunito"/>
                <a:sym typeface="Nunito"/>
              </a:rPr>
            </a:br>
            <a:br>
              <a:rPr lang="en">
                <a:latin typeface="Nunito"/>
                <a:ea typeface="Nunito"/>
                <a:cs typeface="Nunito"/>
                <a:sym typeface="Nunito"/>
              </a:rPr>
            </a:br>
            <a:br>
              <a:rPr lang="en">
                <a:latin typeface="Nunito"/>
                <a:ea typeface="Nunito"/>
                <a:cs typeface="Nunito"/>
                <a:sym typeface="Nunito"/>
              </a:rPr>
            </a:br>
            <a:br>
              <a:rPr lang="en">
                <a:latin typeface="Nunito"/>
                <a:ea typeface="Nunito"/>
                <a:cs typeface="Nunito"/>
                <a:sym typeface="Nunito"/>
              </a:rPr>
            </a:br>
            <a:endParaRPr>
              <a:latin typeface="Nunito"/>
              <a:ea typeface="Nunito"/>
              <a:cs typeface="Nunito"/>
              <a:sym typeface="Nunito"/>
            </a:endParaRPr>
          </a:p>
          <a:p>
            <a:pPr indent="-311150" lvl="0" marL="457200" rtl="0" algn="l">
              <a:spcBef>
                <a:spcPts val="0"/>
              </a:spcBef>
              <a:spcAft>
                <a:spcPts val="0"/>
              </a:spcAft>
              <a:buSzPts val="1300"/>
              <a:buFont typeface="Nunito"/>
              <a:buChar char="●"/>
            </a:pPr>
            <a:r>
              <a:rPr lang="en">
                <a:latin typeface="Nunito"/>
                <a:ea typeface="Nunito"/>
                <a:cs typeface="Nunito"/>
                <a:sym typeface="Nunito"/>
              </a:rPr>
              <a:t>Use the repository in a Spring </a:t>
            </a:r>
            <a:br>
              <a:rPr lang="en">
                <a:latin typeface="Nunito"/>
                <a:ea typeface="Nunito"/>
                <a:cs typeface="Nunito"/>
                <a:sym typeface="Nunito"/>
              </a:rPr>
            </a:br>
            <a:r>
              <a:rPr lang="en">
                <a:solidFill>
                  <a:srgbClr val="EF4444"/>
                </a:solidFill>
                <a:latin typeface="Nunito"/>
                <a:ea typeface="Nunito"/>
                <a:cs typeface="Nunito"/>
                <a:sym typeface="Nunito"/>
              </a:rPr>
              <a:t>@Service</a:t>
            </a:r>
            <a:r>
              <a:rPr lang="en">
                <a:latin typeface="Nunito"/>
                <a:ea typeface="Nunito"/>
                <a:cs typeface="Nunito"/>
                <a:sym typeface="Nunito"/>
              </a:rPr>
              <a:t> class:</a:t>
            </a:r>
            <a:br>
              <a:rPr lang="en">
                <a:latin typeface="Nunito"/>
                <a:ea typeface="Nunito"/>
                <a:cs typeface="Nunito"/>
                <a:sym typeface="Nunito"/>
              </a:rPr>
            </a:br>
            <a:br>
              <a:rPr lang="en">
                <a:latin typeface="Nunito"/>
                <a:ea typeface="Nunito"/>
                <a:cs typeface="Nunito"/>
                <a:sym typeface="Nunito"/>
              </a:rPr>
            </a:br>
            <a:endParaRPr>
              <a:latin typeface="Nunito"/>
              <a:ea typeface="Nunito"/>
              <a:cs typeface="Nunito"/>
              <a:sym typeface="Nunito"/>
            </a:endParaRPr>
          </a:p>
        </p:txBody>
      </p:sp>
      <p:pic>
        <p:nvPicPr>
          <p:cNvPr id="213" name="Google Shape;213;p26"/>
          <p:cNvPicPr preferRelativeResize="0"/>
          <p:nvPr/>
        </p:nvPicPr>
        <p:blipFill rotWithShape="1">
          <a:blip r:embed="rId3">
            <a:alphaModFix/>
          </a:blip>
          <a:srcRect b="20766" l="0" r="35488" t="0"/>
          <a:stretch/>
        </p:blipFill>
        <p:spPr>
          <a:xfrm>
            <a:off x="4935325" y="217875"/>
            <a:ext cx="3858799" cy="2113175"/>
          </a:xfrm>
          <a:prstGeom prst="rect">
            <a:avLst/>
          </a:prstGeom>
          <a:noFill/>
          <a:ln>
            <a:noFill/>
          </a:ln>
        </p:spPr>
      </p:pic>
      <p:pic>
        <p:nvPicPr>
          <p:cNvPr id="214" name="Google Shape;214;p26"/>
          <p:cNvPicPr preferRelativeResize="0"/>
          <p:nvPr/>
        </p:nvPicPr>
        <p:blipFill>
          <a:blip r:embed="rId4">
            <a:alphaModFix/>
          </a:blip>
          <a:stretch>
            <a:fillRect/>
          </a:stretch>
        </p:blipFill>
        <p:spPr>
          <a:xfrm>
            <a:off x="2859025" y="2419350"/>
            <a:ext cx="5981700" cy="819150"/>
          </a:xfrm>
          <a:prstGeom prst="rect">
            <a:avLst/>
          </a:prstGeom>
          <a:noFill/>
          <a:ln>
            <a:noFill/>
          </a:ln>
        </p:spPr>
      </p:pic>
      <p:pic>
        <p:nvPicPr>
          <p:cNvPr id="215" name="Google Shape;215;p26"/>
          <p:cNvPicPr preferRelativeResize="0"/>
          <p:nvPr/>
        </p:nvPicPr>
        <p:blipFill>
          <a:blip r:embed="rId5">
            <a:alphaModFix/>
          </a:blip>
          <a:stretch>
            <a:fillRect/>
          </a:stretch>
        </p:blipFill>
        <p:spPr>
          <a:xfrm>
            <a:off x="3876675" y="3374275"/>
            <a:ext cx="4547675" cy="1477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t>
            </a:r>
            <a:r>
              <a:rPr lang="en"/>
              <a:t>Spring Boot Hibernate Relationship Mapping?</a:t>
            </a:r>
            <a:endParaRPr/>
          </a:p>
        </p:txBody>
      </p:sp>
      <p:sp>
        <p:nvSpPr>
          <p:cNvPr id="221" name="Google Shape;221;p2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1800">
                <a:solidFill>
                  <a:srgbClr val="374151"/>
                </a:solidFill>
                <a:highlight>
                  <a:srgbClr val="F7F7F8"/>
                </a:highlight>
                <a:latin typeface="Nunito"/>
                <a:ea typeface="Nunito"/>
                <a:cs typeface="Nunito"/>
                <a:sym typeface="Nunito"/>
              </a:rPr>
              <a:t>Hibernate supports different types of relationships between entities including one-to-one, one-to-many, many-to-one, and many-to-many. </a:t>
            </a:r>
            <a:br>
              <a:rPr lang="en" sz="1800">
                <a:solidFill>
                  <a:srgbClr val="374151"/>
                </a:solidFill>
                <a:highlight>
                  <a:srgbClr val="F7F7F8"/>
                </a:highlight>
                <a:latin typeface="Nunito"/>
                <a:ea typeface="Nunito"/>
                <a:cs typeface="Nunito"/>
                <a:sym typeface="Nunito"/>
              </a:rPr>
            </a:br>
            <a:br>
              <a:rPr lang="en" sz="1800">
                <a:solidFill>
                  <a:srgbClr val="374151"/>
                </a:solidFill>
                <a:highlight>
                  <a:srgbClr val="F7F7F8"/>
                </a:highlight>
                <a:latin typeface="Nunito"/>
                <a:ea typeface="Nunito"/>
                <a:cs typeface="Nunito"/>
                <a:sym typeface="Nunito"/>
              </a:rPr>
            </a:br>
            <a:r>
              <a:rPr lang="en" sz="1800">
                <a:solidFill>
                  <a:srgbClr val="374151"/>
                </a:solidFill>
                <a:highlight>
                  <a:srgbClr val="F7F7F8"/>
                </a:highlight>
                <a:latin typeface="Nunito"/>
                <a:ea typeface="Nunito"/>
                <a:cs typeface="Nunito"/>
                <a:sym typeface="Nunito"/>
              </a:rPr>
              <a:t>These relationships can be mapped using Hibernate annotations such as </a:t>
            </a:r>
            <a:r>
              <a:rPr lang="en" sz="1800">
                <a:solidFill>
                  <a:srgbClr val="FF0000"/>
                </a:solidFill>
                <a:highlight>
                  <a:srgbClr val="F7F7F8"/>
                </a:highlight>
                <a:latin typeface="Nunito"/>
                <a:ea typeface="Nunito"/>
                <a:cs typeface="Nunito"/>
                <a:sym typeface="Nunito"/>
              </a:rPr>
              <a:t>@OneToOne</a:t>
            </a:r>
            <a:r>
              <a:rPr lang="en" sz="1800">
                <a:solidFill>
                  <a:srgbClr val="374151"/>
                </a:solidFill>
                <a:highlight>
                  <a:srgbClr val="F7F7F8"/>
                </a:highlight>
                <a:latin typeface="Nunito"/>
                <a:ea typeface="Nunito"/>
                <a:cs typeface="Nunito"/>
                <a:sym typeface="Nunito"/>
              </a:rPr>
              <a:t>, </a:t>
            </a:r>
            <a:r>
              <a:rPr lang="en" sz="1800">
                <a:solidFill>
                  <a:srgbClr val="FF0000"/>
                </a:solidFill>
                <a:highlight>
                  <a:srgbClr val="F7F7F8"/>
                </a:highlight>
                <a:latin typeface="Nunito"/>
                <a:ea typeface="Nunito"/>
                <a:cs typeface="Nunito"/>
                <a:sym typeface="Nunito"/>
              </a:rPr>
              <a:t>@OneToMany</a:t>
            </a:r>
            <a:r>
              <a:rPr lang="en" sz="1800">
                <a:solidFill>
                  <a:srgbClr val="374151"/>
                </a:solidFill>
                <a:highlight>
                  <a:srgbClr val="F7F7F8"/>
                </a:highlight>
                <a:latin typeface="Nunito"/>
                <a:ea typeface="Nunito"/>
                <a:cs typeface="Nunito"/>
                <a:sym typeface="Nunito"/>
              </a:rPr>
              <a:t>, </a:t>
            </a:r>
            <a:r>
              <a:rPr lang="en" sz="1800">
                <a:solidFill>
                  <a:srgbClr val="FF0000"/>
                </a:solidFill>
                <a:highlight>
                  <a:srgbClr val="F7F7F8"/>
                </a:highlight>
                <a:latin typeface="Nunito"/>
                <a:ea typeface="Nunito"/>
                <a:cs typeface="Nunito"/>
                <a:sym typeface="Nunito"/>
              </a:rPr>
              <a:t>@ManyToOne</a:t>
            </a:r>
            <a:r>
              <a:rPr lang="en" sz="1800">
                <a:solidFill>
                  <a:srgbClr val="374151"/>
                </a:solidFill>
                <a:highlight>
                  <a:srgbClr val="F7F7F8"/>
                </a:highlight>
                <a:latin typeface="Nunito"/>
                <a:ea typeface="Nunito"/>
                <a:cs typeface="Nunito"/>
                <a:sym typeface="Nunito"/>
              </a:rPr>
              <a:t>, and </a:t>
            </a:r>
            <a:r>
              <a:rPr lang="en" sz="1800">
                <a:solidFill>
                  <a:srgbClr val="FF0000"/>
                </a:solidFill>
                <a:highlight>
                  <a:srgbClr val="F7F7F8"/>
                </a:highlight>
                <a:latin typeface="Nunito"/>
                <a:ea typeface="Nunito"/>
                <a:cs typeface="Nunito"/>
                <a:sym typeface="Nunito"/>
              </a:rPr>
              <a:t>@ManyToMany</a:t>
            </a:r>
            <a:r>
              <a:rPr lang="en" sz="1800">
                <a:solidFill>
                  <a:srgbClr val="374151"/>
                </a:solidFill>
                <a:highlight>
                  <a:srgbClr val="F7F7F8"/>
                </a:highlight>
                <a:latin typeface="Nunito"/>
                <a:ea typeface="Nunito"/>
                <a:cs typeface="Nunito"/>
                <a:sym typeface="Nunito"/>
              </a:rPr>
              <a:t>. The specific annotations used depend on the specific use case.</a:t>
            </a:r>
            <a:endParaRPr sz="18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@OneToOne </a:t>
            </a:r>
            <a:r>
              <a:rPr lang="en"/>
              <a:t>Relationship Mapping</a:t>
            </a:r>
            <a:endParaRPr/>
          </a:p>
        </p:txBody>
      </p:sp>
      <p:sp>
        <p:nvSpPr>
          <p:cNvPr id="227" name="Google Shape;227;p2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mappedBy</a:t>
            </a:r>
            <a:r>
              <a:rPr lang="en" sz="1800">
                <a:solidFill>
                  <a:srgbClr val="374151"/>
                </a:solidFill>
                <a:highlight>
                  <a:srgbClr val="F7F7F8"/>
                </a:highlight>
                <a:latin typeface="Nunito"/>
                <a:ea typeface="Nunito"/>
                <a:cs typeface="Nunito"/>
                <a:sym typeface="Nunito"/>
              </a:rPr>
              <a:t>: Specifies the field in the associated entity that owns the relationship.</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cascade</a:t>
            </a:r>
            <a:r>
              <a:rPr lang="en" sz="1800">
                <a:solidFill>
                  <a:srgbClr val="374151"/>
                </a:solidFill>
                <a:highlight>
                  <a:srgbClr val="F7F7F8"/>
                </a:highlight>
                <a:latin typeface="Nunito"/>
                <a:ea typeface="Nunito"/>
                <a:cs typeface="Nunito"/>
                <a:sym typeface="Nunito"/>
              </a:rPr>
              <a:t>: Specifies the cascade type for the relationship, such as </a:t>
            </a:r>
            <a:r>
              <a:rPr lang="en" sz="1800">
                <a:solidFill>
                  <a:srgbClr val="EF4444"/>
                </a:solidFill>
                <a:highlight>
                  <a:srgbClr val="F7F7F8"/>
                </a:highlight>
                <a:latin typeface="Nunito"/>
                <a:ea typeface="Nunito"/>
                <a:cs typeface="Nunito"/>
                <a:sym typeface="Nunito"/>
              </a:rPr>
              <a:t>CascadeType.ALL, CascadeType.PERSIST, CascadeType.MERGE, etc.</a:t>
            </a:r>
            <a:endParaRPr sz="1800">
              <a:solidFill>
                <a:srgbClr val="EF4444"/>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fetch</a:t>
            </a:r>
            <a:r>
              <a:rPr lang="en" sz="1800">
                <a:solidFill>
                  <a:srgbClr val="374151"/>
                </a:solidFill>
                <a:highlight>
                  <a:srgbClr val="F7F7F8"/>
                </a:highlight>
                <a:latin typeface="Nunito"/>
                <a:ea typeface="Nunito"/>
                <a:cs typeface="Nunito"/>
                <a:sym typeface="Nunito"/>
              </a:rPr>
              <a:t>: Specifies the fetch type for the relationship, such as </a:t>
            </a:r>
            <a:r>
              <a:rPr lang="en" sz="1800">
                <a:solidFill>
                  <a:srgbClr val="EF4444"/>
                </a:solidFill>
                <a:highlight>
                  <a:srgbClr val="F7F7F8"/>
                </a:highlight>
                <a:latin typeface="Nunito"/>
                <a:ea typeface="Nunito"/>
                <a:cs typeface="Nunito"/>
                <a:sym typeface="Nunito"/>
              </a:rPr>
              <a:t>FetchType.EAGER</a:t>
            </a:r>
            <a:r>
              <a:rPr lang="en" sz="1800">
                <a:solidFill>
                  <a:srgbClr val="374151"/>
                </a:solidFill>
                <a:highlight>
                  <a:srgbClr val="F7F7F8"/>
                </a:highlight>
                <a:latin typeface="Nunito"/>
                <a:ea typeface="Nunito"/>
                <a:cs typeface="Nunito"/>
                <a:sym typeface="Nunito"/>
              </a:rPr>
              <a:t> or </a:t>
            </a:r>
            <a:r>
              <a:rPr lang="en" sz="1800">
                <a:solidFill>
                  <a:srgbClr val="EF4444"/>
                </a:solidFill>
                <a:highlight>
                  <a:srgbClr val="F7F7F8"/>
                </a:highlight>
                <a:latin typeface="Nunito"/>
                <a:ea typeface="Nunito"/>
                <a:cs typeface="Nunito"/>
                <a:sym typeface="Nunito"/>
              </a:rPr>
              <a:t>FetchType.LAZY</a:t>
            </a:r>
            <a:r>
              <a:rPr lang="en" sz="1800">
                <a:solidFill>
                  <a:srgbClr val="374151"/>
                </a:solidFill>
                <a:highlight>
                  <a:srgbClr val="F7F7F8"/>
                </a:highlight>
                <a:latin typeface="Nunito"/>
                <a:ea typeface="Nunito"/>
                <a:cs typeface="Nunito"/>
                <a:sym typeface="Nunito"/>
              </a:rPr>
              <a:t>.</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optional</a:t>
            </a:r>
            <a:r>
              <a:rPr lang="en" sz="1800">
                <a:solidFill>
                  <a:srgbClr val="374151"/>
                </a:solidFill>
                <a:highlight>
                  <a:srgbClr val="F7F7F8"/>
                </a:highlight>
                <a:latin typeface="Nunito"/>
                <a:ea typeface="Nunito"/>
                <a:cs typeface="Nunito"/>
                <a:sym typeface="Nunito"/>
              </a:rPr>
              <a:t>: Specifies whether the relationship is optional or required.</a:t>
            </a:r>
            <a:endParaRPr sz="1800">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@OneToMany Relationship Mapping</a:t>
            </a:r>
            <a:endParaRPr/>
          </a:p>
        </p:txBody>
      </p:sp>
      <p:sp>
        <p:nvSpPr>
          <p:cNvPr id="233" name="Google Shape;233;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mappedBy</a:t>
            </a:r>
            <a:r>
              <a:rPr lang="en" sz="1800">
                <a:solidFill>
                  <a:srgbClr val="374151"/>
                </a:solidFill>
                <a:highlight>
                  <a:srgbClr val="F7F7F8"/>
                </a:highlight>
                <a:latin typeface="Nunito"/>
                <a:ea typeface="Nunito"/>
                <a:cs typeface="Nunito"/>
                <a:sym typeface="Nunito"/>
              </a:rPr>
              <a:t>: Specifies the field in the associated entity that owns the relationship.</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cascade</a:t>
            </a:r>
            <a:r>
              <a:rPr lang="en" sz="1800">
                <a:solidFill>
                  <a:srgbClr val="374151"/>
                </a:solidFill>
                <a:highlight>
                  <a:srgbClr val="F7F7F8"/>
                </a:highlight>
                <a:latin typeface="Nunito"/>
                <a:ea typeface="Nunito"/>
                <a:cs typeface="Nunito"/>
                <a:sym typeface="Nunito"/>
              </a:rPr>
              <a:t>: Specifies the cascade type for the relationship, such as </a:t>
            </a:r>
            <a:r>
              <a:rPr lang="en" sz="1800">
                <a:solidFill>
                  <a:srgbClr val="EF4444"/>
                </a:solidFill>
                <a:highlight>
                  <a:srgbClr val="F7F7F8"/>
                </a:highlight>
                <a:latin typeface="Nunito"/>
                <a:ea typeface="Nunito"/>
                <a:cs typeface="Nunito"/>
                <a:sym typeface="Nunito"/>
              </a:rPr>
              <a:t>CascadeType.ALL, CascadeType.PERSIST, CascadeType.MERGE, etc.</a:t>
            </a:r>
            <a:endParaRPr sz="1800">
              <a:solidFill>
                <a:srgbClr val="EF4444"/>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fetch</a:t>
            </a:r>
            <a:r>
              <a:rPr lang="en" sz="1800">
                <a:solidFill>
                  <a:srgbClr val="374151"/>
                </a:solidFill>
                <a:highlight>
                  <a:srgbClr val="F7F7F8"/>
                </a:highlight>
                <a:latin typeface="Nunito"/>
                <a:ea typeface="Nunito"/>
                <a:cs typeface="Nunito"/>
                <a:sym typeface="Nunito"/>
              </a:rPr>
              <a:t>: Specifies the fetch type for the relationship, such as </a:t>
            </a:r>
            <a:r>
              <a:rPr lang="en" sz="1800">
                <a:solidFill>
                  <a:srgbClr val="EF4444"/>
                </a:solidFill>
                <a:highlight>
                  <a:srgbClr val="F7F7F8"/>
                </a:highlight>
                <a:latin typeface="Nunito"/>
                <a:ea typeface="Nunito"/>
                <a:cs typeface="Nunito"/>
                <a:sym typeface="Nunito"/>
              </a:rPr>
              <a:t>FetchType.EAGER</a:t>
            </a:r>
            <a:r>
              <a:rPr lang="en" sz="1800">
                <a:solidFill>
                  <a:srgbClr val="374151"/>
                </a:solidFill>
                <a:highlight>
                  <a:srgbClr val="F7F7F8"/>
                </a:highlight>
                <a:latin typeface="Nunito"/>
                <a:ea typeface="Nunito"/>
                <a:cs typeface="Nunito"/>
                <a:sym typeface="Nunito"/>
              </a:rPr>
              <a:t> or </a:t>
            </a:r>
            <a:r>
              <a:rPr lang="en" sz="1800">
                <a:solidFill>
                  <a:srgbClr val="EF4444"/>
                </a:solidFill>
                <a:highlight>
                  <a:srgbClr val="F7F7F8"/>
                </a:highlight>
                <a:latin typeface="Nunito"/>
                <a:ea typeface="Nunito"/>
                <a:cs typeface="Nunito"/>
                <a:sym typeface="Nunito"/>
              </a:rPr>
              <a:t>FetchType.LAZY</a:t>
            </a:r>
            <a:r>
              <a:rPr lang="en" sz="1800">
                <a:solidFill>
                  <a:srgbClr val="374151"/>
                </a:solidFill>
                <a:highlight>
                  <a:srgbClr val="F7F7F8"/>
                </a:highlight>
                <a:latin typeface="Nunito"/>
                <a:ea typeface="Nunito"/>
                <a:cs typeface="Nunito"/>
                <a:sym typeface="Nunito"/>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
            </a:r>
            <a:r>
              <a:rPr lang="en"/>
              <a:t>Many</a:t>
            </a:r>
            <a:r>
              <a:rPr lang="en"/>
              <a:t>ToOne Relationship Mapping</a:t>
            </a:r>
            <a:endParaRPr/>
          </a:p>
        </p:txBody>
      </p:sp>
      <p:sp>
        <p:nvSpPr>
          <p:cNvPr id="239" name="Google Shape;239;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cascade</a:t>
            </a:r>
            <a:r>
              <a:rPr lang="en" sz="1800">
                <a:solidFill>
                  <a:srgbClr val="374151"/>
                </a:solidFill>
                <a:highlight>
                  <a:srgbClr val="F7F7F8"/>
                </a:highlight>
                <a:latin typeface="Nunito"/>
                <a:ea typeface="Nunito"/>
                <a:cs typeface="Nunito"/>
                <a:sym typeface="Nunito"/>
              </a:rPr>
              <a:t>: Specifies the cascade type for the relationship, such as </a:t>
            </a:r>
            <a:r>
              <a:rPr lang="en" sz="1800">
                <a:solidFill>
                  <a:srgbClr val="EF4444"/>
                </a:solidFill>
                <a:highlight>
                  <a:srgbClr val="F7F7F8"/>
                </a:highlight>
                <a:latin typeface="Nunito"/>
                <a:ea typeface="Nunito"/>
                <a:cs typeface="Nunito"/>
                <a:sym typeface="Nunito"/>
              </a:rPr>
              <a:t>CascadeType.ALL, CascadeType.PERSIST, CascadeType.MERGE, etc.</a:t>
            </a:r>
            <a:endParaRPr sz="1800">
              <a:solidFill>
                <a:srgbClr val="EF4444"/>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fetch</a:t>
            </a:r>
            <a:r>
              <a:rPr lang="en" sz="1800">
                <a:solidFill>
                  <a:srgbClr val="374151"/>
                </a:solidFill>
                <a:highlight>
                  <a:srgbClr val="F7F7F8"/>
                </a:highlight>
                <a:latin typeface="Nunito"/>
                <a:ea typeface="Nunito"/>
                <a:cs typeface="Nunito"/>
                <a:sym typeface="Nunito"/>
              </a:rPr>
              <a:t>: Specifies the fetch type for the relationship, such as </a:t>
            </a:r>
            <a:r>
              <a:rPr lang="en" sz="1800">
                <a:solidFill>
                  <a:srgbClr val="EF4444"/>
                </a:solidFill>
                <a:highlight>
                  <a:srgbClr val="F7F7F8"/>
                </a:highlight>
                <a:latin typeface="Nunito"/>
                <a:ea typeface="Nunito"/>
                <a:cs typeface="Nunito"/>
                <a:sym typeface="Nunito"/>
              </a:rPr>
              <a:t>FetchType.EAGER</a:t>
            </a:r>
            <a:r>
              <a:rPr lang="en" sz="1800">
                <a:solidFill>
                  <a:srgbClr val="374151"/>
                </a:solidFill>
                <a:highlight>
                  <a:srgbClr val="F7F7F8"/>
                </a:highlight>
                <a:latin typeface="Nunito"/>
                <a:ea typeface="Nunito"/>
                <a:cs typeface="Nunito"/>
                <a:sym typeface="Nunito"/>
              </a:rPr>
              <a:t> or </a:t>
            </a:r>
            <a:r>
              <a:rPr lang="en" sz="1800">
                <a:solidFill>
                  <a:srgbClr val="EF4444"/>
                </a:solidFill>
                <a:highlight>
                  <a:srgbClr val="F7F7F8"/>
                </a:highlight>
                <a:latin typeface="Nunito"/>
                <a:ea typeface="Nunito"/>
                <a:cs typeface="Nunito"/>
                <a:sym typeface="Nunito"/>
              </a:rPr>
              <a:t>FetchType.LAZY</a:t>
            </a:r>
            <a:r>
              <a:rPr lang="en" sz="1800">
                <a:solidFill>
                  <a:srgbClr val="374151"/>
                </a:solidFill>
                <a:highlight>
                  <a:srgbClr val="F7F7F8"/>
                </a:highlight>
                <a:latin typeface="Nunito"/>
                <a:ea typeface="Nunito"/>
                <a:cs typeface="Nunito"/>
                <a:sym typeface="Nunito"/>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@ManyToMany Relationship Mapping</a:t>
            </a:r>
            <a:endParaRPr/>
          </a:p>
        </p:txBody>
      </p:sp>
      <p:sp>
        <p:nvSpPr>
          <p:cNvPr id="245" name="Google Shape;245;p3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mappedBy</a:t>
            </a:r>
            <a:r>
              <a:rPr lang="en" sz="1800">
                <a:solidFill>
                  <a:srgbClr val="374151"/>
                </a:solidFill>
                <a:highlight>
                  <a:srgbClr val="F7F7F8"/>
                </a:highlight>
                <a:latin typeface="Nunito"/>
                <a:ea typeface="Nunito"/>
                <a:cs typeface="Nunito"/>
                <a:sym typeface="Nunito"/>
              </a:rPr>
              <a:t>: Specifies the field in the associated entity that owns the relationship.</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cascade</a:t>
            </a:r>
            <a:r>
              <a:rPr lang="en" sz="1800">
                <a:solidFill>
                  <a:srgbClr val="374151"/>
                </a:solidFill>
                <a:highlight>
                  <a:srgbClr val="F7F7F8"/>
                </a:highlight>
                <a:latin typeface="Nunito"/>
                <a:ea typeface="Nunito"/>
                <a:cs typeface="Nunito"/>
                <a:sym typeface="Nunito"/>
              </a:rPr>
              <a:t>: Specifies the cascade type for the relationship, such as </a:t>
            </a:r>
            <a:r>
              <a:rPr lang="en" sz="1800">
                <a:solidFill>
                  <a:srgbClr val="EF4444"/>
                </a:solidFill>
                <a:highlight>
                  <a:srgbClr val="F7F7F8"/>
                </a:highlight>
                <a:latin typeface="Nunito"/>
                <a:ea typeface="Nunito"/>
                <a:cs typeface="Nunito"/>
                <a:sym typeface="Nunito"/>
              </a:rPr>
              <a:t>CascadeType.ALL, CascadeType.PERSIST, CascadeType.MERGE, etc.</a:t>
            </a:r>
            <a:endParaRPr sz="1800">
              <a:solidFill>
                <a:srgbClr val="EF4444"/>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fetch</a:t>
            </a:r>
            <a:r>
              <a:rPr lang="en" sz="1800">
                <a:solidFill>
                  <a:srgbClr val="374151"/>
                </a:solidFill>
                <a:highlight>
                  <a:srgbClr val="F7F7F8"/>
                </a:highlight>
                <a:latin typeface="Nunito"/>
                <a:ea typeface="Nunito"/>
                <a:cs typeface="Nunito"/>
                <a:sym typeface="Nunito"/>
              </a:rPr>
              <a:t>: Specifies the fetch type for the relationship, such as </a:t>
            </a:r>
            <a:r>
              <a:rPr lang="en" sz="1800">
                <a:solidFill>
                  <a:srgbClr val="EF4444"/>
                </a:solidFill>
                <a:highlight>
                  <a:srgbClr val="F7F7F8"/>
                </a:highlight>
                <a:latin typeface="Nunito"/>
                <a:ea typeface="Nunito"/>
                <a:cs typeface="Nunito"/>
                <a:sym typeface="Nunito"/>
              </a:rPr>
              <a:t>FetchType.EAGER</a:t>
            </a:r>
            <a:r>
              <a:rPr lang="en" sz="1800">
                <a:solidFill>
                  <a:srgbClr val="374151"/>
                </a:solidFill>
                <a:highlight>
                  <a:srgbClr val="F7F7F8"/>
                </a:highlight>
                <a:latin typeface="Nunito"/>
                <a:ea typeface="Nunito"/>
                <a:cs typeface="Nunito"/>
                <a:sym typeface="Nunito"/>
              </a:rPr>
              <a:t> or </a:t>
            </a:r>
            <a:r>
              <a:rPr lang="en" sz="1800">
                <a:solidFill>
                  <a:srgbClr val="EF4444"/>
                </a:solidFill>
                <a:highlight>
                  <a:srgbClr val="F7F7F8"/>
                </a:highlight>
                <a:latin typeface="Nunito"/>
                <a:ea typeface="Nunito"/>
                <a:cs typeface="Nunito"/>
                <a:sym typeface="Nunito"/>
              </a:rPr>
              <a:t>FetchType.LAZY</a:t>
            </a:r>
            <a:r>
              <a:rPr lang="en" sz="1800">
                <a:solidFill>
                  <a:srgbClr val="374151"/>
                </a:solidFill>
                <a:highlight>
                  <a:srgbClr val="F7F7F8"/>
                </a:highlight>
                <a:latin typeface="Nunito"/>
                <a:ea typeface="Nunito"/>
                <a:cs typeface="Nunito"/>
                <a:sym typeface="Nunito"/>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@JoinTable Relationship Mapping</a:t>
            </a:r>
            <a:endParaRPr/>
          </a:p>
        </p:txBody>
      </p:sp>
      <p:sp>
        <p:nvSpPr>
          <p:cNvPr id="251" name="Google Shape;251;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374151"/>
                </a:solidFill>
                <a:highlight>
                  <a:srgbClr val="F7F7F8"/>
                </a:highlight>
                <a:latin typeface="Nunito"/>
                <a:ea typeface="Nunito"/>
                <a:cs typeface="Nunito"/>
                <a:sym typeface="Nunito"/>
              </a:rPr>
              <a:t>Used to define a join table for a </a:t>
            </a:r>
            <a:r>
              <a:rPr lang="en" sz="1800">
                <a:solidFill>
                  <a:srgbClr val="EF4444"/>
                </a:solidFill>
                <a:highlight>
                  <a:srgbClr val="F7F7F8"/>
                </a:highlight>
                <a:latin typeface="Nunito"/>
                <a:ea typeface="Nunito"/>
                <a:cs typeface="Nunito"/>
                <a:sym typeface="Nunito"/>
              </a:rPr>
              <a:t>many-to-many</a:t>
            </a:r>
            <a:r>
              <a:rPr lang="en" sz="1800">
                <a:solidFill>
                  <a:srgbClr val="374151"/>
                </a:solidFill>
                <a:highlight>
                  <a:srgbClr val="F7F7F8"/>
                </a:highlight>
                <a:latin typeface="Nunito"/>
                <a:ea typeface="Nunito"/>
                <a:cs typeface="Nunito"/>
                <a:sym typeface="Nunito"/>
              </a:rPr>
              <a:t> relationship.</a:t>
            </a:r>
            <a:endParaRPr sz="1800">
              <a:solidFill>
                <a:srgbClr val="374151"/>
              </a:solidFill>
              <a:highlight>
                <a:srgbClr val="F7F7F8"/>
              </a:highlight>
              <a:latin typeface="Nunito"/>
              <a:ea typeface="Nunito"/>
              <a:cs typeface="Nunito"/>
              <a:sym typeface="Nunito"/>
            </a:endParaRPr>
          </a:p>
          <a:p>
            <a:pPr indent="0" lvl="0" marL="0" rtl="0" algn="l">
              <a:spcBef>
                <a:spcPts val="0"/>
              </a:spcBef>
              <a:spcAft>
                <a:spcPts val="0"/>
              </a:spcAft>
              <a:buNone/>
            </a:pPr>
            <a:r>
              <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name</a:t>
            </a:r>
            <a:r>
              <a:rPr lang="en" sz="1800">
                <a:solidFill>
                  <a:srgbClr val="374151"/>
                </a:solidFill>
                <a:highlight>
                  <a:srgbClr val="F7F7F8"/>
                </a:highlight>
                <a:latin typeface="Nunito"/>
                <a:ea typeface="Nunito"/>
                <a:cs typeface="Nunito"/>
                <a:sym typeface="Nunito"/>
              </a:rPr>
              <a:t>: Specifies the name of the join table.</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joinColumns</a:t>
            </a:r>
            <a:r>
              <a:rPr lang="en" sz="1800">
                <a:solidFill>
                  <a:srgbClr val="374151"/>
                </a:solidFill>
                <a:highlight>
                  <a:srgbClr val="F7F7F8"/>
                </a:highlight>
                <a:latin typeface="Nunito"/>
                <a:ea typeface="Nunito"/>
                <a:cs typeface="Nunito"/>
                <a:sym typeface="Nunito"/>
              </a:rPr>
              <a:t>: Specifies the foreign key column(s) in the owning entity's table that reference the join table.</a:t>
            </a:r>
            <a:endParaRPr sz="1800">
              <a:solidFill>
                <a:srgbClr val="374151"/>
              </a:solidFill>
              <a:highlight>
                <a:srgbClr val="F7F7F8"/>
              </a:highlight>
              <a:latin typeface="Nunito"/>
              <a:ea typeface="Nunito"/>
              <a:cs typeface="Nunito"/>
              <a:sym typeface="Nunito"/>
            </a:endParaRPr>
          </a:p>
          <a:p>
            <a:pPr indent="-342900" lvl="0" marL="457200" rtl="0" algn="l">
              <a:spcBef>
                <a:spcPts val="0"/>
              </a:spcBef>
              <a:spcAft>
                <a:spcPts val="0"/>
              </a:spcAft>
              <a:buClr>
                <a:srgbClr val="374151"/>
              </a:buClr>
              <a:buSzPts val="1800"/>
              <a:buFont typeface="Nunito"/>
              <a:buChar char="●"/>
            </a:pPr>
            <a:r>
              <a:rPr b="1" lang="en" sz="1800">
                <a:solidFill>
                  <a:srgbClr val="374151"/>
                </a:solidFill>
                <a:highlight>
                  <a:srgbClr val="F7F7F8"/>
                </a:highlight>
                <a:latin typeface="Nunito"/>
                <a:ea typeface="Nunito"/>
                <a:cs typeface="Nunito"/>
                <a:sym typeface="Nunito"/>
              </a:rPr>
              <a:t>inverseJoinColumns</a:t>
            </a:r>
            <a:r>
              <a:rPr lang="en" sz="1800">
                <a:solidFill>
                  <a:srgbClr val="374151"/>
                </a:solidFill>
                <a:highlight>
                  <a:srgbClr val="F7F7F8"/>
                </a:highlight>
                <a:latin typeface="Nunito"/>
                <a:ea typeface="Nunito"/>
                <a:cs typeface="Nunito"/>
                <a:sym typeface="Nunito"/>
              </a:rPr>
              <a:t>: Specifies the foreign key column(s) in the associated entity's table that reference the join table.</a:t>
            </a:r>
            <a:endParaRPr b="1" sz="1800">
              <a:solidFill>
                <a:srgbClr val="374151"/>
              </a:solidFill>
              <a:highlight>
                <a:srgbClr val="F7F7F8"/>
              </a:highlight>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Cascade Attribute</a:t>
            </a:r>
            <a:endParaRPr/>
          </a:p>
        </p:txBody>
      </p:sp>
      <p:sp>
        <p:nvSpPr>
          <p:cNvPr id="257" name="Google Shape;257;p33"/>
          <p:cNvSpPr txBox="1"/>
          <p:nvPr>
            <p:ph idx="1" type="body"/>
          </p:nvPr>
        </p:nvSpPr>
        <p:spPr>
          <a:xfrm>
            <a:off x="819150" y="1581925"/>
            <a:ext cx="7505700" cy="2856900"/>
          </a:xfrm>
          <a:prstGeom prst="rect">
            <a:avLst/>
          </a:prstGeom>
        </p:spPr>
        <p:txBody>
          <a:bodyPr anchorCtr="0" anchor="t" bIns="91425" lIns="91425" spcFirstLastPara="1" rIns="91425" wrap="square" tIns="91425">
            <a:normAutofit fontScale="85000" lnSpcReduction="20000"/>
          </a:bodyPr>
          <a:lstStyle/>
          <a:p>
            <a:pPr indent="-293370" lvl="0" marL="457200" rtl="0" algn="l">
              <a:spcBef>
                <a:spcPts val="150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CascadeType.ALL:</a:t>
            </a:r>
            <a:r>
              <a:rPr lang="en" sz="1200">
                <a:solidFill>
                  <a:srgbClr val="374151"/>
                </a:solidFill>
                <a:highlight>
                  <a:srgbClr val="F7F7F8"/>
                </a:highlight>
                <a:latin typeface="Nunito"/>
                <a:ea typeface="Nunito"/>
                <a:cs typeface="Nunito"/>
                <a:sym typeface="Nunito"/>
              </a:rPr>
              <a:t> When you perform an operation on the parent entity, such as inserting, updating, or deleting, the same operation is cascaded to all associated child entities.</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293370" lvl="0" marL="457200" rtl="0" algn="l">
              <a:spcBef>
                <a:spcPts val="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CascadeType.PERSIST:</a:t>
            </a:r>
            <a:r>
              <a:rPr lang="en" sz="1200">
                <a:solidFill>
                  <a:srgbClr val="374151"/>
                </a:solidFill>
                <a:highlight>
                  <a:srgbClr val="F7F7F8"/>
                </a:highlight>
                <a:latin typeface="Nunito"/>
                <a:ea typeface="Nunito"/>
                <a:cs typeface="Nunito"/>
                <a:sym typeface="Nunito"/>
              </a:rPr>
              <a:t> When you perform an operation on the parent entity, such as inserting or persisting, the same operation is cascaded to all associated child entities.</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293370" lvl="0" marL="457200" rtl="0" algn="l">
              <a:spcBef>
                <a:spcPts val="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CascadeType.MERGE:</a:t>
            </a:r>
            <a:r>
              <a:rPr lang="en" sz="1200">
                <a:solidFill>
                  <a:srgbClr val="374151"/>
                </a:solidFill>
                <a:highlight>
                  <a:srgbClr val="F7F7F8"/>
                </a:highlight>
                <a:latin typeface="Nunito"/>
                <a:ea typeface="Nunito"/>
                <a:cs typeface="Nunito"/>
                <a:sym typeface="Nunito"/>
              </a:rPr>
              <a:t> When you perform an operation on the parent entity, such as merging or updating, the same operation is cascaded to all associated child entities.</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293370" lvl="0" marL="457200" rtl="0" algn="l">
              <a:spcBef>
                <a:spcPts val="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CascadeType.REMOVE:</a:t>
            </a:r>
            <a:r>
              <a:rPr lang="en" sz="1200">
                <a:solidFill>
                  <a:srgbClr val="374151"/>
                </a:solidFill>
                <a:highlight>
                  <a:srgbClr val="F7F7F8"/>
                </a:highlight>
                <a:latin typeface="Nunito"/>
                <a:ea typeface="Nunito"/>
                <a:cs typeface="Nunito"/>
                <a:sym typeface="Nunito"/>
              </a:rPr>
              <a:t> When you perform an operation on the parent entity, such as deleting, the same operation is cascaded to all associated child entities.</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293370" lvl="0" marL="457200" rtl="0" algn="l">
              <a:spcBef>
                <a:spcPts val="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CascadeType.DETACH:</a:t>
            </a:r>
            <a:r>
              <a:rPr lang="en" sz="1200">
                <a:solidFill>
                  <a:srgbClr val="374151"/>
                </a:solidFill>
                <a:highlight>
                  <a:srgbClr val="F7F7F8"/>
                </a:highlight>
                <a:latin typeface="Nunito"/>
                <a:ea typeface="Nunito"/>
                <a:cs typeface="Nunito"/>
                <a:sym typeface="Nunito"/>
              </a:rPr>
              <a:t> When you perform an operation on the parent entity, such as detaching, the same operation is cascaded to all associated child entities.</a:t>
            </a:r>
            <a:br>
              <a:rPr lang="en" sz="1200">
                <a:solidFill>
                  <a:srgbClr val="374151"/>
                </a:solidFill>
                <a:highlight>
                  <a:srgbClr val="F7F7F8"/>
                </a:highlight>
                <a:latin typeface="Nunito"/>
                <a:ea typeface="Nunito"/>
                <a:cs typeface="Nunito"/>
                <a:sym typeface="Nunito"/>
              </a:rPr>
            </a:br>
            <a:endParaRPr sz="1200">
              <a:solidFill>
                <a:srgbClr val="374151"/>
              </a:solidFill>
              <a:highlight>
                <a:srgbClr val="F7F7F8"/>
              </a:highlight>
              <a:latin typeface="Nunito"/>
              <a:ea typeface="Nunito"/>
              <a:cs typeface="Nunito"/>
              <a:sym typeface="Nunito"/>
            </a:endParaRPr>
          </a:p>
          <a:p>
            <a:pPr indent="-293370" lvl="0" marL="457200" rtl="0" algn="l">
              <a:spcBef>
                <a:spcPts val="0"/>
              </a:spcBef>
              <a:spcAft>
                <a:spcPts val="0"/>
              </a:spcAft>
              <a:buClr>
                <a:srgbClr val="374151"/>
              </a:buClr>
              <a:buSzPct val="100000"/>
              <a:buFont typeface="Nunito"/>
              <a:buAutoNum type="arabicPeriod"/>
            </a:pPr>
            <a:r>
              <a:rPr b="1" lang="en" sz="1200">
                <a:solidFill>
                  <a:srgbClr val="374151"/>
                </a:solidFill>
                <a:highlight>
                  <a:srgbClr val="F7F7F8"/>
                </a:highlight>
                <a:latin typeface="Nunito"/>
                <a:ea typeface="Nunito"/>
                <a:cs typeface="Nunito"/>
                <a:sym typeface="Nunito"/>
              </a:rPr>
              <a:t>CascadeType.REFRESH:</a:t>
            </a:r>
            <a:r>
              <a:rPr lang="en" sz="1200">
                <a:solidFill>
                  <a:srgbClr val="374151"/>
                </a:solidFill>
                <a:highlight>
                  <a:srgbClr val="F7F7F8"/>
                </a:highlight>
                <a:latin typeface="Nunito"/>
                <a:ea typeface="Nunito"/>
                <a:cs typeface="Nunito"/>
                <a:sym typeface="Nunito"/>
              </a:rPr>
              <a:t> When you perform an operation on the parent entity, such as refreshing, the same operation is cascaded to all associated child entities.</a:t>
            </a:r>
            <a:endParaRPr>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Spring Actuator?</a:t>
            </a:r>
            <a:endParaRPr/>
          </a:p>
        </p:txBody>
      </p:sp>
      <p:sp>
        <p:nvSpPr>
          <p:cNvPr id="263" name="Google Shape;263;p3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None/>
            </a:pPr>
            <a:r>
              <a:rPr b="1" lang="en" sz="2400">
                <a:solidFill>
                  <a:srgbClr val="000000"/>
                </a:solidFill>
                <a:latin typeface="Nunito"/>
                <a:ea typeface="Nunito"/>
                <a:cs typeface="Nunito"/>
                <a:sym typeface="Nunito"/>
              </a:rPr>
              <a:t>Spring Actuator is a Spring Boot module that provides endpoints to monitor and manage your application at runtime</a:t>
            </a:r>
            <a:r>
              <a:rPr lang="en" sz="2400">
                <a:solidFill>
                  <a:srgbClr val="000000"/>
                </a:solidFill>
                <a:latin typeface="Nunito"/>
                <a:ea typeface="Nunito"/>
                <a:cs typeface="Nunito"/>
                <a:sym typeface="Nunito"/>
              </a:rPr>
              <a:t>, including metrics, health checks, and various other indicators.</a:t>
            </a:r>
            <a:endParaRPr sz="2400">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819150" y="6932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Spring Actuator Features</a:t>
            </a:r>
            <a:endParaRPr/>
          </a:p>
        </p:txBody>
      </p:sp>
      <p:sp>
        <p:nvSpPr>
          <p:cNvPr id="269" name="Google Shape;269;p35"/>
          <p:cNvSpPr txBox="1"/>
          <p:nvPr>
            <p:ph idx="1" type="body"/>
          </p:nvPr>
        </p:nvSpPr>
        <p:spPr>
          <a:xfrm>
            <a:off x="742950" y="1505175"/>
            <a:ext cx="7505700" cy="3037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Nunito"/>
              <a:buChar char="●"/>
            </a:pPr>
            <a:r>
              <a:rPr b="1" lang="en" sz="1100">
                <a:latin typeface="Nunito"/>
                <a:ea typeface="Nunito"/>
                <a:cs typeface="Nunito"/>
                <a:sym typeface="Nunito"/>
              </a:rPr>
              <a:t>Health checks: </a:t>
            </a:r>
            <a:br>
              <a:rPr lang="en" sz="1100">
                <a:latin typeface="Nunito"/>
                <a:ea typeface="Nunito"/>
                <a:cs typeface="Nunito"/>
                <a:sym typeface="Nunito"/>
              </a:rPr>
            </a:br>
            <a:r>
              <a:rPr lang="en" sz="1100">
                <a:latin typeface="Nunito"/>
                <a:ea typeface="Nunito"/>
                <a:cs typeface="Nunito"/>
                <a:sym typeface="Nunito"/>
              </a:rPr>
              <a:t>	Provides insights into the health of the application and its components, including database connections and external dependencies.</a:t>
            </a:r>
            <a:endParaRPr sz="1100">
              <a:latin typeface="Nunito"/>
              <a:ea typeface="Nunito"/>
              <a:cs typeface="Nunito"/>
              <a:sym typeface="Nunito"/>
            </a:endParaRPr>
          </a:p>
          <a:p>
            <a:pPr indent="-298450" lvl="0" marL="457200" rtl="0" algn="l">
              <a:spcBef>
                <a:spcPts val="0"/>
              </a:spcBef>
              <a:spcAft>
                <a:spcPts val="0"/>
              </a:spcAft>
              <a:buSzPts val="1100"/>
              <a:buFont typeface="Nunito"/>
              <a:buChar char="●"/>
            </a:pPr>
            <a:r>
              <a:rPr b="1" lang="en" sz="1100">
                <a:latin typeface="Nunito"/>
                <a:ea typeface="Nunito"/>
                <a:cs typeface="Nunito"/>
                <a:sym typeface="Nunito"/>
              </a:rPr>
              <a:t>Metrics: </a:t>
            </a:r>
            <a:br>
              <a:rPr lang="en" sz="1100">
                <a:latin typeface="Nunito"/>
                <a:ea typeface="Nunito"/>
                <a:cs typeface="Nunito"/>
                <a:sym typeface="Nunito"/>
              </a:rPr>
            </a:br>
            <a:r>
              <a:rPr lang="en" sz="1100">
                <a:latin typeface="Nunito"/>
                <a:ea typeface="Nunito"/>
                <a:cs typeface="Nunito"/>
                <a:sym typeface="Nunito"/>
              </a:rPr>
              <a:t>	Collects and reports data on various application metrics, such as CPU usage, memory usage, and HTTP request/response metrics.</a:t>
            </a:r>
            <a:endParaRPr sz="1100">
              <a:latin typeface="Nunito"/>
              <a:ea typeface="Nunito"/>
              <a:cs typeface="Nunito"/>
              <a:sym typeface="Nunito"/>
            </a:endParaRPr>
          </a:p>
          <a:p>
            <a:pPr indent="-298450" lvl="0" marL="457200" rtl="0" algn="l">
              <a:spcBef>
                <a:spcPts val="0"/>
              </a:spcBef>
              <a:spcAft>
                <a:spcPts val="0"/>
              </a:spcAft>
              <a:buSzPts val="1100"/>
              <a:buFont typeface="Nunito"/>
              <a:buChar char="●"/>
            </a:pPr>
            <a:r>
              <a:rPr b="1" lang="en" sz="1100">
                <a:latin typeface="Nunito"/>
                <a:ea typeface="Nunito"/>
                <a:cs typeface="Nunito"/>
                <a:sym typeface="Nunito"/>
              </a:rPr>
              <a:t>Endpoint exposure: </a:t>
            </a:r>
            <a:br>
              <a:rPr lang="en" sz="1100">
                <a:latin typeface="Nunito"/>
                <a:ea typeface="Nunito"/>
                <a:cs typeface="Nunito"/>
                <a:sym typeface="Nunito"/>
              </a:rPr>
            </a:br>
            <a:r>
              <a:rPr lang="en" sz="1100">
                <a:latin typeface="Nunito"/>
                <a:ea typeface="Nunito"/>
                <a:cs typeface="Nunito"/>
                <a:sym typeface="Nunito"/>
              </a:rPr>
              <a:t>	Provides a comprehensive list of endpoints that can be used to interact with the application and its components.</a:t>
            </a:r>
            <a:endParaRPr sz="1100">
              <a:latin typeface="Nunito"/>
              <a:ea typeface="Nunito"/>
              <a:cs typeface="Nunito"/>
              <a:sym typeface="Nunito"/>
            </a:endParaRPr>
          </a:p>
          <a:p>
            <a:pPr indent="-298450" lvl="0" marL="457200" rtl="0" algn="l">
              <a:spcBef>
                <a:spcPts val="0"/>
              </a:spcBef>
              <a:spcAft>
                <a:spcPts val="0"/>
              </a:spcAft>
              <a:buSzPts val="1100"/>
              <a:buFont typeface="Nunito"/>
              <a:buChar char="●"/>
            </a:pPr>
            <a:r>
              <a:rPr b="1" lang="en" sz="1100">
                <a:latin typeface="Nunito"/>
                <a:ea typeface="Nunito"/>
                <a:cs typeface="Nunito"/>
                <a:sym typeface="Nunito"/>
              </a:rPr>
              <a:t>Environment details:</a:t>
            </a:r>
            <a:r>
              <a:rPr lang="en" sz="1100">
                <a:latin typeface="Nunito"/>
                <a:ea typeface="Nunito"/>
                <a:cs typeface="Nunito"/>
                <a:sym typeface="Nunito"/>
              </a:rPr>
              <a:t> </a:t>
            </a:r>
            <a:br>
              <a:rPr lang="en" sz="1100">
                <a:latin typeface="Nunito"/>
                <a:ea typeface="Nunito"/>
                <a:cs typeface="Nunito"/>
                <a:sym typeface="Nunito"/>
              </a:rPr>
            </a:br>
            <a:r>
              <a:rPr lang="en" sz="1100">
                <a:latin typeface="Nunito"/>
                <a:ea typeface="Nunito"/>
                <a:cs typeface="Nunito"/>
                <a:sym typeface="Nunito"/>
              </a:rPr>
              <a:t>	Provides information about the environment in which the application is running, including system properties, environment variables, and configuration details.</a:t>
            </a:r>
            <a:endParaRPr sz="1100">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txBox="1"/>
          <p:nvPr>
            <p:ph idx="1" type="body"/>
          </p:nvPr>
        </p:nvSpPr>
        <p:spPr>
          <a:xfrm>
            <a:off x="819150" y="425900"/>
            <a:ext cx="7505700" cy="4259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Font typeface="Nunito"/>
              <a:buChar char="●"/>
            </a:pPr>
            <a:r>
              <a:rPr b="1" lang="en" sz="1100">
                <a:latin typeface="Nunito"/>
                <a:ea typeface="Nunito"/>
                <a:cs typeface="Nunito"/>
                <a:sym typeface="Nunito"/>
              </a:rPr>
              <a:t>Thread dump information: </a:t>
            </a:r>
            <a:br>
              <a:rPr lang="en" sz="1100">
                <a:latin typeface="Nunito"/>
                <a:ea typeface="Nunito"/>
                <a:cs typeface="Nunito"/>
                <a:sym typeface="Nunito"/>
              </a:rPr>
            </a:br>
            <a:r>
              <a:rPr lang="en" sz="1100">
                <a:latin typeface="Nunito"/>
                <a:ea typeface="Nunito"/>
                <a:cs typeface="Nunito"/>
                <a:sym typeface="Nunito"/>
              </a:rPr>
              <a:t>	Provides a detailed view of the current state of threads in the application, which can be useful for identifying performance bottlenecks.</a:t>
            </a:r>
            <a:br>
              <a:rPr lang="en" sz="1100">
                <a:latin typeface="Nunito"/>
                <a:ea typeface="Nunito"/>
                <a:cs typeface="Nunito"/>
                <a:sym typeface="Nunito"/>
              </a:rPr>
            </a:br>
            <a:endParaRPr sz="1100">
              <a:latin typeface="Nunito"/>
              <a:ea typeface="Nunito"/>
              <a:cs typeface="Nunito"/>
              <a:sym typeface="Nunito"/>
            </a:endParaRPr>
          </a:p>
          <a:p>
            <a:pPr indent="-298450" lvl="0" marL="457200" rtl="0" algn="l">
              <a:spcBef>
                <a:spcPts val="0"/>
              </a:spcBef>
              <a:spcAft>
                <a:spcPts val="0"/>
              </a:spcAft>
              <a:buSzPts val="1100"/>
              <a:buFont typeface="Nunito"/>
              <a:buChar char="●"/>
            </a:pPr>
            <a:r>
              <a:rPr b="1" lang="en" sz="1100">
                <a:latin typeface="Nunito"/>
                <a:ea typeface="Nunito"/>
                <a:cs typeface="Nunito"/>
                <a:sym typeface="Nunito"/>
              </a:rPr>
              <a:t>Endpoint security: </a:t>
            </a:r>
            <a:br>
              <a:rPr lang="en" sz="1100">
                <a:latin typeface="Nunito"/>
                <a:ea typeface="Nunito"/>
                <a:cs typeface="Nunito"/>
                <a:sym typeface="Nunito"/>
              </a:rPr>
            </a:br>
            <a:r>
              <a:rPr lang="en" sz="1100">
                <a:latin typeface="Nunito"/>
                <a:ea typeface="Nunito"/>
                <a:cs typeface="Nunito"/>
                <a:sym typeface="Nunito"/>
              </a:rPr>
              <a:t>	Allows you to secure the endpoints exposed by Spring Actuator, preventing unauthorized access to sensitive information.</a:t>
            </a:r>
            <a:br>
              <a:rPr lang="en" sz="1100">
                <a:latin typeface="Nunito"/>
                <a:ea typeface="Nunito"/>
                <a:cs typeface="Nunito"/>
                <a:sym typeface="Nunito"/>
              </a:rPr>
            </a:br>
            <a:endParaRPr sz="1100">
              <a:latin typeface="Nunito"/>
              <a:ea typeface="Nunito"/>
              <a:cs typeface="Nunito"/>
              <a:sym typeface="Nunito"/>
            </a:endParaRPr>
          </a:p>
          <a:p>
            <a:pPr indent="0" lvl="0" marL="0" rtl="0" algn="l">
              <a:spcBef>
                <a:spcPts val="1200"/>
              </a:spcBef>
              <a:spcAft>
                <a:spcPts val="1200"/>
              </a:spcAft>
              <a:buNone/>
            </a:pPr>
            <a:r>
              <a:rPr b="1" lang="en" sz="1400">
                <a:latin typeface="Nunito"/>
                <a:ea typeface="Nunito"/>
                <a:cs typeface="Nunito"/>
                <a:sym typeface="Nunito"/>
              </a:rPr>
              <a:t>The recommended way to gracefully </a:t>
            </a:r>
            <a:r>
              <a:rPr b="1" lang="en" sz="1400">
                <a:solidFill>
                  <a:srgbClr val="EF4444"/>
                </a:solidFill>
                <a:latin typeface="Nunito"/>
                <a:ea typeface="Nunito"/>
                <a:cs typeface="Nunito"/>
                <a:sym typeface="Nunito"/>
              </a:rPr>
              <a:t>shutdown</a:t>
            </a:r>
            <a:r>
              <a:rPr b="1" lang="en" sz="1400">
                <a:latin typeface="Nunito"/>
                <a:ea typeface="Nunito"/>
                <a:cs typeface="Nunito"/>
                <a:sym typeface="Nunito"/>
              </a:rPr>
              <a:t> a Spring Boot application is by using the Actuator endpoint </a:t>
            </a:r>
            <a:r>
              <a:rPr b="1" lang="en" sz="1400">
                <a:solidFill>
                  <a:srgbClr val="EF4444"/>
                </a:solidFill>
                <a:latin typeface="Nunito"/>
                <a:ea typeface="Nunito"/>
                <a:cs typeface="Nunito"/>
                <a:sym typeface="Nunito"/>
              </a:rPr>
              <a:t>/actuator/shutdown.</a:t>
            </a:r>
            <a:br>
              <a:rPr lang="en" sz="1400">
                <a:latin typeface="Nunito"/>
                <a:ea typeface="Nunito"/>
                <a:cs typeface="Nunito"/>
                <a:sym typeface="Nunito"/>
              </a:rPr>
            </a:br>
            <a:br>
              <a:rPr lang="en" sz="1400">
                <a:latin typeface="Nunito"/>
                <a:ea typeface="Nunito"/>
                <a:cs typeface="Nunito"/>
                <a:sym typeface="Nunito"/>
              </a:rPr>
            </a:br>
            <a:r>
              <a:rPr lang="en" sz="1500">
                <a:latin typeface="Nunito"/>
                <a:ea typeface="Nunito"/>
                <a:cs typeface="Nunito"/>
                <a:sym typeface="Nunito"/>
              </a:rPr>
              <a:t>However, the </a:t>
            </a:r>
            <a:r>
              <a:rPr b="1" lang="en" sz="1500">
                <a:latin typeface="Nunito"/>
                <a:ea typeface="Nunito"/>
                <a:cs typeface="Nunito"/>
                <a:sym typeface="Nunito"/>
              </a:rPr>
              <a:t>/actuator/shutdown</a:t>
            </a:r>
            <a:r>
              <a:rPr lang="en" sz="1500">
                <a:latin typeface="Nunito"/>
                <a:ea typeface="Nunito"/>
                <a:cs typeface="Nunito"/>
                <a:sym typeface="Nunito"/>
              </a:rPr>
              <a:t> endpoint is not enabled by default for security reasons, and needs to be explicitly enabled by setting the </a:t>
            </a:r>
            <a:r>
              <a:rPr b="1" lang="en" sz="1500">
                <a:latin typeface="Nunito"/>
                <a:ea typeface="Nunito"/>
                <a:cs typeface="Nunito"/>
                <a:sym typeface="Nunito"/>
              </a:rPr>
              <a:t>management.endpoint.shutdown.enabled</a:t>
            </a:r>
            <a:r>
              <a:rPr lang="en" sz="1500">
                <a:latin typeface="Nunito"/>
                <a:ea typeface="Nunito"/>
                <a:cs typeface="Nunito"/>
                <a:sym typeface="Nunito"/>
              </a:rPr>
              <a:t> property to true in the </a:t>
            </a:r>
            <a:r>
              <a:rPr b="1" lang="en" sz="1500">
                <a:latin typeface="Nunito"/>
                <a:ea typeface="Nunito"/>
                <a:cs typeface="Nunito"/>
                <a:sym typeface="Nunito"/>
              </a:rPr>
              <a:t>application.properties</a:t>
            </a:r>
            <a:r>
              <a:rPr lang="en" sz="1500">
                <a:latin typeface="Nunito"/>
                <a:ea typeface="Nunito"/>
                <a:cs typeface="Nunito"/>
                <a:sym typeface="Nunito"/>
              </a:rPr>
              <a:t> file or as a system property.</a:t>
            </a:r>
            <a:endParaRPr sz="1400">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Caching in Spring Boot?</a:t>
            </a:r>
            <a:endParaRPr/>
          </a:p>
        </p:txBody>
      </p:sp>
      <p:sp>
        <p:nvSpPr>
          <p:cNvPr id="280" name="Google Shape;280;p3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500"/>
              </a:spcAft>
              <a:buNone/>
            </a:pPr>
            <a:r>
              <a:rPr b="1" lang="en" sz="1800">
                <a:solidFill>
                  <a:srgbClr val="374151"/>
                </a:solidFill>
                <a:highlight>
                  <a:srgbClr val="F7F7F8"/>
                </a:highlight>
                <a:latin typeface="Nunito"/>
                <a:ea typeface="Nunito"/>
                <a:cs typeface="Nunito"/>
                <a:sym typeface="Nunito"/>
              </a:rPr>
              <a:t>Spring Boot provides support for caching using several cache providers such as Ehcache, Hazelcast, Infinispan, Redis, and others. </a:t>
            </a:r>
            <a:br>
              <a:rPr lang="en" sz="1800">
                <a:solidFill>
                  <a:srgbClr val="374151"/>
                </a:solidFill>
                <a:highlight>
                  <a:srgbClr val="F7F7F8"/>
                </a:highlight>
                <a:latin typeface="Nunito"/>
                <a:ea typeface="Nunito"/>
                <a:cs typeface="Nunito"/>
                <a:sym typeface="Nunito"/>
              </a:rPr>
            </a:br>
            <a:br>
              <a:rPr lang="en" sz="1800">
                <a:solidFill>
                  <a:srgbClr val="374151"/>
                </a:solidFill>
                <a:highlight>
                  <a:srgbClr val="F7F7F8"/>
                </a:highlight>
                <a:latin typeface="Nunito"/>
                <a:ea typeface="Nunito"/>
                <a:cs typeface="Nunito"/>
                <a:sym typeface="Nunito"/>
              </a:rPr>
            </a:br>
            <a:r>
              <a:rPr lang="en" sz="1800">
                <a:solidFill>
                  <a:srgbClr val="374151"/>
                </a:solidFill>
                <a:highlight>
                  <a:srgbClr val="F7F7F8"/>
                </a:highlight>
                <a:latin typeface="Nunito"/>
                <a:ea typeface="Nunito"/>
                <a:cs typeface="Nunito"/>
                <a:sym typeface="Nunito"/>
              </a:rPr>
              <a:t>Caching can be used to improve application performance by reducing the amount of time it takes to fetch data from a database or external system.</a:t>
            </a:r>
            <a:endParaRPr sz="1800">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Caching </a:t>
            </a:r>
            <a:r>
              <a:rPr lang="en"/>
              <a:t>Implementation</a:t>
            </a:r>
            <a:endParaRPr/>
          </a:p>
        </p:txBody>
      </p:sp>
      <p:sp>
        <p:nvSpPr>
          <p:cNvPr id="286" name="Google Shape;286;p3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Add the </a:t>
            </a:r>
            <a:r>
              <a:rPr lang="en">
                <a:solidFill>
                  <a:srgbClr val="EF4444"/>
                </a:solidFill>
              </a:rPr>
              <a:t>spring-boot-starter-cache</a:t>
            </a:r>
            <a:r>
              <a:rPr lang="en"/>
              <a:t> cache dependency in your pom.xml file</a:t>
            </a:r>
            <a:endParaRPr/>
          </a:p>
          <a:p>
            <a:pPr indent="-304800" lvl="0" marL="457200" rtl="0" algn="l">
              <a:spcBef>
                <a:spcPts val="0"/>
              </a:spcBef>
              <a:spcAft>
                <a:spcPts val="0"/>
              </a:spcAft>
              <a:buClr>
                <a:srgbClr val="374151"/>
              </a:buClr>
              <a:buSzPts val="1200"/>
              <a:buFont typeface="Roboto"/>
              <a:buChar char="●"/>
            </a:pPr>
            <a:r>
              <a:rPr lang="en" sz="1200">
                <a:solidFill>
                  <a:srgbClr val="374151"/>
                </a:solidFill>
                <a:highlight>
                  <a:srgbClr val="F7F7F8"/>
                </a:highlight>
                <a:latin typeface="Roboto"/>
                <a:ea typeface="Roboto"/>
                <a:cs typeface="Roboto"/>
                <a:sym typeface="Roboto"/>
              </a:rPr>
              <a:t>Enable caching in the application by adding the </a:t>
            </a:r>
            <a:r>
              <a:rPr lang="en" sz="1200">
                <a:solidFill>
                  <a:srgbClr val="EF4444"/>
                </a:solidFill>
                <a:highlight>
                  <a:srgbClr val="F7F7F8"/>
                </a:highlight>
                <a:latin typeface="Roboto"/>
                <a:ea typeface="Roboto"/>
                <a:cs typeface="Roboto"/>
                <a:sym typeface="Roboto"/>
              </a:rPr>
              <a:t>@EnableCaching</a:t>
            </a:r>
            <a:r>
              <a:rPr lang="en" sz="1200">
                <a:solidFill>
                  <a:srgbClr val="374151"/>
                </a:solidFill>
                <a:highlight>
                  <a:srgbClr val="F7F7F8"/>
                </a:highlight>
                <a:latin typeface="Roboto"/>
                <a:ea typeface="Roboto"/>
                <a:cs typeface="Roboto"/>
                <a:sym typeface="Roboto"/>
              </a:rPr>
              <a:t> annotation to the main Spring Boot class.</a:t>
            </a:r>
            <a:endParaRPr sz="1200">
              <a:solidFill>
                <a:srgbClr val="374151"/>
              </a:solidFill>
              <a:highlight>
                <a:srgbClr val="F7F7F8"/>
              </a:highlight>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highlight>
                  <a:srgbClr val="F7F7F8"/>
                </a:highlight>
                <a:latin typeface="Roboto"/>
                <a:ea typeface="Roboto"/>
                <a:cs typeface="Roboto"/>
                <a:sym typeface="Roboto"/>
              </a:rPr>
              <a:t>Add the cache configuration in the application properties file</a:t>
            </a:r>
            <a:br>
              <a:rPr lang="en" sz="1200">
                <a:solidFill>
                  <a:srgbClr val="374151"/>
                </a:solidFill>
                <a:highlight>
                  <a:srgbClr val="F7F7F8"/>
                </a:highlight>
                <a:latin typeface="Roboto"/>
                <a:ea typeface="Roboto"/>
                <a:cs typeface="Roboto"/>
                <a:sym typeface="Roboto"/>
              </a:rPr>
            </a:br>
            <a:r>
              <a:rPr lang="en" sz="1200">
                <a:solidFill>
                  <a:srgbClr val="374151"/>
                </a:solidFill>
                <a:highlight>
                  <a:srgbClr val="F7F7F8"/>
                </a:highlight>
                <a:latin typeface="Roboto"/>
                <a:ea typeface="Roboto"/>
                <a:cs typeface="Roboto"/>
                <a:sym typeface="Roboto"/>
              </a:rPr>
              <a:t>	</a:t>
            </a:r>
            <a:r>
              <a:rPr lang="en" sz="1200">
                <a:solidFill>
                  <a:srgbClr val="EF4444"/>
                </a:solidFill>
                <a:highlight>
                  <a:srgbClr val="F7F7F8"/>
                </a:highlight>
                <a:latin typeface="Roboto"/>
                <a:ea typeface="Roboto"/>
                <a:cs typeface="Roboto"/>
                <a:sym typeface="Roboto"/>
              </a:rPr>
              <a:t>spring.cache.type=ehcache</a:t>
            </a:r>
            <a:endParaRPr sz="1200">
              <a:solidFill>
                <a:srgbClr val="EF4444"/>
              </a:solidFill>
              <a:highlight>
                <a:srgbClr val="F7F7F8"/>
              </a:highlight>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highlight>
                  <a:srgbClr val="F7F7F8"/>
                </a:highlight>
                <a:latin typeface="Roboto"/>
                <a:ea typeface="Roboto"/>
                <a:cs typeface="Roboto"/>
                <a:sym typeface="Roboto"/>
              </a:rPr>
              <a:t>Annotate the methods that need to be cached with </a:t>
            </a:r>
            <a:r>
              <a:rPr lang="en" sz="1200">
                <a:solidFill>
                  <a:srgbClr val="FF0000"/>
                </a:solidFill>
                <a:highlight>
                  <a:srgbClr val="F7F7F8"/>
                </a:highlight>
                <a:latin typeface="Roboto"/>
                <a:ea typeface="Roboto"/>
                <a:cs typeface="Roboto"/>
                <a:sym typeface="Roboto"/>
              </a:rPr>
              <a:t>@Cacheable</a:t>
            </a:r>
            <a:r>
              <a:rPr lang="en" sz="1200">
                <a:solidFill>
                  <a:srgbClr val="374151"/>
                </a:solidFill>
                <a:highlight>
                  <a:srgbClr val="F7F7F8"/>
                </a:highlight>
                <a:latin typeface="Roboto"/>
                <a:ea typeface="Roboto"/>
                <a:cs typeface="Roboto"/>
                <a:sym typeface="Roboto"/>
              </a:rPr>
              <a:t>. This annotation specifies the caching behavior and also defines the cache </a:t>
            </a:r>
            <a:r>
              <a:rPr lang="en" sz="1200">
                <a:solidFill>
                  <a:srgbClr val="EF4444"/>
                </a:solidFill>
                <a:highlight>
                  <a:srgbClr val="F7F7F8"/>
                </a:highlight>
                <a:latin typeface="Roboto"/>
                <a:ea typeface="Roboto"/>
                <a:cs typeface="Roboto"/>
                <a:sym typeface="Roboto"/>
              </a:rPr>
              <a:t>name and key</a:t>
            </a:r>
            <a:r>
              <a:rPr lang="en" sz="1200">
                <a:solidFill>
                  <a:srgbClr val="374151"/>
                </a:solidFill>
                <a:highlight>
                  <a:srgbClr val="F7F7F8"/>
                </a:highlight>
                <a:latin typeface="Roboto"/>
                <a:ea typeface="Roboto"/>
                <a:cs typeface="Roboto"/>
                <a:sym typeface="Roboto"/>
              </a:rPr>
              <a:t>.</a:t>
            </a:r>
            <a:endParaRPr sz="1200">
              <a:solidFill>
                <a:srgbClr val="374151"/>
              </a:solidFill>
              <a:highlight>
                <a:srgbClr val="F7F7F8"/>
              </a:highlight>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Spring Boot Features</a:t>
            </a:r>
            <a:endParaRPr/>
          </a:p>
        </p:txBody>
      </p:sp>
      <p:sp>
        <p:nvSpPr>
          <p:cNvPr id="292" name="Google Shape;292;p3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Font typeface="Nunito"/>
              <a:buChar char="●"/>
            </a:pPr>
            <a:r>
              <a:rPr lang="en" sz="2400">
                <a:solidFill>
                  <a:srgbClr val="000000"/>
                </a:solidFill>
                <a:latin typeface="Nunito"/>
                <a:ea typeface="Nunito"/>
                <a:cs typeface="Nunito"/>
                <a:sym typeface="Nunito"/>
              </a:rPr>
              <a:t>Embedded Tomcat</a:t>
            </a:r>
            <a:endParaRPr sz="2400">
              <a:solidFill>
                <a:srgbClr val="000000"/>
              </a:solidFill>
              <a:latin typeface="Nunito"/>
              <a:ea typeface="Nunito"/>
              <a:cs typeface="Nunito"/>
              <a:sym typeface="Nunito"/>
            </a:endParaRPr>
          </a:p>
          <a:p>
            <a:pPr indent="-381000" lvl="0" marL="457200" rtl="0" algn="l">
              <a:spcBef>
                <a:spcPts val="0"/>
              </a:spcBef>
              <a:spcAft>
                <a:spcPts val="0"/>
              </a:spcAft>
              <a:buSzPts val="2400"/>
              <a:buFont typeface="Nunito"/>
              <a:buChar char="●"/>
            </a:pPr>
            <a:r>
              <a:rPr lang="en" sz="2400">
                <a:solidFill>
                  <a:srgbClr val="000000"/>
                </a:solidFill>
                <a:latin typeface="Nunito"/>
                <a:ea typeface="Nunito"/>
                <a:cs typeface="Nunito"/>
                <a:sym typeface="Nunito"/>
              </a:rPr>
              <a:t>Caching</a:t>
            </a:r>
            <a:endParaRPr sz="2400">
              <a:solidFill>
                <a:srgbClr val="000000"/>
              </a:solidFill>
              <a:latin typeface="Nunito"/>
              <a:ea typeface="Nunito"/>
              <a:cs typeface="Nunito"/>
              <a:sym typeface="Nunito"/>
            </a:endParaRPr>
          </a:p>
          <a:p>
            <a:pPr indent="-381000" lvl="0" marL="457200" rtl="0" algn="l">
              <a:spcBef>
                <a:spcPts val="0"/>
              </a:spcBef>
              <a:spcAft>
                <a:spcPts val="0"/>
              </a:spcAft>
              <a:buSzPts val="2400"/>
              <a:buFont typeface="Nunito"/>
              <a:buChar char="●"/>
            </a:pPr>
            <a:r>
              <a:rPr lang="en" sz="2400">
                <a:solidFill>
                  <a:srgbClr val="000000"/>
                </a:solidFill>
                <a:latin typeface="Nunito"/>
                <a:ea typeface="Nunito"/>
                <a:cs typeface="Nunito"/>
                <a:sym typeface="Nunito"/>
              </a:rPr>
              <a:t>Security</a:t>
            </a:r>
            <a:endParaRPr sz="2400">
              <a:solidFill>
                <a:srgbClr val="000000"/>
              </a:solidFill>
              <a:latin typeface="Nunito"/>
              <a:ea typeface="Nunito"/>
              <a:cs typeface="Nunito"/>
              <a:sym typeface="Nunito"/>
            </a:endParaRPr>
          </a:p>
          <a:p>
            <a:pPr indent="-381000" lvl="0" marL="457200" rtl="0" algn="l">
              <a:spcBef>
                <a:spcPts val="0"/>
              </a:spcBef>
              <a:spcAft>
                <a:spcPts val="0"/>
              </a:spcAft>
              <a:buSzPts val="2400"/>
              <a:buFont typeface="Nunito"/>
              <a:buChar char="●"/>
            </a:pPr>
            <a:r>
              <a:rPr lang="en" sz="2400">
                <a:solidFill>
                  <a:srgbClr val="000000"/>
                </a:solidFill>
                <a:latin typeface="Nunito"/>
                <a:ea typeface="Nunito"/>
                <a:cs typeface="Nunito"/>
                <a:sym typeface="Nunito"/>
              </a:rPr>
              <a:t>Logging</a:t>
            </a:r>
            <a:endParaRPr sz="2400">
              <a:solidFill>
                <a:srgbClr val="000000"/>
              </a:solidFill>
              <a:latin typeface="Nunito"/>
              <a:ea typeface="Nunito"/>
              <a:cs typeface="Nunito"/>
              <a:sym typeface="Nunito"/>
            </a:endParaRPr>
          </a:p>
          <a:p>
            <a:pPr indent="-381000" lvl="0" marL="457200" rtl="0" algn="l">
              <a:spcBef>
                <a:spcPts val="0"/>
              </a:spcBef>
              <a:spcAft>
                <a:spcPts val="0"/>
              </a:spcAft>
              <a:buSzPts val="2400"/>
              <a:buFont typeface="Nunito"/>
              <a:buChar char="●"/>
            </a:pPr>
            <a:r>
              <a:rPr lang="en" sz="2400">
                <a:solidFill>
                  <a:srgbClr val="000000"/>
                </a:solidFill>
                <a:latin typeface="Nunito"/>
                <a:ea typeface="Nunito"/>
                <a:cs typeface="Nunito"/>
                <a:sym typeface="Nunito"/>
              </a:rPr>
              <a:t>Testing</a:t>
            </a:r>
            <a:endParaRPr sz="2400">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t>
            </a:r>
            <a:r>
              <a:rPr lang="en"/>
              <a:t>tarter dependency of the Spring boot module</a:t>
            </a:r>
            <a:endParaRPr/>
          </a:p>
        </p:txBody>
      </p:sp>
      <p:sp>
        <p:nvSpPr>
          <p:cNvPr id="298" name="Google Shape;298;p4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Font typeface="Nunito"/>
              <a:buChar char="●"/>
            </a:pPr>
            <a:r>
              <a:rPr lang="en" sz="2400">
                <a:solidFill>
                  <a:srgbClr val="000000"/>
                </a:solidFill>
                <a:latin typeface="Nunito"/>
                <a:ea typeface="Nunito"/>
                <a:cs typeface="Nunito"/>
                <a:sym typeface="Nunito"/>
              </a:rPr>
              <a:t>Data JPA starter.</a:t>
            </a:r>
            <a:endParaRPr sz="2400">
              <a:solidFill>
                <a:srgbClr val="000000"/>
              </a:solidFill>
              <a:latin typeface="Nunito"/>
              <a:ea typeface="Nunito"/>
              <a:cs typeface="Nunito"/>
              <a:sym typeface="Nunito"/>
            </a:endParaRPr>
          </a:p>
          <a:p>
            <a:pPr indent="-381000" lvl="0" marL="457200" rtl="0" algn="l">
              <a:spcBef>
                <a:spcPts val="0"/>
              </a:spcBef>
              <a:spcAft>
                <a:spcPts val="0"/>
              </a:spcAft>
              <a:buClr>
                <a:srgbClr val="000000"/>
              </a:buClr>
              <a:buSzPts val="2400"/>
              <a:buFont typeface="Nunito"/>
              <a:buChar char="●"/>
            </a:pPr>
            <a:r>
              <a:rPr lang="en" sz="2400">
                <a:solidFill>
                  <a:srgbClr val="000000"/>
                </a:solidFill>
                <a:latin typeface="Nunito"/>
                <a:ea typeface="Nunito"/>
                <a:cs typeface="Nunito"/>
                <a:sym typeface="Nunito"/>
              </a:rPr>
              <a:t>Test Starter.</a:t>
            </a:r>
            <a:endParaRPr sz="2400">
              <a:solidFill>
                <a:srgbClr val="000000"/>
              </a:solidFill>
              <a:latin typeface="Nunito"/>
              <a:ea typeface="Nunito"/>
              <a:cs typeface="Nunito"/>
              <a:sym typeface="Nunito"/>
            </a:endParaRPr>
          </a:p>
          <a:p>
            <a:pPr indent="-381000" lvl="0" marL="457200" rtl="0" algn="l">
              <a:spcBef>
                <a:spcPts val="0"/>
              </a:spcBef>
              <a:spcAft>
                <a:spcPts val="0"/>
              </a:spcAft>
              <a:buClr>
                <a:srgbClr val="000000"/>
              </a:buClr>
              <a:buSzPts val="2400"/>
              <a:buFont typeface="Nunito"/>
              <a:buChar char="●"/>
            </a:pPr>
            <a:r>
              <a:rPr lang="en" sz="2400">
                <a:solidFill>
                  <a:srgbClr val="000000"/>
                </a:solidFill>
                <a:latin typeface="Nunito"/>
                <a:ea typeface="Nunito"/>
                <a:cs typeface="Nunito"/>
                <a:sym typeface="Nunito"/>
              </a:rPr>
              <a:t>Security starter.</a:t>
            </a:r>
            <a:endParaRPr sz="2400">
              <a:solidFill>
                <a:srgbClr val="000000"/>
              </a:solidFill>
              <a:latin typeface="Nunito"/>
              <a:ea typeface="Nunito"/>
              <a:cs typeface="Nunito"/>
              <a:sym typeface="Nunito"/>
            </a:endParaRPr>
          </a:p>
          <a:p>
            <a:pPr indent="-381000" lvl="0" marL="457200" rtl="0" algn="l">
              <a:spcBef>
                <a:spcPts val="0"/>
              </a:spcBef>
              <a:spcAft>
                <a:spcPts val="0"/>
              </a:spcAft>
              <a:buClr>
                <a:srgbClr val="000000"/>
              </a:buClr>
              <a:buSzPts val="2400"/>
              <a:buFont typeface="Nunito"/>
              <a:buChar char="●"/>
            </a:pPr>
            <a:r>
              <a:rPr lang="en" sz="2400">
                <a:solidFill>
                  <a:srgbClr val="000000"/>
                </a:solidFill>
                <a:latin typeface="Nunito"/>
                <a:ea typeface="Nunito"/>
                <a:cs typeface="Nunito"/>
                <a:sym typeface="Nunito"/>
              </a:rPr>
              <a:t>Web starter.</a:t>
            </a:r>
            <a:endParaRPr sz="2400">
              <a:solidFill>
                <a:srgbClr val="000000"/>
              </a:solidFill>
              <a:latin typeface="Nunito"/>
              <a:ea typeface="Nunito"/>
              <a:cs typeface="Nunito"/>
              <a:sym typeface="Nunito"/>
            </a:endParaRPr>
          </a:p>
          <a:p>
            <a:pPr indent="-381000" lvl="0" marL="457200" rtl="0" algn="l">
              <a:spcBef>
                <a:spcPts val="0"/>
              </a:spcBef>
              <a:spcAft>
                <a:spcPts val="0"/>
              </a:spcAft>
              <a:buClr>
                <a:srgbClr val="000000"/>
              </a:buClr>
              <a:buSzPts val="2400"/>
              <a:buFont typeface="Nunito"/>
              <a:buChar char="●"/>
            </a:pPr>
            <a:r>
              <a:rPr lang="en" sz="2400">
                <a:solidFill>
                  <a:srgbClr val="000000"/>
                </a:solidFill>
                <a:latin typeface="Nunito"/>
                <a:ea typeface="Nunito"/>
                <a:cs typeface="Nunito"/>
                <a:sym typeface="Nunito"/>
              </a:rPr>
              <a:t>Mail starter.</a:t>
            </a:r>
            <a:endParaRPr sz="2400">
              <a:solidFill>
                <a:srgbClr val="000000"/>
              </a:solidFill>
              <a:latin typeface="Nunito"/>
              <a:ea typeface="Nunito"/>
              <a:cs typeface="Nunito"/>
              <a:sym typeface="Nunito"/>
            </a:endParaRPr>
          </a:p>
          <a:p>
            <a:pPr indent="-381000" lvl="0" marL="457200" rtl="0" algn="l">
              <a:spcBef>
                <a:spcPts val="0"/>
              </a:spcBef>
              <a:spcAft>
                <a:spcPts val="0"/>
              </a:spcAft>
              <a:buClr>
                <a:srgbClr val="000000"/>
              </a:buClr>
              <a:buSzPts val="2400"/>
              <a:buFont typeface="Nunito"/>
              <a:buChar char="●"/>
            </a:pPr>
            <a:r>
              <a:rPr lang="en" sz="2400">
                <a:solidFill>
                  <a:srgbClr val="000000"/>
                </a:solidFill>
                <a:latin typeface="Nunito"/>
                <a:ea typeface="Nunito"/>
                <a:cs typeface="Nunito"/>
                <a:sym typeface="Nunito"/>
              </a:rPr>
              <a:t>Thymeleaf starter.</a:t>
            </a:r>
            <a:endParaRPr sz="2400">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does Spring Boot works</a:t>
            </a:r>
            <a:endParaRPr/>
          </a:p>
        </p:txBody>
      </p:sp>
      <p:sp>
        <p:nvSpPr>
          <p:cNvPr id="304" name="Google Shape;304;p4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000000"/>
                </a:solidFill>
                <a:latin typeface="Nunito"/>
                <a:ea typeface="Nunito"/>
                <a:cs typeface="Nunito"/>
                <a:sym typeface="Nunito"/>
              </a:rPr>
              <a:t>Spring Boot automatically configures your application based on the dependencies you have added to the project by using annotation. The entry point of the spring boot application is the class that contains </a:t>
            </a:r>
            <a:r>
              <a:rPr lang="en" sz="1800">
                <a:solidFill>
                  <a:srgbClr val="EF4444"/>
                </a:solidFill>
                <a:latin typeface="Nunito"/>
                <a:ea typeface="Nunito"/>
                <a:cs typeface="Nunito"/>
                <a:sym typeface="Nunito"/>
              </a:rPr>
              <a:t>@SpringBootApplication</a:t>
            </a:r>
            <a:r>
              <a:rPr lang="en" sz="1800">
                <a:solidFill>
                  <a:srgbClr val="000000"/>
                </a:solidFill>
                <a:latin typeface="Nunito"/>
                <a:ea typeface="Nunito"/>
                <a:cs typeface="Nunito"/>
                <a:sym typeface="Nunito"/>
              </a:rPr>
              <a:t> annotation and the main method.</a:t>
            </a:r>
            <a:endParaRPr sz="1800">
              <a:solidFill>
                <a:srgbClr val="000000"/>
              </a:solidFill>
              <a:latin typeface="Nunito"/>
              <a:ea typeface="Nunito"/>
              <a:cs typeface="Nunito"/>
              <a:sym typeface="Nunito"/>
            </a:endParaRPr>
          </a:p>
          <a:p>
            <a:pPr indent="0" lvl="0" marL="0" rtl="0" algn="l">
              <a:spcBef>
                <a:spcPts val="1200"/>
              </a:spcBef>
              <a:spcAft>
                <a:spcPts val="1200"/>
              </a:spcAft>
              <a:buNone/>
            </a:pPr>
            <a:r>
              <a:rPr lang="en" sz="1800">
                <a:solidFill>
                  <a:srgbClr val="000000"/>
                </a:solidFill>
                <a:latin typeface="Nunito"/>
                <a:ea typeface="Nunito"/>
                <a:cs typeface="Nunito"/>
                <a:sym typeface="Nunito"/>
              </a:rPr>
              <a:t>Spring Boot automatically scans all the components included in the project by using </a:t>
            </a:r>
            <a:r>
              <a:rPr lang="en" sz="1800">
                <a:solidFill>
                  <a:srgbClr val="EF4444"/>
                </a:solidFill>
                <a:latin typeface="Nunito"/>
                <a:ea typeface="Nunito"/>
                <a:cs typeface="Nunito"/>
                <a:sym typeface="Nunito"/>
              </a:rPr>
              <a:t>@ComponentScan</a:t>
            </a:r>
            <a:r>
              <a:rPr lang="en" sz="1800">
                <a:solidFill>
                  <a:srgbClr val="000000"/>
                </a:solidFill>
                <a:latin typeface="Nunito"/>
                <a:ea typeface="Nunito"/>
                <a:cs typeface="Nunito"/>
                <a:sym typeface="Nunito"/>
              </a:rPr>
              <a:t> annotation.</a:t>
            </a:r>
            <a:endParaRPr sz="1800">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the @SpringBootApplication annotation do internally</a:t>
            </a:r>
            <a:endParaRPr/>
          </a:p>
        </p:txBody>
      </p:sp>
      <p:sp>
        <p:nvSpPr>
          <p:cNvPr id="310" name="Google Shape;310;p4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The </a:t>
            </a:r>
            <a:r>
              <a:rPr lang="en" sz="2400">
                <a:solidFill>
                  <a:srgbClr val="EF4444"/>
                </a:solidFill>
                <a:latin typeface="Nunito"/>
                <a:ea typeface="Nunito"/>
                <a:cs typeface="Nunito"/>
                <a:sym typeface="Nunito"/>
              </a:rPr>
              <a:t>@SpringBootApplication</a:t>
            </a:r>
            <a:r>
              <a:rPr lang="en" sz="2400">
                <a:solidFill>
                  <a:srgbClr val="000000"/>
                </a:solidFill>
                <a:latin typeface="Nunito"/>
                <a:ea typeface="Nunito"/>
                <a:cs typeface="Nunito"/>
                <a:sym typeface="Nunito"/>
              </a:rPr>
              <a:t> annotation is equivalent to using </a:t>
            </a:r>
            <a:r>
              <a:rPr lang="en" sz="2400">
                <a:solidFill>
                  <a:srgbClr val="FF0000"/>
                </a:solidFill>
                <a:latin typeface="Nunito"/>
                <a:ea typeface="Nunito"/>
                <a:cs typeface="Nunito"/>
                <a:sym typeface="Nunito"/>
              </a:rPr>
              <a:t>@Configuration, @EnableAutoConfiguration, and @ComponentScan</a:t>
            </a:r>
            <a:r>
              <a:rPr lang="en" sz="2400">
                <a:solidFill>
                  <a:srgbClr val="000000"/>
                </a:solidFill>
                <a:latin typeface="Nunito"/>
                <a:ea typeface="Nunito"/>
                <a:cs typeface="Nunito"/>
                <a:sym typeface="Nunito"/>
              </a:rPr>
              <a:t> with their default attributes</a:t>
            </a:r>
            <a:endParaRPr sz="2400">
              <a:latin typeface="Nunito"/>
              <a:ea typeface="Nunito"/>
              <a:cs typeface="Nunito"/>
              <a:sym typeface="Nuni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are starter dependencies?</a:t>
            </a:r>
            <a:endParaRPr/>
          </a:p>
        </p:txBody>
      </p:sp>
      <p:sp>
        <p:nvSpPr>
          <p:cNvPr id="316" name="Google Shape;316;p4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000000"/>
                </a:solidFill>
                <a:highlight>
                  <a:srgbClr val="FFFFFF"/>
                </a:highlight>
                <a:latin typeface="Nunito"/>
                <a:ea typeface="Nunito"/>
                <a:cs typeface="Nunito"/>
                <a:sym typeface="Nunito"/>
              </a:rPr>
              <a:t>Spring boot starter is a maven template that contains a collection of all the relevant transitive dependencies that are needed to start a particular functionality.</a:t>
            </a:r>
            <a:endParaRPr sz="1200">
              <a:solidFill>
                <a:srgbClr val="000000"/>
              </a:solidFill>
              <a:highlight>
                <a:srgbClr val="FFFFFF"/>
              </a:highlight>
              <a:latin typeface="Nunito"/>
              <a:ea typeface="Nunito"/>
              <a:cs typeface="Nunito"/>
              <a:sym typeface="Nunito"/>
            </a:endParaRPr>
          </a:p>
          <a:p>
            <a:pPr indent="0" lvl="0" marL="0" rtl="0" algn="l">
              <a:spcBef>
                <a:spcPts val="1200"/>
              </a:spcBef>
              <a:spcAft>
                <a:spcPts val="0"/>
              </a:spcAft>
              <a:buNone/>
            </a:pPr>
            <a:r>
              <a:rPr lang="en" sz="1200">
                <a:solidFill>
                  <a:srgbClr val="000000"/>
                </a:solidFill>
                <a:highlight>
                  <a:srgbClr val="FFFFFF"/>
                </a:highlight>
                <a:latin typeface="Nunito"/>
                <a:ea typeface="Nunito"/>
                <a:cs typeface="Nunito"/>
                <a:sym typeface="Nunito"/>
              </a:rPr>
              <a:t>Like we need to import spring-boot-starter-web dependency for creating a web application.</a:t>
            </a:r>
            <a:endParaRPr sz="1200">
              <a:solidFill>
                <a:srgbClr val="000000"/>
              </a:solidFill>
              <a:highlight>
                <a:srgbClr val="FFFFFF"/>
              </a:highlight>
              <a:latin typeface="Nunito"/>
              <a:ea typeface="Nunito"/>
              <a:cs typeface="Nunito"/>
              <a:sym typeface="Nunito"/>
            </a:endParaRPr>
          </a:p>
          <a:p>
            <a:pPr indent="0" lvl="0" marL="0" rtl="0" algn="l">
              <a:spcBef>
                <a:spcPts val="1200"/>
              </a:spcBef>
              <a:spcAft>
                <a:spcPts val="0"/>
              </a:spcAft>
              <a:buNone/>
            </a:pPr>
            <a:r>
              <a:rPr lang="en" sz="1200">
                <a:solidFill>
                  <a:srgbClr val="EF4444"/>
                </a:solidFill>
                <a:highlight>
                  <a:srgbClr val="FFFFFF"/>
                </a:highlight>
                <a:latin typeface="Nunito"/>
                <a:ea typeface="Nunito"/>
                <a:cs typeface="Nunito"/>
                <a:sym typeface="Nunito"/>
              </a:rPr>
              <a:t>&lt;dependency&gt;</a:t>
            </a:r>
            <a:endParaRPr sz="1200">
              <a:solidFill>
                <a:srgbClr val="EF4444"/>
              </a:solidFill>
              <a:highlight>
                <a:srgbClr val="FFFFFF"/>
              </a:highlight>
              <a:latin typeface="Nunito"/>
              <a:ea typeface="Nunito"/>
              <a:cs typeface="Nunito"/>
              <a:sym typeface="Nunito"/>
            </a:endParaRPr>
          </a:p>
          <a:p>
            <a:pPr indent="0" lvl="0" marL="0" rtl="0" algn="l">
              <a:spcBef>
                <a:spcPts val="1200"/>
              </a:spcBef>
              <a:spcAft>
                <a:spcPts val="0"/>
              </a:spcAft>
              <a:buNone/>
            </a:pPr>
            <a:r>
              <a:rPr lang="en" sz="1200">
                <a:solidFill>
                  <a:srgbClr val="EF4444"/>
                </a:solidFill>
                <a:highlight>
                  <a:srgbClr val="FFFFFF"/>
                </a:highlight>
                <a:latin typeface="Nunito"/>
                <a:ea typeface="Nunito"/>
                <a:cs typeface="Nunito"/>
                <a:sym typeface="Nunito"/>
              </a:rPr>
              <a:t>&lt;groupId&gt; org.springframework.boot&lt;/groupId&gt;</a:t>
            </a:r>
            <a:endParaRPr sz="1200">
              <a:solidFill>
                <a:srgbClr val="EF4444"/>
              </a:solidFill>
              <a:highlight>
                <a:srgbClr val="FFFFFF"/>
              </a:highlight>
              <a:latin typeface="Nunito"/>
              <a:ea typeface="Nunito"/>
              <a:cs typeface="Nunito"/>
              <a:sym typeface="Nunito"/>
            </a:endParaRPr>
          </a:p>
          <a:p>
            <a:pPr indent="0" lvl="0" marL="0" rtl="0" algn="l">
              <a:spcBef>
                <a:spcPts val="1200"/>
              </a:spcBef>
              <a:spcAft>
                <a:spcPts val="0"/>
              </a:spcAft>
              <a:buNone/>
            </a:pPr>
            <a:r>
              <a:rPr lang="en" sz="1200">
                <a:solidFill>
                  <a:srgbClr val="EF4444"/>
                </a:solidFill>
                <a:highlight>
                  <a:srgbClr val="FFFFFF"/>
                </a:highlight>
                <a:latin typeface="Nunito"/>
                <a:ea typeface="Nunito"/>
                <a:cs typeface="Nunito"/>
                <a:sym typeface="Nunito"/>
              </a:rPr>
              <a:t>&lt;artifactId&gt; spring-boot-starter-web &lt;/artifactId&gt;</a:t>
            </a:r>
            <a:endParaRPr sz="1200">
              <a:solidFill>
                <a:srgbClr val="EF4444"/>
              </a:solidFill>
              <a:highlight>
                <a:srgbClr val="FFFFFF"/>
              </a:highlight>
              <a:latin typeface="Nunito"/>
              <a:ea typeface="Nunito"/>
              <a:cs typeface="Nunito"/>
              <a:sym typeface="Nunito"/>
            </a:endParaRPr>
          </a:p>
          <a:p>
            <a:pPr indent="0" lvl="0" marL="0" rtl="0" algn="l">
              <a:spcBef>
                <a:spcPts val="1200"/>
              </a:spcBef>
              <a:spcAft>
                <a:spcPts val="1200"/>
              </a:spcAft>
              <a:buNone/>
            </a:pPr>
            <a:r>
              <a:rPr lang="en" sz="1200">
                <a:solidFill>
                  <a:srgbClr val="EF4444"/>
                </a:solidFill>
                <a:highlight>
                  <a:srgbClr val="FFFFFF"/>
                </a:highlight>
                <a:latin typeface="Nunito"/>
                <a:ea typeface="Nunito"/>
                <a:cs typeface="Nunito"/>
                <a:sym typeface="Nunito"/>
              </a:rPr>
              <a:t>&lt;/dependency&gt;</a:t>
            </a:r>
            <a:endParaRPr sz="1200">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we create a non-web application in Spring Boot</a:t>
            </a:r>
            <a:endParaRPr/>
          </a:p>
        </p:txBody>
      </p:sp>
      <p:sp>
        <p:nvSpPr>
          <p:cNvPr id="322" name="Google Shape;322;p4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Yes, we can create a non-web application by removing the web dependencies from the classpath along with changing the way Spring Boot creates the application context.</a:t>
            </a:r>
            <a:endParaRPr sz="2400">
              <a:latin typeface="Nunito"/>
              <a:ea typeface="Nunito"/>
              <a:cs typeface="Nunito"/>
              <a:sym typeface="Nuni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it possible to change the port of the embedded Tomcat server in Spring Boot</a:t>
            </a:r>
            <a:endParaRPr/>
          </a:p>
        </p:txBody>
      </p:sp>
      <p:sp>
        <p:nvSpPr>
          <p:cNvPr id="328" name="Google Shape;328;p4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Yes, it is possible. By using the </a:t>
            </a:r>
            <a:r>
              <a:rPr lang="en" sz="2400">
                <a:solidFill>
                  <a:srgbClr val="EF4444"/>
                </a:solidFill>
                <a:latin typeface="Nunito"/>
                <a:ea typeface="Nunito"/>
                <a:cs typeface="Nunito"/>
                <a:sym typeface="Nunito"/>
              </a:rPr>
              <a:t>server.port</a:t>
            </a:r>
            <a:r>
              <a:rPr lang="en" sz="2400">
                <a:solidFill>
                  <a:srgbClr val="000000"/>
                </a:solidFill>
                <a:latin typeface="Nunito"/>
                <a:ea typeface="Nunito"/>
                <a:cs typeface="Nunito"/>
                <a:sym typeface="Nunito"/>
              </a:rPr>
              <a:t> in the </a:t>
            </a:r>
            <a:r>
              <a:rPr lang="en" sz="2400">
                <a:solidFill>
                  <a:srgbClr val="EF4444"/>
                </a:solidFill>
                <a:latin typeface="Nunito"/>
                <a:ea typeface="Nunito"/>
                <a:cs typeface="Nunito"/>
                <a:sym typeface="Nunito"/>
              </a:rPr>
              <a:t>application.properties</a:t>
            </a:r>
            <a:r>
              <a:rPr lang="en" sz="2400">
                <a:solidFill>
                  <a:srgbClr val="000000"/>
                </a:solidFill>
                <a:latin typeface="Nunito"/>
                <a:ea typeface="Nunito"/>
                <a:cs typeface="Nunito"/>
                <a:sym typeface="Nunito"/>
              </a:rPr>
              <a:t>.</a:t>
            </a:r>
            <a:endParaRPr sz="2400">
              <a:latin typeface="Nunito"/>
              <a:ea typeface="Nunito"/>
              <a:cs typeface="Nunito"/>
              <a:sym typeface="Nuni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default port of tomcat in spring boot? </a:t>
            </a:r>
            <a:endParaRPr/>
          </a:p>
        </p:txBody>
      </p:sp>
      <p:sp>
        <p:nvSpPr>
          <p:cNvPr id="334" name="Google Shape;334;p4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The default port of the tomcat server-id </a:t>
            </a:r>
            <a:r>
              <a:rPr lang="en" sz="2400">
                <a:solidFill>
                  <a:srgbClr val="EF4444"/>
                </a:solidFill>
                <a:latin typeface="Nunito"/>
                <a:ea typeface="Nunito"/>
                <a:cs typeface="Nunito"/>
                <a:sym typeface="Nunito"/>
              </a:rPr>
              <a:t>8080</a:t>
            </a:r>
            <a:r>
              <a:rPr lang="en" sz="2400">
                <a:solidFill>
                  <a:srgbClr val="000000"/>
                </a:solidFill>
                <a:latin typeface="Nunito"/>
                <a:ea typeface="Nunito"/>
                <a:cs typeface="Nunito"/>
                <a:sym typeface="Nunito"/>
              </a:rPr>
              <a:t>. can be changed by adding </a:t>
            </a:r>
            <a:r>
              <a:rPr lang="en" sz="2400">
                <a:solidFill>
                  <a:srgbClr val="EF4444"/>
                </a:solidFill>
                <a:latin typeface="Nunito"/>
                <a:ea typeface="Nunito"/>
                <a:cs typeface="Nunito"/>
                <a:sym typeface="Nunito"/>
              </a:rPr>
              <a:t>sever.port</a:t>
            </a:r>
            <a:r>
              <a:rPr lang="en" sz="2400">
                <a:solidFill>
                  <a:srgbClr val="000000"/>
                </a:solidFill>
                <a:latin typeface="Nunito"/>
                <a:ea typeface="Nunito"/>
                <a:cs typeface="Nunito"/>
                <a:sym typeface="Nunito"/>
              </a:rPr>
              <a:t> properties in the </a:t>
            </a:r>
            <a:r>
              <a:rPr lang="en" sz="2400">
                <a:solidFill>
                  <a:srgbClr val="EF4444"/>
                </a:solidFill>
                <a:latin typeface="Nunito"/>
                <a:ea typeface="Nunito"/>
                <a:cs typeface="Nunito"/>
                <a:sym typeface="Nunito"/>
              </a:rPr>
              <a:t>application.</a:t>
            </a:r>
            <a:r>
              <a:rPr lang="en" sz="2400">
                <a:solidFill>
                  <a:srgbClr val="EF4444"/>
                </a:solidFill>
                <a:latin typeface="Nunito"/>
                <a:ea typeface="Nunito"/>
                <a:cs typeface="Nunito"/>
                <a:sym typeface="Nunito"/>
              </a:rPr>
              <a:t>properties</a:t>
            </a:r>
            <a:r>
              <a:rPr lang="en" sz="2400">
                <a:solidFill>
                  <a:srgbClr val="000000"/>
                </a:solidFill>
                <a:latin typeface="Nunito"/>
                <a:ea typeface="Nunito"/>
                <a:cs typeface="Nunito"/>
                <a:sym typeface="Nunito"/>
              </a:rPr>
              <a:t> file.</a:t>
            </a:r>
            <a:endParaRPr sz="2400">
              <a:latin typeface="Nunito"/>
              <a:ea typeface="Nunito"/>
              <a:cs typeface="Nunito"/>
              <a:sym typeface="Nuni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we override or replace the Embedded tomcat server in Spring Boot? </a:t>
            </a:r>
            <a:endParaRPr/>
          </a:p>
        </p:txBody>
      </p:sp>
      <p:sp>
        <p:nvSpPr>
          <p:cNvPr id="340" name="Google Shape;340;p4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Yes, we can replace the Embedded Tomcat server with any server by using the </a:t>
            </a:r>
            <a:r>
              <a:rPr lang="en" sz="2400">
                <a:solidFill>
                  <a:srgbClr val="EF4444"/>
                </a:solidFill>
                <a:latin typeface="Nunito"/>
                <a:ea typeface="Nunito"/>
                <a:cs typeface="Nunito"/>
                <a:sym typeface="Nunito"/>
              </a:rPr>
              <a:t>Starter dependency</a:t>
            </a:r>
            <a:r>
              <a:rPr lang="en" sz="2400">
                <a:solidFill>
                  <a:srgbClr val="000000"/>
                </a:solidFill>
                <a:latin typeface="Nunito"/>
                <a:ea typeface="Nunito"/>
                <a:cs typeface="Nunito"/>
                <a:sym typeface="Nunito"/>
              </a:rPr>
              <a:t> in the </a:t>
            </a:r>
            <a:r>
              <a:rPr lang="en" sz="2400">
                <a:solidFill>
                  <a:srgbClr val="EF4444"/>
                </a:solidFill>
                <a:latin typeface="Nunito"/>
                <a:ea typeface="Nunito"/>
                <a:cs typeface="Nunito"/>
                <a:sym typeface="Nunito"/>
              </a:rPr>
              <a:t>pom.xml</a:t>
            </a:r>
            <a:r>
              <a:rPr lang="en" sz="2400">
                <a:solidFill>
                  <a:srgbClr val="000000"/>
                </a:solidFill>
                <a:latin typeface="Nunito"/>
                <a:ea typeface="Nunito"/>
                <a:cs typeface="Nunito"/>
                <a:sym typeface="Nunito"/>
              </a:rPr>
              <a:t> file.can use </a:t>
            </a:r>
            <a:r>
              <a:rPr lang="en" sz="2400">
                <a:solidFill>
                  <a:srgbClr val="EF4444"/>
                </a:solidFill>
                <a:latin typeface="Nunito"/>
                <a:ea typeface="Nunito"/>
                <a:cs typeface="Nunito"/>
                <a:sym typeface="Nunito"/>
              </a:rPr>
              <a:t>spring-boot-starter-jetty</a:t>
            </a:r>
            <a:r>
              <a:rPr lang="en" sz="2400">
                <a:solidFill>
                  <a:srgbClr val="000000"/>
                </a:solidFill>
                <a:latin typeface="Nunito"/>
                <a:ea typeface="Nunito"/>
                <a:cs typeface="Nunito"/>
                <a:sym typeface="Nunito"/>
              </a:rPr>
              <a:t> as a dependency for using a jetty server in your project.</a:t>
            </a:r>
            <a:endParaRPr sz="2400">
              <a:latin typeface="Nunito"/>
              <a:ea typeface="Nunito"/>
              <a:cs typeface="Nunito"/>
              <a:sym typeface="Nuni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we disable the default web server in the Spring boot application? </a:t>
            </a:r>
            <a:endParaRPr/>
          </a:p>
        </p:txBody>
      </p:sp>
      <p:sp>
        <p:nvSpPr>
          <p:cNvPr id="346" name="Google Shape;346;p4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Yes, we can use </a:t>
            </a:r>
            <a:r>
              <a:rPr lang="en" sz="2400">
                <a:solidFill>
                  <a:srgbClr val="EF4444"/>
                </a:solidFill>
                <a:latin typeface="Nunito"/>
                <a:ea typeface="Nunito"/>
                <a:cs typeface="Nunito"/>
                <a:sym typeface="Nunito"/>
              </a:rPr>
              <a:t>application.properties</a:t>
            </a:r>
            <a:r>
              <a:rPr lang="en" sz="2400">
                <a:solidFill>
                  <a:srgbClr val="000000"/>
                </a:solidFill>
                <a:latin typeface="Nunito"/>
                <a:ea typeface="Nunito"/>
                <a:cs typeface="Nunito"/>
                <a:sym typeface="Nunito"/>
              </a:rPr>
              <a:t> to configure the web application type i.e </a:t>
            </a:r>
            <a:r>
              <a:rPr lang="en" sz="2400">
                <a:solidFill>
                  <a:srgbClr val="EF4444"/>
                </a:solidFill>
                <a:latin typeface="Nunito"/>
                <a:ea typeface="Nunito"/>
                <a:cs typeface="Nunito"/>
                <a:sym typeface="Nunito"/>
              </a:rPr>
              <a:t>spring.main.web-application-type=none</a:t>
            </a:r>
            <a:r>
              <a:rPr lang="en" sz="2400">
                <a:solidFill>
                  <a:srgbClr val="000000"/>
                </a:solidFill>
                <a:latin typeface="Nunito"/>
                <a:ea typeface="Nunito"/>
                <a:cs typeface="Nunito"/>
                <a:sym typeface="Nunito"/>
              </a:rPr>
              <a:t>.</a:t>
            </a:r>
            <a:endParaRPr sz="2400">
              <a:latin typeface="Nunito"/>
              <a:ea typeface="Nunito"/>
              <a:cs typeface="Nunito"/>
              <a:sym typeface="Nuni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disable a specific auto-configuration class?</a:t>
            </a:r>
            <a:endParaRPr/>
          </a:p>
        </p:txBody>
      </p:sp>
      <p:sp>
        <p:nvSpPr>
          <p:cNvPr id="352" name="Google Shape;352;p4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0000"/>
                </a:solidFill>
                <a:latin typeface="Nunito"/>
                <a:ea typeface="Nunito"/>
                <a:cs typeface="Nunito"/>
                <a:sym typeface="Nunito"/>
              </a:rPr>
              <a:t>You can use exclude attribute of </a:t>
            </a:r>
            <a:r>
              <a:rPr lang="en" sz="2400">
                <a:solidFill>
                  <a:srgbClr val="EF4444"/>
                </a:solidFill>
                <a:latin typeface="Nunito"/>
                <a:ea typeface="Nunito"/>
                <a:cs typeface="Nunito"/>
                <a:sym typeface="Nunito"/>
              </a:rPr>
              <a:t>@EnableAutoConfiguration</a:t>
            </a:r>
            <a:r>
              <a:rPr lang="en" sz="2400">
                <a:solidFill>
                  <a:srgbClr val="000000"/>
                </a:solidFill>
                <a:latin typeface="Nunito"/>
                <a:ea typeface="Nunito"/>
                <a:cs typeface="Nunito"/>
                <a:sym typeface="Nunito"/>
              </a:rPr>
              <a:t> if you want auto-configuration not to apply to any specific class.</a:t>
            </a:r>
            <a:endParaRPr sz="2400">
              <a:solidFill>
                <a:srgbClr val="000000"/>
              </a:solidFill>
              <a:latin typeface="Nunito"/>
              <a:ea typeface="Nunito"/>
              <a:cs typeface="Nunito"/>
              <a:sym typeface="Nunito"/>
            </a:endParaRPr>
          </a:p>
          <a:p>
            <a:pPr indent="0" lvl="0" marL="0" rtl="0" algn="l">
              <a:spcBef>
                <a:spcPts val="1200"/>
              </a:spcBef>
              <a:spcAft>
                <a:spcPts val="1200"/>
              </a:spcAft>
              <a:buNone/>
            </a:pPr>
            <a:r>
              <a:rPr lang="en" sz="2400">
                <a:solidFill>
                  <a:srgbClr val="EF4444"/>
                </a:solidFill>
                <a:latin typeface="Nunito"/>
                <a:ea typeface="Nunito"/>
                <a:cs typeface="Nunito"/>
                <a:sym typeface="Nunito"/>
              </a:rPr>
              <a:t>@EnableAutoConfiguration(exclude={className})</a:t>
            </a:r>
            <a:endParaRPr sz="2400">
              <a:solidFill>
                <a:srgbClr val="EF4444"/>
              </a:solidFill>
              <a:latin typeface="Nunito"/>
              <a:ea typeface="Nunito"/>
              <a:cs typeface="Nunito"/>
              <a:sym typeface="Nuni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the use of Profiles in spring boot?</a:t>
            </a:r>
            <a:endParaRPr/>
          </a:p>
        </p:txBody>
      </p:sp>
      <p:sp>
        <p:nvSpPr>
          <p:cNvPr id="358" name="Google Shape;358;p5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400">
                <a:solidFill>
                  <a:srgbClr val="000000"/>
                </a:solidFill>
                <a:latin typeface="Nunito"/>
                <a:ea typeface="Nunito"/>
                <a:cs typeface="Nunito"/>
                <a:sym typeface="Nunito"/>
              </a:rPr>
              <a:t>Application we deal with multiple environments such as dev, QA, Prod, and each environment requires a different configuration</a:t>
            </a:r>
            <a:r>
              <a:rPr lang="en" sz="2400">
                <a:solidFill>
                  <a:srgbClr val="000000"/>
                </a:solidFill>
                <a:latin typeface="Nunito"/>
                <a:ea typeface="Nunito"/>
                <a:cs typeface="Nunito"/>
                <a:sym typeface="Nunito"/>
              </a:rPr>
              <a:t>. Spring has the provision of Profiles to keep the separate configuration for environments.</a:t>
            </a:r>
            <a:endParaRPr sz="2400">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the list of all the beans in your Spring boot application?</a:t>
            </a:r>
            <a:endParaRPr/>
          </a:p>
        </p:txBody>
      </p:sp>
      <p:sp>
        <p:nvSpPr>
          <p:cNvPr id="364" name="Google Shape;364;p5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Spring Boot actuator “</a:t>
            </a:r>
            <a:r>
              <a:rPr lang="en" sz="2400">
                <a:solidFill>
                  <a:srgbClr val="EF4444"/>
                </a:solidFill>
                <a:latin typeface="Nunito"/>
                <a:ea typeface="Nunito"/>
                <a:cs typeface="Nunito"/>
                <a:sym typeface="Nunito"/>
              </a:rPr>
              <a:t>/Beans</a:t>
            </a:r>
            <a:r>
              <a:rPr lang="en" sz="2400">
                <a:solidFill>
                  <a:srgbClr val="000000"/>
                </a:solidFill>
                <a:latin typeface="Nunito"/>
                <a:ea typeface="Nunito"/>
                <a:cs typeface="Nunito"/>
                <a:sym typeface="Nunito"/>
              </a:rPr>
              <a:t>” is used to get the list of all the spring beans in your application.</a:t>
            </a:r>
            <a:endParaRPr sz="2400">
              <a:latin typeface="Nunito"/>
              <a:ea typeface="Nunito"/>
              <a:cs typeface="Nunito"/>
              <a:sym typeface="Nuni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check the environment properties in your Spring boot application?</a:t>
            </a:r>
            <a:endParaRPr/>
          </a:p>
        </p:txBody>
      </p:sp>
      <p:sp>
        <p:nvSpPr>
          <p:cNvPr id="370" name="Google Shape;370;p5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000000"/>
                </a:solidFill>
                <a:latin typeface="Nunito"/>
                <a:ea typeface="Nunito"/>
                <a:cs typeface="Nunito"/>
                <a:sym typeface="Nunito"/>
              </a:rPr>
              <a:t>Spring Boot actuator “</a:t>
            </a:r>
            <a:r>
              <a:rPr lang="en" sz="2400">
                <a:solidFill>
                  <a:srgbClr val="EF4444"/>
                </a:solidFill>
                <a:latin typeface="Nunito"/>
                <a:ea typeface="Nunito"/>
                <a:cs typeface="Nunito"/>
                <a:sym typeface="Nunito"/>
              </a:rPr>
              <a:t>/env</a:t>
            </a:r>
            <a:r>
              <a:rPr lang="en" sz="2400">
                <a:solidFill>
                  <a:srgbClr val="000000"/>
                </a:solidFill>
                <a:latin typeface="Nunito"/>
                <a:ea typeface="Nunito"/>
                <a:cs typeface="Nunito"/>
                <a:sym typeface="Nunito"/>
              </a:rPr>
              <a:t>” returns the list of all the environment properties of running the spring boot application.</a:t>
            </a:r>
            <a:endParaRPr sz="2400">
              <a:latin typeface="Nunito"/>
              <a:ea typeface="Nunito"/>
              <a:cs typeface="Nunito"/>
              <a:sym typeface="Nuni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Elegant Configuration Management?</a:t>
            </a:r>
            <a:endParaRPr/>
          </a:p>
        </p:txBody>
      </p:sp>
      <p:sp>
        <p:nvSpPr>
          <p:cNvPr id="376" name="Google Shape;376;p5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800">
                <a:solidFill>
                  <a:srgbClr val="24292E"/>
                </a:solidFill>
                <a:highlight>
                  <a:srgbClr val="FFFFFF"/>
                </a:highlight>
                <a:latin typeface="Nunito"/>
                <a:ea typeface="Nunito"/>
                <a:cs typeface="Nunito"/>
                <a:sym typeface="Nunito"/>
              </a:rPr>
              <a:t>Spring supports externalizing configurable properties using the </a:t>
            </a:r>
            <a:r>
              <a:rPr b="1" lang="en" sz="1800">
                <a:solidFill>
                  <a:srgbClr val="3D85C6"/>
                </a:solidFill>
                <a:uFill>
                  <a:noFill/>
                </a:uFill>
                <a:latin typeface="Nunito"/>
                <a:ea typeface="Nunito"/>
                <a:cs typeface="Nunito"/>
                <a:sym typeface="Nunito"/>
                <a:hlinkClick r:id="rId3">
                  <a:extLst>
                    <a:ext uri="{A12FA001-AC4F-418D-AE19-62706E023703}">
                      <ahyp:hlinkClr val="tx"/>
                    </a:ext>
                  </a:extLst>
                </a:hlinkClick>
              </a:rPr>
              <a:t>@PropertySource</a:t>
            </a:r>
            <a:r>
              <a:rPr b="1" lang="en" sz="1800">
                <a:solidFill>
                  <a:srgbClr val="24292E"/>
                </a:solidFill>
                <a:highlight>
                  <a:srgbClr val="FFFFFF"/>
                </a:highlight>
                <a:latin typeface="Nunito"/>
                <a:ea typeface="Nunito"/>
                <a:cs typeface="Nunito"/>
                <a:sym typeface="Nunito"/>
              </a:rPr>
              <a:t> configuration.</a:t>
            </a:r>
            <a:r>
              <a:rPr lang="en" sz="1800">
                <a:solidFill>
                  <a:srgbClr val="24292E"/>
                </a:solidFill>
                <a:highlight>
                  <a:srgbClr val="FFFFFF"/>
                </a:highlight>
                <a:latin typeface="Nunito"/>
                <a:ea typeface="Nunito"/>
                <a:cs typeface="Nunito"/>
                <a:sym typeface="Nunito"/>
              </a:rPr>
              <a:t> Spring Boot takes it even further by using sensible defaults and powerful type-safe property binding to bean properties. </a:t>
            </a:r>
            <a:r>
              <a:rPr b="1" lang="en" sz="1800">
                <a:solidFill>
                  <a:srgbClr val="24292E"/>
                </a:solidFill>
                <a:highlight>
                  <a:srgbClr val="FFFFFF"/>
                </a:highlight>
                <a:latin typeface="Nunito"/>
                <a:ea typeface="Nunito"/>
                <a:cs typeface="Nunito"/>
                <a:sym typeface="Nunito"/>
              </a:rPr>
              <a:t>Spring Boot supports having separate configuration files for different profiles without requiring many configurations.</a:t>
            </a:r>
            <a:endParaRPr b="1" sz="1800">
              <a:latin typeface="Nunito"/>
              <a:ea typeface="Nunito"/>
              <a:cs typeface="Nunito"/>
              <a:sym typeface="Nuni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Explain a few important Spring Boot Key features?</a:t>
            </a:r>
            <a:endParaRPr/>
          </a:p>
        </p:txBody>
      </p:sp>
      <p:sp>
        <p:nvSpPr>
          <p:cNvPr id="382" name="Google Shape;382;p5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000000"/>
                </a:solidFill>
                <a:latin typeface="Nunito"/>
                <a:ea typeface="Nunito"/>
                <a:cs typeface="Nunito"/>
                <a:sym typeface="Nunito"/>
              </a:rPr>
              <a:t>Let me a list of a few key features of the Spring boot and we will discuss each key feature briefly.</a:t>
            </a:r>
            <a:endParaRPr sz="1400">
              <a:solidFill>
                <a:srgbClr val="000000"/>
              </a:solidFill>
              <a:latin typeface="Nunito"/>
              <a:ea typeface="Nunito"/>
              <a:cs typeface="Nunito"/>
              <a:sym typeface="Nunito"/>
            </a:endParaRPr>
          </a:p>
          <a:p>
            <a:pPr indent="-317500" lvl="0" marL="457200" rtl="0" algn="l">
              <a:spcBef>
                <a:spcPts val="1200"/>
              </a:spcBef>
              <a:spcAft>
                <a:spcPts val="0"/>
              </a:spcAft>
              <a:buClr>
                <a:srgbClr val="000000"/>
              </a:buClr>
              <a:buSzPts val="1400"/>
              <a:buFont typeface="Nunito"/>
              <a:buAutoNum type="arabicPeriod"/>
            </a:pPr>
            <a:r>
              <a:rPr lang="en" sz="1400">
                <a:solidFill>
                  <a:srgbClr val="000000"/>
                </a:solidFill>
                <a:latin typeface="Nunito"/>
                <a:ea typeface="Nunito"/>
                <a:cs typeface="Nunito"/>
                <a:sym typeface="Nunito"/>
              </a:rPr>
              <a:t>Spring Boot starters</a:t>
            </a:r>
            <a:endParaRPr sz="1400">
              <a:solidFill>
                <a:srgbClr val="000000"/>
              </a:solidFill>
              <a:latin typeface="Nunito"/>
              <a:ea typeface="Nunito"/>
              <a:cs typeface="Nunito"/>
              <a:sym typeface="Nunito"/>
            </a:endParaRPr>
          </a:p>
          <a:p>
            <a:pPr indent="-317500" lvl="0" marL="457200" rtl="0" algn="l">
              <a:spcBef>
                <a:spcPts val="0"/>
              </a:spcBef>
              <a:spcAft>
                <a:spcPts val="0"/>
              </a:spcAft>
              <a:buClr>
                <a:srgbClr val="000000"/>
              </a:buClr>
              <a:buSzPts val="1400"/>
              <a:buFont typeface="Nunito"/>
              <a:buAutoNum type="arabicPeriod"/>
            </a:pPr>
            <a:r>
              <a:rPr lang="en" sz="1400">
                <a:solidFill>
                  <a:srgbClr val="000000"/>
                </a:solidFill>
                <a:latin typeface="Nunito"/>
                <a:ea typeface="Nunito"/>
                <a:cs typeface="Nunito"/>
                <a:sym typeface="Nunito"/>
              </a:rPr>
              <a:t>Spring Boot autoconfiguration</a:t>
            </a:r>
            <a:endParaRPr sz="1400">
              <a:solidFill>
                <a:srgbClr val="000000"/>
              </a:solidFill>
              <a:latin typeface="Nunito"/>
              <a:ea typeface="Nunito"/>
              <a:cs typeface="Nunito"/>
              <a:sym typeface="Nunito"/>
            </a:endParaRPr>
          </a:p>
          <a:p>
            <a:pPr indent="-317500" lvl="0" marL="457200" rtl="0" algn="l">
              <a:spcBef>
                <a:spcPts val="0"/>
              </a:spcBef>
              <a:spcAft>
                <a:spcPts val="0"/>
              </a:spcAft>
              <a:buClr>
                <a:srgbClr val="000000"/>
              </a:buClr>
              <a:buSzPts val="1400"/>
              <a:buFont typeface="Nunito"/>
              <a:buAutoNum type="arabicPeriod"/>
            </a:pPr>
            <a:r>
              <a:rPr lang="en" sz="1400">
                <a:solidFill>
                  <a:srgbClr val="000000"/>
                </a:solidFill>
                <a:latin typeface="Nunito"/>
                <a:ea typeface="Nunito"/>
                <a:cs typeface="Nunito"/>
                <a:sym typeface="Nunito"/>
              </a:rPr>
              <a:t>Elegant configuration management</a:t>
            </a:r>
            <a:endParaRPr sz="1400">
              <a:solidFill>
                <a:srgbClr val="000000"/>
              </a:solidFill>
              <a:latin typeface="Nunito"/>
              <a:ea typeface="Nunito"/>
              <a:cs typeface="Nunito"/>
              <a:sym typeface="Nunito"/>
            </a:endParaRPr>
          </a:p>
          <a:p>
            <a:pPr indent="-317500" lvl="0" marL="457200" rtl="0" algn="l">
              <a:spcBef>
                <a:spcPts val="0"/>
              </a:spcBef>
              <a:spcAft>
                <a:spcPts val="0"/>
              </a:spcAft>
              <a:buClr>
                <a:srgbClr val="000000"/>
              </a:buClr>
              <a:buSzPts val="1400"/>
              <a:buFont typeface="Nunito"/>
              <a:buAutoNum type="arabicPeriod"/>
            </a:pPr>
            <a:r>
              <a:rPr lang="en" sz="1400">
                <a:solidFill>
                  <a:srgbClr val="000000"/>
                </a:solidFill>
                <a:latin typeface="Nunito"/>
                <a:ea typeface="Nunito"/>
                <a:cs typeface="Nunito"/>
                <a:sym typeface="Nunito"/>
              </a:rPr>
              <a:t>Spring Boot Actuator</a:t>
            </a:r>
            <a:endParaRPr sz="1400">
              <a:solidFill>
                <a:srgbClr val="000000"/>
              </a:solidFill>
              <a:latin typeface="Nunito"/>
              <a:ea typeface="Nunito"/>
              <a:cs typeface="Nunito"/>
              <a:sym typeface="Nunito"/>
            </a:endParaRPr>
          </a:p>
          <a:p>
            <a:pPr indent="-317500" lvl="0" marL="457200" rtl="0" algn="l">
              <a:spcBef>
                <a:spcPts val="0"/>
              </a:spcBef>
              <a:spcAft>
                <a:spcPts val="0"/>
              </a:spcAft>
              <a:buClr>
                <a:srgbClr val="000000"/>
              </a:buClr>
              <a:buSzPts val="1400"/>
              <a:buFont typeface="Nunito"/>
              <a:buAutoNum type="arabicPeriod"/>
            </a:pPr>
            <a:r>
              <a:rPr lang="en" sz="1400">
                <a:solidFill>
                  <a:srgbClr val="000000"/>
                </a:solidFill>
                <a:latin typeface="Nunito"/>
                <a:ea typeface="Nunito"/>
                <a:cs typeface="Nunito"/>
                <a:sym typeface="Nunito"/>
              </a:rPr>
              <a:t>Easy-to-use embedded servlet container support</a:t>
            </a:r>
            <a:endParaRPr sz="1400">
              <a:latin typeface="Nunito"/>
              <a:ea typeface="Nunito"/>
              <a:cs typeface="Nunito"/>
              <a:sym typeface="Nuni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Spring Boot Starters</a:t>
            </a:r>
            <a:endParaRPr/>
          </a:p>
        </p:txBody>
      </p:sp>
      <p:sp>
        <p:nvSpPr>
          <p:cNvPr id="388" name="Google Shape;388;p5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solidFill>
                  <a:srgbClr val="24292E"/>
                </a:solidFill>
                <a:highlight>
                  <a:srgbClr val="FFFFFF"/>
                </a:highlight>
                <a:latin typeface="Nunito"/>
                <a:ea typeface="Nunito"/>
                <a:cs typeface="Nunito"/>
                <a:sym typeface="Nunito"/>
              </a:rPr>
              <a:t>Spring Boot offers many starter modules to get started quickly with many of the commonly used technologies, like SpringMVC, JPA, MongoDB, Spring Batch, SpringSecurity, Solr, ElasticSearch, etc. These starters are pre-configured with the most commonly used library dependencies so you don’t have to search for compatible library versions and configure them manually.</a:t>
            </a:r>
            <a:br>
              <a:rPr lang="en" sz="1400">
                <a:solidFill>
                  <a:srgbClr val="24292E"/>
                </a:solidFill>
                <a:highlight>
                  <a:srgbClr val="FFFFFF"/>
                </a:highlight>
                <a:latin typeface="Nunito"/>
                <a:ea typeface="Nunito"/>
                <a:cs typeface="Nunito"/>
                <a:sym typeface="Nunito"/>
              </a:rPr>
            </a:br>
            <a:br>
              <a:rPr lang="en" sz="1400">
                <a:solidFill>
                  <a:srgbClr val="24292E"/>
                </a:solidFill>
                <a:highlight>
                  <a:srgbClr val="FFFFFF"/>
                </a:highlight>
                <a:latin typeface="Nunito"/>
                <a:ea typeface="Nunito"/>
                <a:cs typeface="Nunito"/>
                <a:sym typeface="Nunito"/>
              </a:rPr>
            </a:br>
            <a:r>
              <a:rPr lang="en" sz="1400">
                <a:solidFill>
                  <a:srgbClr val="24292E"/>
                </a:solidFill>
                <a:highlight>
                  <a:srgbClr val="FFFFFF"/>
                </a:highlight>
                <a:latin typeface="Nunito"/>
                <a:ea typeface="Nunito"/>
                <a:cs typeface="Nunito"/>
                <a:sym typeface="Nunito"/>
              </a:rPr>
              <a:t>For example, the </a:t>
            </a:r>
            <a:r>
              <a:rPr lang="en" sz="1400">
                <a:solidFill>
                  <a:srgbClr val="D73A49"/>
                </a:solidFill>
                <a:latin typeface="Nunito"/>
                <a:ea typeface="Nunito"/>
                <a:cs typeface="Nunito"/>
                <a:sym typeface="Nunito"/>
              </a:rPr>
              <a:t>spring-boot-starter-data-jpa</a:t>
            </a:r>
            <a:r>
              <a:rPr lang="en" sz="1400">
                <a:solidFill>
                  <a:srgbClr val="24292E"/>
                </a:solidFill>
                <a:highlight>
                  <a:srgbClr val="FFFFFF"/>
                </a:highlight>
                <a:latin typeface="Nunito"/>
                <a:ea typeface="Nunito"/>
                <a:cs typeface="Nunito"/>
                <a:sym typeface="Nunito"/>
              </a:rPr>
              <a:t> starter module includes all the dependencies required to use Spring Data JPA, along with Hibernate library dependencies, as Hibernate is the most commonly used JPA implementation.</a:t>
            </a:r>
            <a:endParaRPr sz="1400">
              <a:latin typeface="Nunito"/>
              <a:ea typeface="Nunito"/>
              <a:cs typeface="Nunito"/>
              <a:sym typeface="Nuni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Spring Boot Autoconfiguration</a:t>
            </a:r>
            <a:endParaRPr/>
          </a:p>
        </p:txBody>
      </p:sp>
      <p:sp>
        <p:nvSpPr>
          <p:cNvPr id="394" name="Google Shape;394;p5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24292E"/>
                </a:solidFill>
                <a:latin typeface="Nunito"/>
                <a:ea typeface="Nunito"/>
                <a:cs typeface="Nunito"/>
                <a:sym typeface="Nunito"/>
              </a:rPr>
              <a:t>Spring Boot takes an opinionated view of the application and configures various components automatically, by registering beans based on various criteria. The criteria can be:</a:t>
            </a:r>
            <a:endParaRPr sz="1400">
              <a:solidFill>
                <a:srgbClr val="24292E"/>
              </a:solidFill>
              <a:latin typeface="Nunito"/>
              <a:ea typeface="Nunito"/>
              <a:cs typeface="Nunito"/>
              <a:sym typeface="Nunito"/>
            </a:endParaRPr>
          </a:p>
          <a:p>
            <a:pPr indent="-317500" lvl="0" marL="457200" rtl="0" algn="l">
              <a:spcBef>
                <a:spcPts val="1200"/>
              </a:spcBef>
              <a:spcAft>
                <a:spcPts val="0"/>
              </a:spcAft>
              <a:buClr>
                <a:srgbClr val="24292E"/>
              </a:buClr>
              <a:buSzPts val="1400"/>
              <a:buFont typeface="Nunito"/>
              <a:buChar char="●"/>
            </a:pPr>
            <a:r>
              <a:rPr lang="en" sz="1400">
                <a:solidFill>
                  <a:srgbClr val="24292E"/>
                </a:solidFill>
                <a:latin typeface="Nunito"/>
                <a:ea typeface="Nunito"/>
                <a:cs typeface="Nunito"/>
                <a:sym typeface="Nunito"/>
              </a:rPr>
              <a:t>Availability of a particular class in a classpath</a:t>
            </a:r>
            <a:endParaRPr sz="1400">
              <a:solidFill>
                <a:srgbClr val="24292E"/>
              </a:solidFill>
              <a:latin typeface="Nunito"/>
              <a:ea typeface="Nunito"/>
              <a:cs typeface="Nunito"/>
              <a:sym typeface="Nunito"/>
            </a:endParaRPr>
          </a:p>
          <a:p>
            <a:pPr indent="-317500" lvl="0" marL="457200" rtl="0" algn="l">
              <a:spcBef>
                <a:spcPts val="0"/>
              </a:spcBef>
              <a:spcAft>
                <a:spcPts val="0"/>
              </a:spcAft>
              <a:buClr>
                <a:srgbClr val="24292E"/>
              </a:buClr>
              <a:buSzPts val="1400"/>
              <a:buFont typeface="Nunito"/>
              <a:buChar char="●"/>
            </a:pPr>
            <a:r>
              <a:rPr lang="en" sz="1400">
                <a:solidFill>
                  <a:srgbClr val="24292E"/>
                </a:solidFill>
                <a:latin typeface="Nunito"/>
                <a:ea typeface="Nunito"/>
                <a:cs typeface="Nunito"/>
                <a:sym typeface="Nunito"/>
              </a:rPr>
              <a:t>Presence or absence of a Spring bean</a:t>
            </a:r>
            <a:endParaRPr sz="1400">
              <a:solidFill>
                <a:srgbClr val="24292E"/>
              </a:solidFill>
              <a:latin typeface="Nunito"/>
              <a:ea typeface="Nunito"/>
              <a:cs typeface="Nunito"/>
              <a:sym typeface="Nunito"/>
            </a:endParaRPr>
          </a:p>
          <a:p>
            <a:pPr indent="-317500" lvl="0" marL="457200" rtl="0" algn="l">
              <a:spcBef>
                <a:spcPts val="0"/>
              </a:spcBef>
              <a:spcAft>
                <a:spcPts val="0"/>
              </a:spcAft>
              <a:buClr>
                <a:srgbClr val="24292E"/>
              </a:buClr>
              <a:buSzPts val="1400"/>
              <a:buFont typeface="Nunito"/>
              <a:buChar char="●"/>
            </a:pPr>
            <a:r>
              <a:rPr lang="en" sz="1400">
                <a:solidFill>
                  <a:srgbClr val="24292E"/>
                </a:solidFill>
                <a:latin typeface="Nunito"/>
                <a:ea typeface="Nunito"/>
                <a:cs typeface="Nunito"/>
                <a:sym typeface="Nunito"/>
              </a:rPr>
              <a:t>Presence of a system property</a:t>
            </a:r>
            <a:endParaRPr sz="1400">
              <a:solidFill>
                <a:srgbClr val="24292E"/>
              </a:solidFill>
              <a:latin typeface="Nunito"/>
              <a:ea typeface="Nunito"/>
              <a:cs typeface="Nunito"/>
              <a:sym typeface="Nunito"/>
            </a:endParaRPr>
          </a:p>
          <a:p>
            <a:pPr indent="-317500" lvl="0" marL="457200" rtl="0" algn="l">
              <a:spcBef>
                <a:spcPts val="0"/>
              </a:spcBef>
              <a:spcAft>
                <a:spcPts val="0"/>
              </a:spcAft>
              <a:buClr>
                <a:srgbClr val="24292E"/>
              </a:buClr>
              <a:buSzPts val="1400"/>
              <a:buFont typeface="Nunito"/>
              <a:buChar char="●"/>
            </a:pPr>
            <a:r>
              <a:rPr lang="en" sz="1400">
                <a:solidFill>
                  <a:srgbClr val="24292E"/>
                </a:solidFill>
                <a:latin typeface="Nunito"/>
                <a:ea typeface="Nunito"/>
                <a:cs typeface="Nunito"/>
                <a:sym typeface="Nunito"/>
              </a:rPr>
              <a:t>An absence of a configuration file</a:t>
            </a:r>
            <a:endParaRPr sz="1400">
              <a:latin typeface="Nunito"/>
              <a:ea typeface="Nunito"/>
              <a:cs typeface="Nunito"/>
              <a:sym typeface="Nuni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Easy-to-Use Embedded Servlet Container Support</a:t>
            </a:r>
            <a:endParaRPr/>
          </a:p>
        </p:txBody>
      </p:sp>
      <p:sp>
        <p:nvSpPr>
          <p:cNvPr id="400" name="Google Shape;400;p5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solidFill>
                  <a:srgbClr val="24292E"/>
                </a:solidFill>
                <a:highlight>
                  <a:srgbClr val="FFFFFF"/>
                </a:highlight>
                <a:latin typeface="Nunito"/>
                <a:ea typeface="Nunito"/>
                <a:cs typeface="Nunito"/>
                <a:sym typeface="Nunito"/>
              </a:rPr>
              <a:t>Traditionally, while building web applications, you need to create </a:t>
            </a:r>
            <a:r>
              <a:rPr lang="en" sz="1800">
                <a:solidFill>
                  <a:srgbClr val="D73A49"/>
                </a:solidFill>
                <a:latin typeface="Nunito"/>
                <a:ea typeface="Nunito"/>
                <a:cs typeface="Nunito"/>
                <a:sym typeface="Nunito"/>
              </a:rPr>
              <a:t>WAR</a:t>
            </a:r>
            <a:r>
              <a:rPr lang="en" sz="1800">
                <a:solidFill>
                  <a:srgbClr val="24292E"/>
                </a:solidFill>
                <a:highlight>
                  <a:srgbClr val="FFFFFF"/>
                </a:highlight>
                <a:latin typeface="Nunito"/>
                <a:ea typeface="Nunito"/>
                <a:cs typeface="Nunito"/>
                <a:sym typeface="Nunito"/>
              </a:rPr>
              <a:t> type modules and then deploy them on external servers like </a:t>
            </a:r>
            <a:r>
              <a:rPr lang="en" sz="1800">
                <a:solidFill>
                  <a:srgbClr val="D73A49"/>
                </a:solidFill>
                <a:latin typeface="Nunito"/>
                <a:ea typeface="Nunito"/>
                <a:cs typeface="Nunito"/>
                <a:sym typeface="Nunito"/>
              </a:rPr>
              <a:t>Tomcat</a:t>
            </a:r>
            <a:r>
              <a:rPr lang="en" sz="1800">
                <a:solidFill>
                  <a:srgbClr val="24292E"/>
                </a:solidFill>
                <a:highlight>
                  <a:srgbClr val="FFFFFF"/>
                </a:highlight>
                <a:latin typeface="Nunito"/>
                <a:ea typeface="Nunito"/>
                <a:cs typeface="Nunito"/>
                <a:sym typeface="Nunito"/>
              </a:rPr>
              <a:t>, </a:t>
            </a:r>
            <a:r>
              <a:rPr lang="en" sz="1800">
                <a:solidFill>
                  <a:srgbClr val="D73A49"/>
                </a:solidFill>
                <a:latin typeface="Nunito"/>
                <a:ea typeface="Nunito"/>
                <a:cs typeface="Nunito"/>
                <a:sym typeface="Nunito"/>
              </a:rPr>
              <a:t>WildFly</a:t>
            </a:r>
            <a:r>
              <a:rPr lang="en" sz="1800">
                <a:solidFill>
                  <a:srgbClr val="24292E"/>
                </a:solidFill>
                <a:highlight>
                  <a:srgbClr val="FFFFFF"/>
                </a:highlight>
                <a:latin typeface="Nunito"/>
                <a:ea typeface="Nunito"/>
                <a:cs typeface="Nunito"/>
                <a:sym typeface="Nunito"/>
              </a:rPr>
              <a:t>, etc. But by using </a:t>
            </a:r>
            <a:r>
              <a:rPr b="1" lang="en" sz="1800">
                <a:solidFill>
                  <a:srgbClr val="24292E"/>
                </a:solidFill>
                <a:highlight>
                  <a:srgbClr val="FFFFFF"/>
                </a:highlight>
                <a:latin typeface="Nunito"/>
                <a:ea typeface="Nunito"/>
                <a:cs typeface="Nunito"/>
                <a:sym typeface="Nunito"/>
              </a:rPr>
              <a:t>Spring Boot, you can create a </a:t>
            </a:r>
            <a:r>
              <a:rPr b="1" lang="en" sz="1800">
                <a:solidFill>
                  <a:srgbClr val="D73A49"/>
                </a:solidFill>
                <a:latin typeface="Nunito"/>
                <a:ea typeface="Nunito"/>
                <a:cs typeface="Nunito"/>
                <a:sym typeface="Nunito"/>
              </a:rPr>
              <a:t>JAR</a:t>
            </a:r>
            <a:r>
              <a:rPr b="1" lang="en" sz="1800">
                <a:solidFill>
                  <a:srgbClr val="24292E"/>
                </a:solidFill>
                <a:highlight>
                  <a:srgbClr val="FFFFFF"/>
                </a:highlight>
                <a:latin typeface="Nunito"/>
                <a:ea typeface="Nunito"/>
                <a:cs typeface="Nunito"/>
                <a:sym typeface="Nunito"/>
              </a:rPr>
              <a:t> type module and embed the servlet container in the application very easily so that the application will be a self-contained deployment unit. </a:t>
            </a:r>
            <a:endParaRPr b="1" sz="1800">
              <a:latin typeface="Nunito"/>
              <a:ea typeface="Nunito"/>
              <a:cs typeface="Nunito"/>
              <a:sym typeface="Nuni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Spring boot internally works (Explain the run() method in Spring boot)?</a:t>
            </a:r>
            <a:endParaRPr/>
          </a:p>
        </p:txBody>
      </p:sp>
      <p:sp>
        <p:nvSpPr>
          <p:cNvPr id="406" name="Google Shape;406;p5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04800" lvl="0" marL="457200" rtl="0" algn="l">
              <a:spcBef>
                <a:spcPts val="1200"/>
              </a:spcBef>
              <a:spcAft>
                <a:spcPts val="0"/>
              </a:spcAft>
              <a:buClr>
                <a:srgbClr val="000000"/>
              </a:buClr>
              <a:buSzPts val="1200"/>
              <a:buFont typeface="Nunito"/>
              <a:buAutoNum type="arabicPeriod"/>
            </a:pPr>
            <a:r>
              <a:rPr lang="en" sz="1200">
                <a:solidFill>
                  <a:srgbClr val="000000"/>
                </a:solidFill>
                <a:highlight>
                  <a:srgbClr val="FFFFFF"/>
                </a:highlight>
                <a:latin typeface="Nunito"/>
                <a:ea typeface="Nunito"/>
                <a:cs typeface="Nunito"/>
                <a:sym typeface="Nunito"/>
              </a:rPr>
              <a:t>Spring boot application </a:t>
            </a:r>
            <a:r>
              <a:rPr b="1" lang="en" sz="1200">
                <a:solidFill>
                  <a:srgbClr val="000000"/>
                </a:solidFill>
                <a:highlight>
                  <a:srgbClr val="FFFFFF"/>
                </a:highlight>
                <a:latin typeface="Nunito"/>
                <a:ea typeface="Nunito"/>
                <a:cs typeface="Nunito"/>
                <a:sym typeface="Nunito"/>
              </a:rPr>
              <a:t>execution will start from the main() method</a:t>
            </a:r>
            <a:endParaRPr b="1"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solidFill>
                  <a:srgbClr val="000000"/>
                </a:solidFill>
                <a:highlight>
                  <a:srgbClr val="FFFFFF"/>
                </a:highlight>
                <a:latin typeface="Nunito"/>
                <a:ea typeface="Nunito"/>
                <a:cs typeface="Nunito"/>
                <a:sym typeface="Nunito"/>
              </a:rPr>
              <a:t>The main() method </a:t>
            </a:r>
            <a:r>
              <a:rPr b="1" lang="en" sz="1200">
                <a:solidFill>
                  <a:srgbClr val="000000"/>
                </a:solidFill>
                <a:highlight>
                  <a:srgbClr val="FFFFFF"/>
                </a:highlight>
                <a:latin typeface="Nunito"/>
                <a:ea typeface="Nunito"/>
                <a:cs typeface="Nunito"/>
                <a:sym typeface="Nunito"/>
              </a:rPr>
              <a:t>internally call SpringApplication.run() method</a:t>
            </a:r>
            <a:endParaRPr b="1"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solidFill>
                  <a:srgbClr val="000000"/>
                </a:solidFill>
                <a:highlight>
                  <a:srgbClr val="FFFFFF"/>
                </a:highlight>
                <a:latin typeface="Nunito"/>
                <a:ea typeface="Nunito"/>
                <a:cs typeface="Nunito"/>
                <a:sym typeface="Nunito"/>
              </a:rPr>
              <a:t>SpringApplication.run() method </a:t>
            </a:r>
            <a:r>
              <a:rPr b="1" lang="en" sz="1200">
                <a:solidFill>
                  <a:srgbClr val="000000"/>
                </a:solidFill>
                <a:highlight>
                  <a:srgbClr val="FFFFFF"/>
                </a:highlight>
                <a:latin typeface="Nunito"/>
                <a:ea typeface="Nunito"/>
                <a:cs typeface="Nunito"/>
                <a:sym typeface="Nunito"/>
              </a:rPr>
              <a:t>performs bootstrapping</a:t>
            </a:r>
            <a:r>
              <a:rPr lang="en" sz="1200">
                <a:solidFill>
                  <a:srgbClr val="000000"/>
                </a:solidFill>
                <a:highlight>
                  <a:srgbClr val="FFFFFF"/>
                </a:highlight>
                <a:latin typeface="Nunito"/>
                <a:ea typeface="Nunito"/>
                <a:cs typeface="Nunito"/>
                <a:sym typeface="Nunito"/>
              </a:rPr>
              <a:t> for our spring boot application</a:t>
            </a:r>
            <a:endParaRPr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solidFill>
                  <a:srgbClr val="000000"/>
                </a:solidFill>
                <a:highlight>
                  <a:srgbClr val="FFFFFF"/>
                </a:highlight>
                <a:latin typeface="Nunito"/>
                <a:ea typeface="Nunito"/>
                <a:cs typeface="Nunito"/>
                <a:sym typeface="Nunito"/>
              </a:rPr>
              <a:t>Starts StopWatch to identify the time taken to bootstrap the spring boot application</a:t>
            </a:r>
            <a:endParaRPr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b="1" lang="en" sz="1200">
                <a:solidFill>
                  <a:srgbClr val="000000"/>
                </a:solidFill>
                <a:highlight>
                  <a:srgbClr val="FFFFFF"/>
                </a:highlight>
                <a:latin typeface="Nunito"/>
                <a:ea typeface="Nunito"/>
                <a:cs typeface="Nunito"/>
                <a:sym typeface="Nunito"/>
              </a:rPr>
              <a:t>Prepares environment</a:t>
            </a:r>
            <a:r>
              <a:rPr lang="en" sz="1200">
                <a:solidFill>
                  <a:srgbClr val="000000"/>
                </a:solidFill>
                <a:highlight>
                  <a:srgbClr val="FFFFFF"/>
                </a:highlight>
                <a:latin typeface="Nunito"/>
                <a:ea typeface="Nunito"/>
                <a:cs typeface="Nunito"/>
                <a:sym typeface="Nunito"/>
              </a:rPr>
              <a:t> to run our spring boot application (dev, prod, qa, uat)</a:t>
            </a:r>
            <a:endParaRPr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solidFill>
                  <a:srgbClr val="000000"/>
                </a:solidFill>
                <a:highlight>
                  <a:srgbClr val="FFFFFF"/>
                </a:highlight>
                <a:latin typeface="Nunito"/>
                <a:ea typeface="Nunito"/>
                <a:cs typeface="Nunito"/>
                <a:sym typeface="Nunito"/>
              </a:rPr>
              <a:t>Print banner ( Spring Boot Logo prints on console)</a:t>
            </a:r>
            <a:endParaRPr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b="1" lang="en" sz="1200">
                <a:solidFill>
                  <a:srgbClr val="000000"/>
                </a:solidFill>
                <a:highlight>
                  <a:srgbClr val="FFFFFF"/>
                </a:highlight>
                <a:latin typeface="Nunito"/>
                <a:ea typeface="Nunito"/>
                <a:cs typeface="Nunito"/>
                <a:sym typeface="Nunito"/>
              </a:rPr>
              <a:t>Start the IOC container ( ApplicationContext) based on the classpath</a:t>
            </a:r>
            <a:r>
              <a:rPr lang="en" sz="1200">
                <a:solidFill>
                  <a:srgbClr val="000000"/>
                </a:solidFill>
                <a:highlight>
                  <a:srgbClr val="FFFFFF"/>
                </a:highlight>
                <a:latin typeface="Nunito"/>
                <a:ea typeface="Nunito"/>
                <a:cs typeface="Nunito"/>
                <a:sym typeface="Nunito"/>
              </a:rPr>
              <a:t> ( default, Web servlet/ Reactive)</a:t>
            </a:r>
            <a:endParaRPr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b="1" lang="en" sz="1200">
                <a:solidFill>
                  <a:srgbClr val="000000"/>
                </a:solidFill>
                <a:highlight>
                  <a:srgbClr val="FFFFFF"/>
                </a:highlight>
                <a:latin typeface="Nunito"/>
                <a:ea typeface="Nunito"/>
                <a:cs typeface="Nunito"/>
                <a:sym typeface="Nunito"/>
              </a:rPr>
              <a:t>Refresh context</a:t>
            </a:r>
            <a:endParaRPr b="1"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b="1" lang="en" sz="1200">
                <a:solidFill>
                  <a:srgbClr val="000000"/>
                </a:solidFill>
                <a:highlight>
                  <a:srgbClr val="FFFFFF"/>
                </a:highlight>
                <a:latin typeface="Nunito"/>
                <a:ea typeface="Nunito"/>
                <a:cs typeface="Nunito"/>
                <a:sym typeface="Nunito"/>
              </a:rPr>
              <a:t>Trigger Runners</a:t>
            </a:r>
            <a:r>
              <a:rPr lang="en" sz="1200">
                <a:solidFill>
                  <a:srgbClr val="000000"/>
                </a:solidFill>
                <a:highlight>
                  <a:srgbClr val="FFFFFF"/>
                </a:highlight>
                <a:latin typeface="Nunito"/>
                <a:ea typeface="Nunito"/>
                <a:cs typeface="Nunito"/>
                <a:sym typeface="Nunito"/>
              </a:rPr>
              <a:t> (</a:t>
            </a:r>
            <a:r>
              <a:rPr b="1" lang="en" sz="1200">
                <a:solidFill>
                  <a:srgbClr val="000000"/>
                </a:solidFill>
                <a:highlight>
                  <a:srgbClr val="FFFFFF"/>
                </a:highlight>
                <a:latin typeface="Nunito"/>
                <a:ea typeface="Nunito"/>
                <a:cs typeface="Nunito"/>
                <a:sym typeface="Nunito"/>
              </a:rPr>
              <a:t>ApplicationRunner</a:t>
            </a:r>
            <a:r>
              <a:rPr lang="en" sz="1200">
                <a:solidFill>
                  <a:srgbClr val="000000"/>
                </a:solidFill>
                <a:highlight>
                  <a:srgbClr val="FFFFFF"/>
                </a:highlight>
                <a:latin typeface="Nunito"/>
                <a:ea typeface="Nunito"/>
                <a:cs typeface="Nunito"/>
                <a:sym typeface="Nunito"/>
              </a:rPr>
              <a:t> or CommandLineRunner)</a:t>
            </a:r>
            <a:endParaRPr sz="1200">
              <a:solidFill>
                <a:srgbClr val="000000"/>
              </a:solidFill>
              <a:highlight>
                <a:srgbClr val="FFFFFF"/>
              </a:highlight>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solidFill>
                  <a:srgbClr val="000000"/>
                </a:solidFill>
                <a:highlight>
                  <a:srgbClr val="FFFFFF"/>
                </a:highlight>
                <a:latin typeface="Nunito"/>
                <a:ea typeface="Nunito"/>
                <a:cs typeface="Nunito"/>
                <a:sym typeface="Nunito"/>
              </a:rPr>
              <a:t>Return </a:t>
            </a:r>
            <a:r>
              <a:rPr b="1" lang="en" sz="1200">
                <a:solidFill>
                  <a:srgbClr val="000000"/>
                </a:solidFill>
                <a:highlight>
                  <a:srgbClr val="FFFFFF"/>
                </a:highlight>
                <a:latin typeface="Nunito"/>
                <a:ea typeface="Nunito"/>
                <a:cs typeface="Nunito"/>
                <a:sym typeface="Nunito"/>
              </a:rPr>
              <a:t>ApplicationContext reference</a:t>
            </a:r>
            <a:r>
              <a:rPr lang="en" sz="1200">
                <a:solidFill>
                  <a:srgbClr val="000000"/>
                </a:solidFill>
                <a:highlight>
                  <a:srgbClr val="FFFFFF"/>
                </a:highlight>
                <a:latin typeface="Nunito"/>
                <a:ea typeface="Nunito"/>
                <a:cs typeface="Nunito"/>
                <a:sym typeface="Nunito"/>
              </a:rPr>
              <a:t> ( Spring IOC) </a:t>
            </a:r>
            <a:endParaRPr sz="1200">
              <a:latin typeface="Nunito"/>
              <a:ea typeface="Nunito"/>
              <a:cs typeface="Nunito"/>
              <a:sym typeface="Nuni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different ways to create a Spring boot application?</a:t>
            </a:r>
            <a:endParaRPr/>
          </a:p>
        </p:txBody>
      </p:sp>
      <p:sp>
        <p:nvSpPr>
          <p:cNvPr id="412" name="Google Shape;412;p5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000000"/>
                </a:solidFill>
                <a:highlight>
                  <a:srgbClr val="FFFFFF"/>
                </a:highlight>
                <a:latin typeface="Nunito"/>
                <a:ea typeface="Nunito"/>
                <a:cs typeface="Nunito"/>
                <a:sym typeface="Nunito"/>
              </a:rPr>
              <a:t>Different ways to create Spring boot project:</a:t>
            </a:r>
            <a:endParaRPr sz="1400">
              <a:solidFill>
                <a:srgbClr val="000000"/>
              </a:solidFill>
              <a:highlight>
                <a:srgbClr val="FFFFFF"/>
              </a:highlight>
              <a:latin typeface="Nunito"/>
              <a:ea typeface="Nunito"/>
              <a:cs typeface="Nunito"/>
              <a:sym typeface="Nunito"/>
            </a:endParaRPr>
          </a:p>
          <a:p>
            <a:pPr indent="0" lvl="0" marL="0" rtl="0" algn="l">
              <a:spcBef>
                <a:spcPts val="1200"/>
              </a:spcBef>
              <a:spcAft>
                <a:spcPts val="0"/>
              </a:spcAft>
              <a:buNone/>
            </a:pPr>
            <a:r>
              <a:rPr b="1" lang="en" sz="1400">
                <a:solidFill>
                  <a:srgbClr val="000000"/>
                </a:solidFill>
                <a:highlight>
                  <a:srgbClr val="FFFFFF"/>
                </a:highlight>
                <a:latin typeface="Nunito"/>
                <a:ea typeface="Nunito"/>
                <a:cs typeface="Nunito"/>
                <a:sym typeface="Nunito"/>
              </a:rPr>
              <a:t>1. Using Spring Initializr</a:t>
            </a:r>
            <a:r>
              <a:rPr lang="en" sz="1400">
                <a:solidFill>
                  <a:srgbClr val="000000"/>
                </a:solidFill>
                <a:highlight>
                  <a:srgbClr val="FFFFFF"/>
                </a:highlight>
                <a:latin typeface="Nunito"/>
                <a:ea typeface="Nunito"/>
                <a:cs typeface="Nunito"/>
                <a:sym typeface="Nunito"/>
              </a:rPr>
              <a:t> - Create a Spring boot project using Spring Initializr and import in any IDE - Eclipse STS, Eclipse, IntelliJ idea, VSCode, Netbeans</a:t>
            </a:r>
            <a:endParaRPr sz="1400">
              <a:solidFill>
                <a:srgbClr val="000000"/>
              </a:solidFill>
              <a:highlight>
                <a:srgbClr val="FFFFFF"/>
              </a:highlight>
              <a:latin typeface="Nunito"/>
              <a:ea typeface="Nunito"/>
              <a:cs typeface="Nunito"/>
              <a:sym typeface="Nunito"/>
            </a:endParaRPr>
          </a:p>
          <a:p>
            <a:pPr indent="0" lvl="0" marL="0" rtl="0" algn="l">
              <a:spcBef>
                <a:spcPts val="1200"/>
              </a:spcBef>
              <a:spcAft>
                <a:spcPts val="0"/>
              </a:spcAft>
              <a:buNone/>
            </a:pPr>
            <a:r>
              <a:rPr b="1" lang="en" sz="1400">
                <a:solidFill>
                  <a:srgbClr val="000000"/>
                </a:solidFill>
                <a:highlight>
                  <a:srgbClr val="FFFFFF"/>
                </a:highlight>
                <a:latin typeface="Nunito"/>
                <a:ea typeface="Nunito"/>
                <a:cs typeface="Nunito"/>
                <a:sym typeface="Nunito"/>
              </a:rPr>
              <a:t>2. Using Spring Starter Project in STS (Eclipse) - </a:t>
            </a:r>
            <a:r>
              <a:rPr lang="en" sz="1400">
                <a:solidFill>
                  <a:srgbClr val="000000"/>
                </a:solidFill>
                <a:highlight>
                  <a:srgbClr val="FFFFFF"/>
                </a:highlight>
                <a:latin typeface="Nunito"/>
                <a:ea typeface="Nunito"/>
                <a:cs typeface="Nunito"/>
                <a:sym typeface="Nunito"/>
              </a:rPr>
              <a:t>You can directly create a Spring boot project in STS using the Spring Starter Project option.</a:t>
            </a:r>
            <a:endParaRPr b="1" sz="1400">
              <a:solidFill>
                <a:srgbClr val="000000"/>
              </a:solidFill>
              <a:highlight>
                <a:srgbClr val="FFFFFF"/>
              </a:highlight>
              <a:latin typeface="Nunito"/>
              <a:ea typeface="Nunito"/>
              <a:cs typeface="Nunito"/>
              <a:sym typeface="Nunito"/>
            </a:endParaRPr>
          </a:p>
          <a:p>
            <a:pPr indent="0" lvl="0" marL="0" rtl="0" algn="l">
              <a:spcBef>
                <a:spcPts val="1200"/>
              </a:spcBef>
              <a:spcAft>
                <a:spcPts val="1200"/>
              </a:spcAft>
              <a:buNone/>
            </a:pPr>
            <a:r>
              <a:rPr b="1" lang="en" sz="1400">
                <a:solidFill>
                  <a:srgbClr val="000000"/>
                </a:solidFill>
                <a:highlight>
                  <a:srgbClr val="FFFFFF"/>
                </a:highlight>
                <a:latin typeface="Nunito"/>
                <a:ea typeface="Nunito"/>
                <a:cs typeface="Nunito"/>
                <a:sym typeface="Nunito"/>
              </a:rPr>
              <a:t>3. Spring Boot CLI -</a:t>
            </a:r>
            <a:r>
              <a:rPr lang="en" sz="1400">
                <a:solidFill>
                  <a:srgbClr val="000000"/>
                </a:solidFill>
                <a:highlight>
                  <a:srgbClr val="FFFFFF"/>
                </a:highlight>
                <a:latin typeface="Nunito"/>
                <a:ea typeface="Nunito"/>
                <a:cs typeface="Nunito"/>
                <a:sym typeface="Nunito"/>
              </a:rPr>
              <a:t> The Spring Boot CLI is a command-line tool that you can use if you want to quickly develop a Spring application.</a:t>
            </a:r>
            <a:endParaRPr sz="1400">
              <a:latin typeface="Nunito"/>
              <a:ea typeface="Nunito"/>
              <a:cs typeface="Nunito"/>
              <a:sym typeface="Nuni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0"/>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t>Explain @SpringBootApplication, @Configuration and @ComponentScan annotations</a:t>
            </a:r>
            <a:endParaRPr sz="2500"/>
          </a:p>
        </p:txBody>
      </p:sp>
      <p:sp>
        <p:nvSpPr>
          <p:cNvPr id="418" name="Google Shape;418;p6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4292E"/>
                </a:solidFill>
                <a:highlight>
                  <a:srgbClr val="FFFFFF"/>
                </a:highlight>
                <a:latin typeface="Nunito"/>
                <a:ea typeface="Nunito"/>
                <a:cs typeface="Nunito"/>
                <a:sym typeface="Nunito"/>
              </a:rPr>
              <a:t>The </a:t>
            </a:r>
            <a:r>
              <a:rPr b="1" lang="en" sz="1200">
                <a:solidFill>
                  <a:srgbClr val="3D85C6"/>
                </a:solidFill>
                <a:highlight>
                  <a:srgbClr val="FFFFFF"/>
                </a:highlight>
                <a:uFill>
                  <a:noFill/>
                </a:uFill>
                <a:latin typeface="Nunito"/>
                <a:ea typeface="Nunito"/>
                <a:cs typeface="Nunito"/>
                <a:sym typeface="Nunito"/>
                <a:hlinkClick r:id="rId3">
                  <a:extLst>
                    <a:ext uri="{A12FA001-AC4F-418D-AE19-62706E023703}">
                      <ahyp:hlinkClr val="tx"/>
                    </a:ext>
                  </a:extLst>
                </a:hlinkClick>
              </a:rPr>
              <a:t>@SpringBootApplication</a:t>
            </a:r>
            <a:r>
              <a:rPr lang="en" sz="1200">
                <a:solidFill>
                  <a:srgbClr val="24292E"/>
                </a:solidFill>
                <a:highlight>
                  <a:srgbClr val="FFFFFF"/>
                </a:highlight>
                <a:latin typeface="Nunito"/>
                <a:ea typeface="Nunito"/>
                <a:cs typeface="Nunito"/>
                <a:sym typeface="Nunito"/>
              </a:rPr>
              <a:t> annotation indicates a configuration class that declares one or more </a:t>
            </a:r>
            <a:r>
              <a:rPr b="1" lang="en" sz="1200">
                <a:solidFill>
                  <a:srgbClr val="24292E"/>
                </a:solidFill>
                <a:highlight>
                  <a:srgbClr val="FFFFFF"/>
                </a:highlight>
                <a:latin typeface="Nunito"/>
                <a:ea typeface="Nunito"/>
                <a:cs typeface="Nunito"/>
                <a:sym typeface="Nunito"/>
              </a:rPr>
              <a:t>@Bean</a:t>
            </a:r>
            <a:r>
              <a:rPr lang="en" sz="1200">
                <a:solidFill>
                  <a:srgbClr val="24292E"/>
                </a:solidFill>
                <a:highlight>
                  <a:srgbClr val="FFFFFF"/>
                </a:highlight>
                <a:latin typeface="Nunito"/>
                <a:ea typeface="Nunito"/>
                <a:cs typeface="Nunito"/>
                <a:sym typeface="Nunito"/>
              </a:rPr>
              <a:t> methods and also triggers auto-configuration and component scanning. This is a convenience annotation that is equivalent to declaring below three annotations:</a:t>
            </a:r>
            <a:endParaRPr sz="1200">
              <a:solidFill>
                <a:srgbClr val="24292E"/>
              </a:solidFill>
              <a:highlight>
                <a:srgbClr val="FFFFFF"/>
              </a:highlight>
              <a:latin typeface="Nunito"/>
              <a:ea typeface="Nunito"/>
              <a:cs typeface="Nunito"/>
              <a:sym typeface="Nunito"/>
            </a:endParaRPr>
          </a:p>
          <a:p>
            <a:pPr indent="0" lvl="0" marL="0" rtl="0" algn="l">
              <a:spcBef>
                <a:spcPts val="1200"/>
              </a:spcBef>
              <a:spcAft>
                <a:spcPts val="0"/>
              </a:spcAft>
              <a:buNone/>
            </a:pPr>
            <a:r>
              <a:rPr lang="en" sz="1200">
                <a:solidFill>
                  <a:srgbClr val="D73A49"/>
                </a:solidFill>
                <a:latin typeface="Nunito"/>
                <a:ea typeface="Nunito"/>
                <a:cs typeface="Nunito"/>
                <a:sym typeface="Nunito"/>
              </a:rPr>
              <a:t>@EnableAutoConfiguration</a:t>
            </a:r>
            <a:r>
              <a:rPr lang="en" sz="1200">
                <a:solidFill>
                  <a:srgbClr val="000000"/>
                </a:solidFill>
                <a:highlight>
                  <a:srgbClr val="FFFFFF"/>
                </a:highlight>
                <a:latin typeface="Nunito"/>
                <a:ea typeface="Nunito"/>
                <a:cs typeface="Nunito"/>
                <a:sym typeface="Nunito"/>
              </a:rPr>
              <a:t> annotation tells Spring Boot to “guess” how you want to configure Spring, based on the jar dependencies that you have added</a:t>
            </a:r>
            <a:endParaRPr sz="1200">
              <a:solidFill>
                <a:srgbClr val="24292E"/>
              </a:solidFill>
              <a:highlight>
                <a:srgbClr val="FFFFFF"/>
              </a:highlight>
              <a:latin typeface="Nunito"/>
              <a:ea typeface="Nunito"/>
              <a:cs typeface="Nunito"/>
              <a:sym typeface="Nunito"/>
            </a:endParaRPr>
          </a:p>
          <a:p>
            <a:pPr indent="0" lvl="0" marL="0" rtl="0" algn="l">
              <a:spcBef>
                <a:spcPts val="1200"/>
              </a:spcBef>
              <a:spcAft>
                <a:spcPts val="1200"/>
              </a:spcAft>
              <a:buNone/>
            </a:pPr>
            <a:r>
              <a:rPr lang="en" sz="1200">
                <a:solidFill>
                  <a:srgbClr val="D73A49"/>
                </a:solidFill>
                <a:latin typeface="Nunito"/>
                <a:ea typeface="Nunito"/>
                <a:cs typeface="Nunito"/>
                <a:sym typeface="Nunito"/>
              </a:rPr>
              <a:t>@Configuration</a:t>
            </a:r>
            <a:r>
              <a:rPr lang="en" sz="1200">
                <a:solidFill>
                  <a:srgbClr val="24292E"/>
                </a:solidFill>
                <a:highlight>
                  <a:srgbClr val="FFFFFF"/>
                </a:highlight>
                <a:latin typeface="Nunito"/>
                <a:ea typeface="Nunito"/>
                <a:cs typeface="Nunito"/>
                <a:sym typeface="Nunito"/>
              </a:rPr>
              <a:t> annotation is used to create a Java-based Spring configuration class that contains </a:t>
            </a:r>
            <a:r>
              <a:rPr b="1" lang="en" sz="1200">
                <a:solidFill>
                  <a:srgbClr val="3D85C6"/>
                </a:solidFill>
                <a:uFill>
                  <a:noFill/>
                </a:uFill>
                <a:latin typeface="Nunito"/>
                <a:ea typeface="Nunito"/>
                <a:cs typeface="Nunito"/>
                <a:sym typeface="Nunito"/>
                <a:hlinkClick r:id="rId4">
                  <a:extLst>
                    <a:ext uri="{A12FA001-AC4F-418D-AE19-62706E023703}">
                      <ahyp:hlinkClr val="tx"/>
                    </a:ext>
                  </a:extLst>
                </a:hlinkClick>
              </a:rPr>
              <a:t>@Bean</a:t>
            </a:r>
            <a:r>
              <a:rPr lang="en" sz="1200">
                <a:solidFill>
                  <a:srgbClr val="24292E"/>
                </a:solidFill>
                <a:highlight>
                  <a:srgbClr val="FFFFFF"/>
                </a:highlight>
                <a:latin typeface="Nunito"/>
                <a:ea typeface="Nunito"/>
                <a:cs typeface="Nunito"/>
                <a:sym typeface="Nunito"/>
              </a:rPr>
              <a:t> definition methods. So Spring container can process the class and generate Spring Beans to be used in the application.</a:t>
            </a:r>
            <a:br>
              <a:rPr lang="en" sz="1200">
                <a:solidFill>
                  <a:srgbClr val="24292E"/>
                </a:solidFill>
                <a:highlight>
                  <a:srgbClr val="FFFFFF"/>
                </a:highlight>
                <a:latin typeface="Nunito"/>
                <a:ea typeface="Nunito"/>
                <a:cs typeface="Nunito"/>
                <a:sym typeface="Nunito"/>
              </a:rPr>
            </a:br>
            <a:br>
              <a:rPr lang="en" sz="1200">
                <a:solidFill>
                  <a:srgbClr val="24292E"/>
                </a:solidFill>
                <a:highlight>
                  <a:srgbClr val="FFFFFF"/>
                </a:highlight>
                <a:latin typeface="Nunito"/>
                <a:ea typeface="Nunito"/>
                <a:cs typeface="Nunito"/>
                <a:sym typeface="Nunito"/>
              </a:rPr>
            </a:br>
            <a:r>
              <a:rPr lang="en" sz="1200">
                <a:solidFill>
                  <a:srgbClr val="24292E"/>
                </a:solidFill>
                <a:highlight>
                  <a:srgbClr val="FFFFFF"/>
                </a:highlight>
                <a:latin typeface="Nunito"/>
                <a:ea typeface="Nunito"/>
                <a:cs typeface="Nunito"/>
                <a:sym typeface="Nunito"/>
              </a:rPr>
              <a:t>The </a:t>
            </a:r>
            <a:r>
              <a:rPr lang="en" sz="1200">
                <a:solidFill>
                  <a:srgbClr val="D73A49"/>
                </a:solidFill>
                <a:latin typeface="Nunito"/>
                <a:ea typeface="Nunito"/>
                <a:cs typeface="Nunito"/>
                <a:sym typeface="Nunito"/>
              </a:rPr>
              <a:t>@ComponentScan</a:t>
            </a:r>
            <a:r>
              <a:rPr lang="en" sz="1200">
                <a:solidFill>
                  <a:srgbClr val="24292E"/>
                </a:solidFill>
                <a:highlight>
                  <a:srgbClr val="FFFFFF"/>
                </a:highlight>
                <a:latin typeface="Nunito"/>
                <a:ea typeface="Nunito"/>
                <a:cs typeface="Nunito"/>
                <a:sym typeface="Nunito"/>
              </a:rPr>
              <a:t> annotation is used with the </a:t>
            </a:r>
            <a:r>
              <a:rPr lang="en" sz="1200">
                <a:solidFill>
                  <a:srgbClr val="D73A49"/>
                </a:solidFill>
                <a:latin typeface="Nunito"/>
                <a:ea typeface="Nunito"/>
                <a:cs typeface="Nunito"/>
                <a:sym typeface="Nunito"/>
              </a:rPr>
              <a:t>@Configuration</a:t>
            </a:r>
            <a:r>
              <a:rPr lang="en" sz="1200">
                <a:solidFill>
                  <a:srgbClr val="24292E"/>
                </a:solidFill>
                <a:highlight>
                  <a:srgbClr val="FFFFFF"/>
                </a:highlight>
                <a:latin typeface="Nunito"/>
                <a:ea typeface="Nunito"/>
                <a:cs typeface="Nunito"/>
                <a:sym typeface="Nunito"/>
              </a:rPr>
              <a:t> annotation to tell Spring the packages to scan for annotated components.</a:t>
            </a:r>
            <a:endParaRPr sz="1200">
              <a:latin typeface="Nunito"/>
              <a:ea typeface="Nunito"/>
              <a:cs typeface="Nunito"/>
              <a:sym typeface="Nuni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Spring boot starters and name a few important Spring boot starter dependencies?</a:t>
            </a:r>
            <a:endParaRPr/>
          </a:p>
        </p:txBody>
      </p:sp>
      <p:sp>
        <p:nvSpPr>
          <p:cNvPr id="424" name="Google Shape;424;p6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24292E"/>
                </a:solidFill>
                <a:highlight>
                  <a:srgbClr val="FFFFFF"/>
                </a:highlight>
                <a:latin typeface="Nunito"/>
                <a:ea typeface="Nunito"/>
                <a:cs typeface="Nunito"/>
                <a:sym typeface="Nunito"/>
              </a:rPr>
              <a:t>Starters are a set of convenient dependency descriptors that you can include in your application</a:t>
            </a:r>
            <a:r>
              <a:rPr lang="en" sz="1400">
                <a:solidFill>
                  <a:srgbClr val="24292E"/>
                </a:solidFill>
                <a:highlight>
                  <a:srgbClr val="FFFFFF"/>
                </a:highlight>
                <a:latin typeface="Nunito"/>
                <a:ea typeface="Nunito"/>
                <a:cs typeface="Nunito"/>
                <a:sym typeface="Nunito"/>
              </a:rPr>
              <a:t>. You get a one-stop </a:t>
            </a:r>
            <a:r>
              <a:rPr b="1" lang="en" sz="1400">
                <a:solidFill>
                  <a:srgbClr val="24292E"/>
                </a:solidFill>
                <a:highlight>
                  <a:srgbClr val="FFFFFF"/>
                </a:highlight>
                <a:latin typeface="Nunito"/>
                <a:ea typeface="Nunito"/>
                <a:cs typeface="Nunito"/>
                <a:sym typeface="Nunito"/>
              </a:rPr>
              <a:t>shop for all the Spring and related technology that you need</a:t>
            </a:r>
            <a:r>
              <a:rPr lang="en" sz="1400">
                <a:solidFill>
                  <a:srgbClr val="24292E"/>
                </a:solidFill>
                <a:highlight>
                  <a:srgbClr val="FFFFFF"/>
                </a:highlight>
                <a:latin typeface="Nunito"/>
                <a:ea typeface="Nunito"/>
                <a:cs typeface="Nunito"/>
                <a:sym typeface="Nunito"/>
              </a:rPr>
              <a:t>, without having to hunt through sample code and copy-paste loads of dependency descriptors.</a:t>
            </a:r>
            <a:endParaRPr sz="1400">
              <a:solidFill>
                <a:srgbClr val="24292E"/>
              </a:solidFill>
              <a:highlight>
                <a:srgbClr val="FFFFFF"/>
              </a:highlight>
              <a:latin typeface="Nunito"/>
              <a:ea typeface="Nunito"/>
              <a:cs typeface="Nunito"/>
              <a:sym typeface="Nunito"/>
            </a:endParaRPr>
          </a:p>
          <a:p>
            <a:pPr indent="0" lvl="0" marL="0" marR="152400" rtl="0" algn="l">
              <a:lnSpc>
                <a:spcPct val="145000"/>
              </a:lnSpc>
              <a:spcBef>
                <a:spcPts val="1200"/>
              </a:spcBef>
              <a:spcAft>
                <a:spcPts val="1200"/>
              </a:spcAft>
              <a:buNone/>
            </a:pPr>
            <a:r>
              <a:rPr lang="en" sz="1400">
                <a:solidFill>
                  <a:srgbClr val="24292E"/>
                </a:solidFill>
                <a:highlight>
                  <a:srgbClr val="FFFFFF"/>
                </a:highlight>
                <a:latin typeface="Nunito"/>
                <a:ea typeface="Nunito"/>
                <a:cs typeface="Nunito"/>
                <a:sym typeface="Nunito"/>
              </a:rPr>
              <a:t>For example, while developing the REST service or web application; we can use libraries like Spring MVC, Tomcat, and Jackson – </a:t>
            </a:r>
            <a:r>
              <a:rPr b="1" lang="en" sz="1400">
                <a:solidFill>
                  <a:srgbClr val="24292E"/>
                </a:solidFill>
                <a:highlight>
                  <a:srgbClr val="FFFFFF"/>
                </a:highlight>
                <a:latin typeface="Nunito"/>
                <a:ea typeface="Nunito"/>
                <a:cs typeface="Nunito"/>
                <a:sym typeface="Nunito"/>
              </a:rPr>
              <a:t>a lot of dependencies for a single application.</a:t>
            </a:r>
            <a:r>
              <a:rPr lang="en" sz="1400">
                <a:solidFill>
                  <a:srgbClr val="24292E"/>
                </a:solidFill>
                <a:highlight>
                  <a:srgbClr val="FFFFFF"/>
                </a:highlight>
                <a:latin typeface="Nunito"/>
                <a:ea typeface="Nunito"/>
                <a:cs typeface="Nunito"/>
                <a:sym typeface="Nunito"/>
              </a:rPr>
              <a:t> </a:t>
            </a:r>
            <a:r>
              <a:rPr b="1" lang="en" sz="1400">
                <a:solidFill>
                  <a:srgbClr val="24292E"/>
                </a:solidFill>
                <a:latin typeface="Nunito"/>
                <a:ea typeface="Nunito"/>
                <a:cs typeface="Nunito"/>
                <a:sym typeface="Nunito"/>
              </a:rPr>
              <a:t>spring-boot-starter-web</a:t>
            </a:r>
            <a:r>
              <a:rPr lang="en" sz="1400">
                <a:solidFill>
                  <a:srgbClr val="24292E"/>
                </a:solidFill>
                <a:highlight>
                  <a:srgbClr val="FFFFFF"/>
                </a:highlight>
                <a:latin typeface="Nunito"/>
                <a:ea typeface="Nunito"/>
                <a:cs typeface="Nunito"/>
                <a:sym typeface="Nunito"/>
              </a:rPr>
              <a:t> starter can help to reduce the number of manually added dependencies just by adding </a:t>
            </a:r>
            <a:r>
              <a:rPr b="1" lang="en" sz="1400">
                <a:solidFill>
                  <a:srgbClr val="24292E"/>
                </a:solidFill>
                <a:latin typeface="Nunito"/>
                <a:ea typeface="Nunito"/>
                <a:cs typeface="Nunito"/>
                <a:sym typeface="Nunito"/>
              </a:rPr>
              <a:t>spring-boot-starter-web</a:t>
            </a:r>
            <a:r>
              <a:rPr lang="en" sz="1400">
                <a:solidFill>
                  <a:srgbClr val="24292E"/>
                </a:solidFill>
                <a:highlight>
                  <a:srgbClr val="FFFFFF"/>
                </a:highlight>
                <a:latin typeface="Nunito"/>
                <a:ea typeface="Nunito"/>
                <a:cs typeface="Nunito"/>
                <a:sym typeface="Nunito"/>
              </a:rPr>
              <a:t> dependency. </a:t>
            </a:r>
            <a:endParaRPr sz="1400">
              <a:solidFill>
                <a:srgbClr val="24292E"/>
              </a:solidFill>
              <a:highlight>
                <a:srgbClr val="FFFFFF"/>
              </a:highlight>
              <a:latin typeface="Nunito"/>
              <a:ea typeface="Nunito"/>
              <a:cs typeface="Nunito"/>
              <a:sym typeface="Nuni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2"/>
          <p:cNvSpPr txBox="1"/>
          <p:nvPr>
            <p:ph idx="1" type="body"/>
          </p:nvPr>
        </p:nvSpPr>
        <p:spPr>
          <a:xfrm>
            <a:off x="819150" y="690000"/>
            <a:ext cx="7505700" cy="37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24292E"/>
                </a:solidFill>
                <a:latin typeface="Nunito"/>
                <a:ea typeface="Nunito"/>
                <a:cs typeface="Nunito"/>
                <a:sym typeface="Nunito"/>
              </a:rPr>
              <a:t>Few commonly used Spring boot starters:</a:t>
            </a:r>
            <a:endParaRPr sz="1600">
              <a:solidFill>
                <a:srgbClr val="24292E"/>
              </a:solidFill>
              <a:latin typeface="Nunito"/>
              <a:ea typeface="Nunito"/>
              <a:cs typeface="Nunito"/>
              <a:sym typeface="Nunito"/>
            </a:endParaRPr>
          </a:p>
          <a:p>
            <a:pPr indent="0" lvl="0" marL="0" rtl="0" algn="l">
              <a:spcBef>
                <a:spcPts val="1200"/>
              </a:spcBef>
              <a:spcAft>
                <a:spcPts val="0"/>
              </a:spcAft>
              <a:buNone/>
            </a:pPr>
            <a:r>
              <a:rPr lang="en" sz="1600">
                <a:solidFill>
                  <a:srgbClr val="D73A49"/>
                </a:solidFill>
                <a:latin typeface="Nunito"/>
                <a:ea typeface="Nunito"/>
                <a:cs typeface="Nunito"/>
                <a:sym typeface="Nunito"/>
              </a:rPr>
              <a:t>spring-boot-starter</a:t>
            </a:r>
            <a:r>
              <a:rPr lang="en" sz="1600">
                <a:solidFill>
                  <a:srgbClr val="24292E"/>
                </a:solidFill>
                <a:latin typeface="Nunito"/>
                <a:ea typeface="Nunito"/>
                <a:cs typeface="Nunito"/>
                <a:sym typeface="Nunito"/>
              </a:rPr>
              <a:t>: core starter, including auto-configuration support, logging, and YAML</a:t>
            </a:r>
            <a:endParaRPr sz="1600">
              <a:solidFill>
                <a:srgbClr val="24292E"/>
              </a:solidFill>
              <a:latin typeface="Nunito"/>
              <a:ea typeface="Nunito"/>
              <a:cs typeface="Nunito"/>
              <a:sym typeface="Nunito"/>
            </a:endParaRPr>
          </a:p>
          <a:p>
            <a:pPr indent="0" lvl="0" marL="0" rtl="0" algn="l">
              <a:spcBef>
                <a:spcPts val="1200"/>
              </a:spcBef>
              <a:spcAft>
                <a:spcPts val="0"/>
              </a:spcAft>
              <a:buNone/>
            </a:pPr>
            <a:r>
              <a:rPr lang="en" sz="1600">
                <a:solidFill>
                  <a:srgbClr val="D73A49"/>
                </a:solidFill>
                <a:latin typeface="Nunito"/>
                <a:ea typeface="Nunito"/>
                <a:cs typeface="Nunito"/>
                <a:sym typeface="Nunito"/>
              </a:rPr>
              <a:t>spring-boot-starter-aop</a:t>
            </a:r>
            <a:r>
              <a:rPr lang="en" sz="1600">
                <a:solidFill>
                  <a:srgbClr val="24292E"/>
                </a:solidFill>
                <a:latin typeface="Nunito"/>
                <a:ea typeface="Nunito"/>
                <a:cs typeface="Nunito"/>
                <a:sym typeface="Nunito"/>
              </a:rPr>
              <a:t>: for aspect-oriented programming with Spring AOP and AspectJ</a:t>
            </a:r>
            <a:endParaRPr sz="1600">
              <a:solidFill>
                <a:srgbClr val="24292E"/>
              </a:solidFill>
              <a:latin typeface="Nunito"/>
              <a:ea typeface="Nunito"/>
              <a:cs typeface="Nunito"/>
              <a:sym typeface="Nunito"/>
            </a:endParaRPr>
          </a:p>
          <a:p>
            <a:pPr indent="0" lvl="0" marL="0" rtl="0" algn="l">
              <a:spcBef>
                <a:spcPts val="1200"/>
              </a:spcBef>
              <a:spcAft>
                <a:spcPts val="0"/>
              </a:spcAft>
              <a:buNone/>
            </a:pPr>
            <a:r>
              <a:rPr lang="en" sz="1600">
                <a:solidFill>
                  <a:srgbClr val="D73A49"/>
                </a:solidFill>
                <a:latin typeface="Nunito"/>
                <a:ea typeface="Nunito"/>
                <a:cs typeface="Nunito"/>
                <a:sym typeface="Nunito"/>
              </a:rPr>
              <a:t>spring-boot-starter-data-jpa</a:t>
            </a:r>
            <a:r>
              <a:rPr lang="en" sz="1600">
                <a:solidFill>
                  <a:srgbClr val="24292E"/>
                </a:solidFill>
                <a:latin typeface="Nunito"/>
                <a:ea typeface="Nunito"/>
                <a:cs typeface="Nunito"/>
                <a:sym typeface="Nunito"/>
              </a:rPr>
              <a:t>: for using Spring Data JPA with Hibernate</a:t>
            </a:r>
            <a:endParaRPr sz="1600">
              <a:solidFill>
                <a:srgbClr val="24292E"/>
              </a:solidFill>
              <a:latin typeface="Nunito"/>
              <a:ea typeface="Nunito"/>
              <a:cs typeface="Nunito"/>
              <a:sym typeface="Nunito"/>
            </a:endParaRPr>
          </a:p>
          <a:p>
            <a:pPr indent="0" lvl="0" marL="0" rtl="0" algn="l">
              <a:spcBef>
                <a:spcPts val="1200"/>
              </a:spcBef>
              <a:spcAft>
                <a:spcPts val="0"/>
              </a:spcAft>
              <a:buNone/>
            </a:pPr>
            <a:r>
              <a:rPr lang="en" sz="1600">
                <a:solidFill>
                  <a:srgbClr val="D73A49"/>
                </a:solidFill>
                <a:latin typeface="Nunito"/>
                <a:ea typeface="Nunito"/>
                <a:cs typeface="Nunito"/>
                <a:sym typeface="Nunito"/>
              </a:rPr>
              <a:t>spring-boot-starter-security</a:t>
            </a:r>
            <a:r>
              <a:rPr lang="en" sz="1600">
                <a:solidFill>
                  <a:srgbClr val="24292E"/>
                </a:solidFill>
                <a:latin typeface="Nunito"/>
                <a:ea typeface="Nunito"/>
                <a:cs typeface="Nunito"/>
                <a:sym typeface="Nunito"/>
              </a:rPr>
              <a:t>: for using Spring Security</a:t>
            </a:r>
            <a:endParaRPr sz="1600">
              <a:solidFill>
                <a:srgbClr val="24292E"/>
              </a:solidFill>
              <a:latin typeface="Nunito"/>
              <a:ea typeface="Nunito"/>
              <a:cs typeface="Nunito"/>
              <a:sym typeface="Nunito"/>
            </a:endParaRPr>
          </a:p>
          <a:p>
            <a:pPr indent="0" lvl="0" marL="0" rtl="0" algn="l">
              <a:spcBef>
                <a:spcPts val="1200"/>
              </a:spcBef>
              <a:spcAft>
                <a:spcPts val="0"/>
              </a:spcAft>
              <a:buNone/>
            </a:pPr>
            <a:r>
              <a:rPr lang="en" sz="1600">
                <a:solidFill>
                  <a:srgbClr val="D73A49"/>
                </a:solidFill>
                <a:latin typeface="Nunito"/>
                <a:ea typeface="Nunito"/>
                <a:cs typeface="Nunito"/>
                <a:sym typeface="Nunito"/>
              </a:rPr>
              <a:t>spring-boot-starter-test</a:t>
            </a:r>
            <a:r>
              <a:rPr lang="en" sz="1600">
                <a:solidFill>
                  <a:srgbClr val="24292E"/>
                </a:solidFill>
                <a:latin typeface="Nunito"/>
                <a:ea typeface="Nunito"/>
                <a:cs typeface="Nunito"/>
                <a:sym typeface="Nunito"/>
              </a:rPr>
              <a:t>: for testing Spring Boot applications</a:t>
            </a:r>
            <a:endParaRPr sz="1600">
              <a:solidFill>
                <a:srgbClr val="24292E"/>
              </a:solidFill>
              <a:latin typeface="Nunito"/>
              <a:ea typeface="Nunito"/>
              <a:cs typeface="Nunito"/>
              <a:sym typeface="Nunito"/>
            </a:endParaRPr>
          </a:p>
          <a:p>
            <a:pPr indent="0" lvl="0" marL="0" rtl="0" algn="l">
              <a:spcBef>
                <a:spcPts val="1200"/>
              </a:spcBef>
              <a:spcAft>
                <a:spcPts val="1200"/>
              </a:spcAft>
              <a:buNone/>
            </a:pPr>
            <a:r>
              <a:rPr lang="en" sz="1600">
                <a:solidFill>
                  <a:srgbClr val="D73A49"/>
                </a:solidFill>
                <a:latin typeface="Nunito"/>
                <a:ea typeface="Nunito"/>
                <a:cs typeface="Nunito"/>
                <a:sym typeface="Nunito"/>
              </a:rPr>
              <a:t>spring-boot-starter-web</a:t>
            </a:r>
            <a:r>
              <a:rPr lang="en" sz="1600">
                <a:solidFill>
                  <a:srgbClr val="24292E"/>
                </a:solidFill>
                <a:latin typeface="Nunito"/>
                <a:ea typeface="Nunito"/>
                <a:cs typeface="Nunito"/>
                <a:sym typeface="Nunito"/>
              </a:rPr>
              <a:t>: for building web, including RESTful, applications using Spring MVC.</a:t>
            </a:r>
            <a:endParaRPr sz="1600">
              <a:latin typeface="Nunito"/>
              <a:ea typeface="Nunito"/>
              <a:cs typeface="Nunito"/>
              <a:sym typeface="Nuni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Spring Enable Creating Production-Ready Applications in Quick Time?</a:t>
            </a:r>
            <a:endParaRPr/>
          </a:p>
        </p:txBody>
      </p:sp>
      <p:sp>
        <p:nvSpPr>
          <p:cNvPr id="435" name="Google Shape;435;p63"/>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4292E"/>
                </a:solidFill>
                <a:highlight>
                  <a:srgbClr val="FFFFFF"/>
                </a:highlight>
                <a:latin typeface="Nunito"/>
                <a:ea typeface="Nunito"/>
                <a:cs typeface="Nunito"/>
                <a:sym typeface="Nunito"/>
              </a:rPr>
              <a:t>Spring Boot aims to enable production-ready applications in a quick time. Spring Boot provides a few non-functional features out of the box like caching, logging, monitoring, and embedded servers.</a:t>
            </a:r>
            <a:endParaRPr sz="1200">
              <a:solidFill>
                <a:srgbClr val="24292E"/>
              </a:solidFill>
              <a:highlight>
                <a:srgbClr val="FFFFFF"/>
              </a:highlight>
              <a:latin typeface="Nunito"/>
              <a:ea typeface="Nunito"/>
              <a:cs typeface="Nunito"/>
              <a:sym typeface="Nunito"/>
            </a:endParaRPr>
          </a:p>
          <a:p>
            <a:pPr indent="-304800" lvl="0" marL="457200" rtl="0" algn="l">
              <a:spcBef>
                <a:spcPts val="1200"/>
              </a:spcBef>
              <a:spcAft>
                <a:spcPts val="0"/>
              </a:spcAft>
              <a:buClr>
                <a:srgbClr val="24292E"/>
              </a:buClr>
              <a:buSzPts val="1200"/>
              <a:buFont typeface="Arial"/>
              <a:buAutoNum type="arabicPeriod"/>
            </a:pPr>
            <a:r>
              <a:rPr b="1" lang="en" sz="1200">
                <a:solidFill>
                  <a:srgbClr val="24292E"/>
                </a:solidFill>
                <a:highlight>
                  <a:srgbClr val="FFFFFF"/>
                </a:highlight>
                <a:latin typeface="Nunito"/>
                <a:ea typeface="Nunito"/>
                <a:cs typeface="Nunito"/>
                <a:sym typeface="Nunito"/>
              </a:rPr>
              <a:t>spring-boot-starter-actuator</a:t>
            </a:r>
            <a:r>
              <a:rPr lang="en" sz="1200">
                <a:solidFill>
                  <a:srgbClr val="24292E"/>
                </a:solidFill>
                <a:highlight>
                  <a:srgbClr val="FFFFFF"/>
                </a:highlight>
                <a:latin typeface="Nunito"/>
                <a:ea typeface="Nunito"/>
                <a:cs typeface="Nunito"/>
                <a:sym typeface="Nunito"/>
              </a:rPr>
              <a:t> - To use advanced features like monitoring &amp; tracing to your application out of the box</a:t>
            </a:r>
            <a:endParaRPr sz="1200">
              <a:solidFill>
                <a:srgbClr val="24292E"/>
              </a:solidFill>
              <a:highlight>
                <a:srgbClr val="FFFFFF"/>
              </a:highlight>
              <a:latin typeface="Nunito"/>
              <a:ea typeface="Nunito"/>
              <a:cs typeface="Nunito"/>
              <a:sym typeface="Nunito"/>
            </a:endParaRPr>
          </a:p>
          <a:p>
            <a:pPr indent="-304800" lvl="0" marL="457200" rtl="0" algn="l">
              <a:spcBef>
                <a:spcPts val="0"/>
              </a:spcBef>
              <a:spcAft>
                <a:spcPts val="0"/>
              </a:spcAft>
              <a:buClr>
                <a:srgbClr val="24292E"/>
              </a:buClr>
              <a:buSzPts val="1200"/>
              <a:buFont typeface="Arial"/>
              <a:buAutoNum type="arabicPeriod"/>
            </a:pPr>
            <a:r>
              <a:rPr b="1" lang="en" sz="1200">
                <a:solidFill>
                  <a:srgbClr val="24292E"/>
                </a:solidFill>
                <a:highlight>
                  <a:srgbClr val="FFFFFF"/>
                </a:highlight>
                <a:latin typeface="Nunito"/>
                <a:ea typeface="Nunito"/>
                <a:cs typeface="Nunito"/>
                <a:sym typeface="Nunito"/>
              </a:rPr>
              <a:t>spring-boot-starter-undertow, spring-boot-starter-jetty, spring-boot-starter-tomcat</a:t>
            </a:r>
            <a:r>
              <a:rPr lang="en" sz="1200">
                <a:solidFill>
                  <a:srgbClr val="24292E"/>
                </a:solidFill>
                <a:highlight>
                  <a:srgbClr val="FFFFFF"/>
                </a:highlight>
                <a:latin typeface="Nunito"/>
                <a:ea typeface="Nunito"/>
                <a:cs typeface="Nunito"/>
                <a:sym typeface="Nunito"/>
              </a:rPr>
              <a:t> - To pick your specific choice of Embedded Servlet Container</a:t>
            </a:r>
            <a:endParaRPr sz="1200">
              <a:solidFill>
                <a:srgbClr val="24292E"/>
              </a:solidFill>
              <a:highlight>
                <a:srgbClr val="FFFFFF"/>
              </a:highlight>
              <a:latin typeface="Nunito"/>
              <a:ea typeface="Nunito"/>
              <a:cs typeface="Nunito"/>
              <a:sym typeface="Nunito"/>
            </a:endParaRPr>
          </a:p>
          <a:p>
            <a:pPr indent="-304800" lvl="0" marL="457200" rtl="0" algn="l">
              <a:spcBef>
                <a:spcPts val="0"/>
              </a:spcBef>
              <a:spcAft>
                <a:spcPts val="0"/>
              </a:spcAft>
              <a:buClr>
                <a:srgbClr val="24292E"/>
              </a:buClr>
              <a:buSzPts val="1200"/>
              <a:buFont typeface="Arial"/>
              <a:buAutoNum type="arabicPeriod"/>
            </a:pPr>
            <a:r>
              <a:rPr b="1" lang="en" sz="1200">
                <a:solidFill>
                  <a:srgbClr val="24292E"/>
                </a:solidFill>
                <a:highlight>
                  <a:srgbClr val="FFFFFF"/>
                </a:highlight>
                <a:latin typeface="Nunito"/>
                <a:ea typeface="Nunito"/>
                <a:cs typeface="Nunito"/>
                <a:sym typeface="Nunito"/>
              </a:rPr>
              <a:t>spring-boot-starter-logging</a:t>
            </a:r>
            <a:r>
              <a:rPr lang="en" sz="1200">
                <a:solidFill>
                  <a:srgbClr val="24292E"/>
                </a:solidFill>
                <a:highlight>
                  <a:srgbClr val="FFFFFF"/>
                </a:highlight>
                <a:latin typeface="Nunito"/>
                <a:ea typeface="Nunito"/>
                <a:cs typeface="Nunito"/>
                <a:sym typeface="Nunito"/>
              </a:rPr>
              <a:t> - For Logging using logback</a:t>
            </a:r>
            <a:endParaRPr sz="1200">
              <a:solidFill>
                <a:srgbClr val="24292E"/>
              </a:solidFill>
              <a:highlight>
                <a:srgbClr val="FFFFFF"/>
              </a:highlight>
              <a:latin typeface="Nunito"/>
              <a:ea typeface="Nunito"/>
              <a:cs typeface="Nunito"/>
              <a:sym typeface="Nunito"/>
            </a:endParaRPr>
          </a:p>
          <a:p>
            <a:pPr indent="-304800" lvl="0" marL="457200" rtl="0" algn="l">
              <a:spcBef>
                <a:spcPts val="0"/>
              </a:spcBef>
              <a:spcAft>
                <a:spcPts val="0"/>
              </a:spcAft>
              <a:buClr>
                <a:srgbClr val="24292E"/>
              </a:buClr>
              <a:buSzPts val="1200"/>
              <a:buFont typeface="Arial"/>
              <a:buAutoNum type="arabicPeriod"/>
            </a:pPr>
            <a:r>
              <a:rPr b="1" lang="en" sz="1200">
                <a:solidFill>
                  <a:srgbClr val="24292E"/>
                </a:solidFill>
                <a:highlight>
                  <a:srgbClr val="FFFFFF"/>
                </a:highlight>
                <a:latin typeface="Nunito"/>
                <a:ea typeface="Nunito"/>
                <a:cs typeface="Nunito"/>
                <a:sym typeface="Nunito"/>
              </a:rPr>
              <a:t>spring-boot-starter-cache</a:t>
            </a:r>
            <a:r>
              <a:rPr lang="en" sz="1200">
                <a:solidFill>
                  <a:srgbClr val="24292E"/>
                </a:solidFill>
                <a:highlight>
                  <a:srgbClr val="FFFFFF"/>
                </a:highlight>
                <a:latin typeface="Nunito"/>
                <a:ea typeface="Nunito"/>
                <a:cs typeface="Nunito"/>
                <a:sym typeface="Nunito"/>
              </a:rPr>
              <a:t> - Enabling Spring Framework’s caching support</a:t>
            </a:r>
            <a:endParaRPr sz="1200">
              <a:latin typeface="Nunito"/>
              <a:ea typeface="Nunito"/>
              <a:cs typeface="Nunito"/>
              <a:sym typeface="Nuni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Minimum Baseline Java Version for Spring Boot 3?</a:t>
            </a:r>
            <a:endParaRPr/>
          </a:p>
        </p:txBody>
      </p:sp>
      <p:sp>
        <p:nvSpPr>
          <p:cNvPr id="441" name="Google Shape;441;p6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24292E"/>
                </a:solidFill>
                <a:highlight>
                  <a:srgbClr val="FFFFFF"/>
                </a:highlight>
                <a:latin typeface="Nunito"/>
                <a:ea typeface="Nunito"/>
                <a:cs typeface="Nunito"/>
                <a:sym typeface="Nunito"/>
              </a:rPr>
              <a:t>Spring Boot 3.0 requires </a:t>
            </a:r>
            <a:r>
              <a:rPr b="1" lang="en" sz="2400">
                <a:solidFill>
                  <a:srgbClr val="24292E"/>
                </a:solidFill>
                <a:highlight>
                  <a:srgbClr val="FFFFFF"/>
                </a:highlight>
                <a:latin typeface="Nunito"/>
                <a:ea typeface="Nunito"/>
                <a:cs typeface="Nunito"/>
                <a:sym typeface="Nunito"/>
              </a:rPr>
              <a:t>Java 17 or later</a:t>
            </a:r>
            <a:r>
              <a:rPr lang="en" sz="2400">
                <a:solidFill>
                  <a:srgbClr val="24292E"/>
                </a:solidFill>
                <a:highlight>
                  <a:srgbClr val="FFFFFF"/>
                </a:highlight>
                <a:latin typeface="Nunito"/>
                <a:ea typeface="Nunito"/>
                <a:cs typeface="Nunito"/>
                <a:sym typeface="Nunito"/>
              </a:rPr>
              <a:t>. It also requires Spring Framework 6.0.</a:t>
            </a:r>
            <a:endParaRPr sz="2400">
              <a:latin typeface="Nunito"/>
              <a:ea typeface="Nunito"/>
              <a:cs typeface="Nunito"/>
              <a:sym typeface="Nuni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Different Ways of Running Spring Boot Application?</a:t>
            </a:r>
            <a:endParaRPr/>
          </a:p>
        </p:txBody>
      </p:sp>
      <p:sp>
        <p:nvSpPr>
          <p:cNvPr id="447" name="Google Shape;447;p6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24292E"/>
                </a:solidFill>
                <a:highlight>
                  <a:srgbClr val="FFFFFF"/>
                </a:highlight>
                <a:latin typeface="Nunito"/>
                <a:ea typeface="Nunito"/>
                <a:cs typeface="Nunito"/>
                <a:sym typeface="Nunito"/>
              </a:rPr>
              <a:t>Spring boot offers several ways of running Spring boot applications. I would like to suggest five ways we can run Spring Boot Application</a:t>
            </a:r>
            <a:endParaRPr sz="1600">
              <a:solidFill>
                <a:srgbClr val="24292E"/>
              </a:solidFill>
              <a:highlight>
                <a:srgbClr val="FFFFFF"/>
              </a:highlight>
              <a:latin typeface="Nunito"/>
              <a:ea typeface="Nunito"/>
              <a:cs typeface="Nunito"/>
              <a:sym typeface="Nunito"/>
            </a:endParaRPr>
          </a:p>
          <a:p>
            <a:pPr indent="-330200" lvl="0" marL="457200" rtl="0" algn="l">
              <a:spcBef>
                <a:spcPts val="1200"/>
              </a:spcBef>
              <a:spcAft>
                <a:spcPts val="0"/>
              </a:spcAft>
              <a:buClr>
                <a:srgbClr val="EF4444"/>
              </a:buClr>
              <a:buSzPts val="1600"/>
              <a:buFont typeface="Nunito"/>
              <a:buAutoNum type="arabicPeriod"/>
            </a:pPr>
            <a:r>
              <a:rPr lang="en" sz="1600">
                <a:solidFill>
                  <a:srgbClr val="EF4444"/>
                </a:solidFill>
                <a:highlight>
                  <a:srgbClr val="FFFFFF"/>
                </a:highlight>
                <a:latin typeface="Nunito"/>
                <a:ea typeface="Nunito"/>
                <a:cs typeface="Nunito"/>
                <a:sym typeface="Nunito"/>
              </a:rPr>
              <a:t>Running from an IDE</a:t>
            </a:r>
            <a:endParaRPr sz="1600">
              <a:solidFill>
                <a:srgbClr val="EF4444"/>
              </a:solidFill>
              <a:highlight>
                <a:srgbClr val="FFFFFF"/>
              </a:highlight>
              <a:latin typeface="Nunito"/>
              <a:ea typeface="Nunito"/>
              <a:cs typeface="Nunito"/>
              <a:sym typeface="Nunito"/>
            </a:endParaRPr>
          </a:p>
          <a:p>
            <a:pPr indent="-330200" lvl="0" marL="457200" rtl="0" algn="l">
              <a:spcBef>
                <a:spcPts val="0"/>
              </a:spcBef>
              <a:spcAft>
                <a:spcPts val="0"/>
              </a:spcAft>
              <a:buClr>
                <a:srgbClr val="EF4444"/>
              </a:buClr>
              <a:buSzPts val="1600"/>
              <a:buFont typeface="Nunito"/>
              <a:buAutoNum type="arabicPeriod"/>
            </a:pPr>
            <a:r>
              <a:rPr lang="en" sz="1600">
                <a:solidFill>
                  <a:srgbClr val="EF4444"/>
                </a:solidFill>
                <a:highlight>
                  <a:srgbClr val="FFFFFF"/>
                </a:highlight>
                <a:latin typeface="Nunito"/>
                <a:ea typeface="Nunito"/>
                <a:cs typeface="Nunito"/>
                <a:sym typeface="Nunito"/>
              </a:rPr>
              <a:t>Running as a Packaged Application</a:t>
            </a:r>
            <a:endParaRPr sz="1600">
              <a:solidFill>
                <a:srgbClr val="EF4444"/>
              </a:solidFill>
              <a:highlight>
                <a:srgbClr val="FFFFFF"/>
              </a:highlight>
              <a:latin typeface="Nunito"/>
              <a:ea typeface="Nunito"/>
              <a:cs typeface="Nunito"/>
              <a:sym typeface="Nunito"/>
            </a:endParaRPr>
          </a:p>
          <a:p>
            <a:pPr indent="-330200" lvl="0" marL="457200" rtl="0" algn="l">
              <a:spcBef>
                <a:spcPts val="0"/>
              </a:spcBef>
              <a:spcAft>
                <a:spcPts val="0"/>
              </a:spcAft>
              <a:buClr>
                <a:srgbClr val="EF4444"/>
              </a:buClr>
              <a:buSzPts val="1600"/>
              <a:buFont typeface="Nunito"/>
              <a:buAutoNum type="arabicPeriod"/>
            </a:pPr>
            <a:r>
              <a:rPr lang="en" sz="1600">
                <a:solidFill>
                  <a:srgbClr val="EF4444"/>
                </a:solidFill>
                <a:highlight>
                  <a:srgbClr val="FFFFFF"/>
                </a:highlight>
                <a:latin typeface="Nunito"/>
                <a:ea typeface="Nunito"/>
                <a:cs typeface="Nunito"/>
                <a:sym typeface="Nunito"/>
              </a:rPr>
              <a:t>Using the Maven Plugin</a:t>
            </a:r>
            <a:endParaRPr sz="1600">
              <a:solidFill>
                <a:srgbClr val="EF4444"/>
              </a:solidFill>
              <a:highlight>
                <a:srgbClr val="FFFFFF"/>
              </a:highlight>
              <a:latin typeface="Nunito"/>
              <a:ea typeface="Nunito"/>
              <a:cs typeface="Nunito"/>
              <a:sym typeface="Nunito"/>
            </a:endParaRPr>
          </a:p>
          <a:p>
            <a:pPr indent="-330200" lvl="0" marL="457200" rtl="0" algn="l">
              <a:spcBef>
                <a:spcPts val="0"/>
              </a:spcBef>
              <a:spcAft>
                <a:spcPts val="0"/>
              </a:spcAft>
              <a:buClr>
                <a:srgbClr val="EF4444"/>
              </a:buClr>
              <a:buSzPts val="1600"/>
              <a:buFont typeface="Nunito"/>
              <a:buAutoNum type="arabicPeriod"/>
            </a:pPr>
            <a:r>
              <a:rPr lang="en" sz="1600">
                <a:solidFill>
                  <a:srgbClr val="EF4444"/>
                </a:solidFill>
                <a:highlight>
                  <a:srgbClr val="FFFFFF"/>
                </a:highlight>
                <a:latin typeface="Nunito"/>
                <a:ea typeface="Nunito"/>
                <a:cs typeface="Nunito"/>
                <a:sym typeface="Nunito"/>
              </a:rPr>
              <a:t>Using External Tomcat</a:t>
            </a:r>
            <a:endParaRPr sz="1600">
              <a:solidFill>
                <a:srgbClr val="EF4444"/>
              </a:solidFill>
              <a:highlight>
                <a:srgbClr val="FFFFFF"/>
              </a:highlight>
              <a:latin typeface="Nunito"/>
              <a:ea typeface="Nunito"/>
              <a:cs typeface="Nunito"/>
              <a:sym typeface="Nunito"/>
            </a:endParaRPr>
          </a:p>
          <a:p>
            <a:pPr indent="-330200" lvl="0" marL="457200" rtl="0" algn="l">
              <a:spcBef>
                <a:spcPts val="0"/>
              </a:spcBef>
              <a:spcAft>
                <a:spcPts val="0"/>
              </a:spcAft>
              <a:buClr>
                <a:srgbClr val="EF4444"/>
              </a:buClr>
              <a:buSzPts val="1600"/>
              <a:buFont typeface="Nunito"/>
              <a:buAutoNum type="arabicPeriod"/>
            </a:pPr>
            <a:r>
              <a:rPr lang="en" sz="1600">
                <a:solidFill>
                  <a:srgbClr val="EF4444"/>
                </a:solidFill>
                <a:highlight>
                  <a:srgbClr val="FFFFFF"/>
                </a:highlight>
                <a:latin typeface="Nunito"/>
                <a:ea typeface="Nunito"/>
                <a:cs typeface="Nunito"/>
                <a:sym typeface="Nunito"/>
              </a:rPr>
              <a:t>Using the Gradle Plugin</a:t>
            </a:r>
            <a:endParaRPr sz="1600">
              <a:solidFill>
                <a:srgbClr val="EF4444"/>
              </a:solidFill>
              <a:latin typeface="Nunito"/>
              <a:ea typeface="Nunito"/>
              <a:cs typeface="Nunito"/>
              <a:sym typeface="Nuni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Name all Spring Boot Annotations?</a:t>
            </a:r>
            <a:endParaRPr/>
          </a:p>
        </p:txBody>
      </p:sp>
      <p:sp>
        <p:nvSpPr>
          <p:cNvPr id="453" name="Google Shape;453;p6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@SpringBootApplication</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@EnableAutoConfiguration</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@ConditionalOnClass and @</a:t>
            </a:r>
            <a:r>
              <a:rPr lang="en" sz="1400">
                <a:latin typeface="Nunito"/>
                <a:ea typeface="Nunito"/>
                <a:cs typeface="Nunito"/>
                <a:sym typeface="Nunito"/>
              </a:rPr>
              <a:t>ConditionalOnMissingClass</a:t>
            </a:r>
            <a:r>
              <a:rPr lang="en" sz="1400">
                <a:latin typeface="Nunito"/>
                <a:ea typeface="Nunito"/>
                <a:cs typeface="Nunito"/>
                <a:sym typeface="Nunito"/>
              </a:rPr>
              <a:t> </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@ConditionalOnBean and @ConditionalOnMissingBean</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@ConditionalOnProperty</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@ConditionalOnResource</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@ConditionalOnWebApplication and @ConditionalOnNotWebApplication</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@ConditionalExpression</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@Conditional</a:t>
            </a:r>
            <a:endParaRPr sz="1400">
              <a:latin typeface="Nunito"/>
              <a:ea typeface="Nunito"/>
              <a:cs typeface="Nunito"/>
              <a:sym typeface="Nunito"/>
            </a:endParaRPr>
          </a:p>
          <a:p>
            <a:pPr indent="-317500" lvl="0" marL="457200" rtl="0" algn="l">
              <a:spcBef>
                <a:spcPts val="0"/>
              </a:spcBef>
              <a:spcAft>
                <a:spcPts val="0"/>
              </a:spcAft>
              <a:buSzPts val="1400"/>
              <a:buFont typeface="Nunito"/>
              <a:buAutoNum type="arabicPeriod"/>
            </a:pPr>
            <a:r>
              <a:rPr lang="en" sz="1400">
                <a:latin typeface="Nunito"/>
                <a:ea typeface="Nunito"/>
                <a:cs typeface="Nunito"/>
                <a:sym typeface="Nunito"/>
              </a:rPr>
              <a:t>@ComponentScan</a:t>
            </a:r>
            <a:endParaRPr sz="1400">
              <a:latin typeface="Nunito"/>
              <a:ea typeface="Nunito"/>
              <a:cs typeface="Nunito"/>
              <a:sym typeface="Nuni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Difference Between @SpringBootApplication and @EnableAutoConfiguration Annotation?</a:t>
            </a:r>
            <a:endParaRPr/>
          </a:p>
        </p:txBody>
      </p:sp>
      <p:sp>
        <p:nvSpPr>
          <p:cNvPr id="459" name="Google Shape;459;p67"/>
          <p:cNvSpPr txBox="1"/>
          <p:nvPr>
            <p:ph idx="1" type="body"/>
          </p:nvPr>
        </p:nvSpPr>
        <p:spPr>
          <a:xfrm>
            <a:off x="766325" y="22416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D85C6"/>
                </a:solidFill>
                <a:highlight>
                  <a:srgbClr val="FFFFFF"/>
                </a:highlight>
                <a:uFill>
                  <a:noFill/>
                </a:uFill>
                <a:latin typeface="Nunito"/>
                <a:ea typeface="Nunito"/>
                <a:cs typeface="Nunito"/>
                <a:sym typeface="Nunito"/>
                <a:hlinkClick r:id="rId3">
                  <a:extLst>
                    <a:ext uri="{A12FA001-AC4F-418D-AE19-62706E023703}">
                      <ahyp:hlinkClr val="tx"/>
                    </a:ext>
                  </a:extLst>
                </a:hlinkClick>
              </a:rPr>
              <a:t>@EnableAutoConfiguration</a:t>
            </a:r>
            <a:r>
              <a:rPr lang="en" sz="1200">
                <a:solidFill>
                  <a:srgbClr val="24292E"/>
                </a:solidFill>
                <a:highlight>
                  <a:srgbClr val="FFFFFF"/>
                </a:highlight>
                <a:latin typeface="Nunito"/>
                <a:ea typeface="Nunito"/>
                <a:cs typeface="Nunito"/>
                <a:sym typeface="Nunito"/>
              </a:rPr>
              <a:t> is to enable the automatic configuration feature of the Spring Boot application which automatically configures things if certain classes are present in Classpath. For example, it can configure </a:t>
            </a:r>
            <a:r>
              <a:rPr lang="en" sz="1100">
                <a:solidFill>
                  <a:srgbClr val="D73A49"/>
                </a:solidFill>
                <a:highlight>
                  <a:srgbClr val="FFFFFF"/>
                </a:highlight>
                <a:latin typeface="Nunito"/>
                <a:ea typeface="Nunito"/>
                <a:cs typeface="Nunito"/>
                <a:sym typeface="Nunito"/>
              </a:rPr>
              <a:t>Thymeleaf</a:t>
            </a:r>
            <a:r>
              <a:rPr lang="en" sz="1200">
                <a:solidFill>
                  <a:srgbClr val="24292E"/>
                </a:solidFill>
                <a:highlight>
                  <a:srgbClr val="FFFFFF"/>
                </a:highlight>
                <a:latin typeface="Nunito"/>
                <a:ea typeface="Nunito"/>
                <a:cs typeface="Nunito"/>
                <a:sym typeface="Nunito"/>
              </a:rPr>
              <a:t>, </a:t>
            </a:r>
            <a:r>
              <a:rPr lang="en" sz="1100">
                <a:solidFill>
                  <a:srgbClr val="D73A49"/>
                </a:solidFill>
                <a:highlight>
                  <a:srgbClr val="FFFFFF"/>
                </a:highlight>
                <a:latin typeface="Nunito"/>
                <a:ea typeface="Nunito"/>
                <a:cs typeface="Nunito"/>
                <a:sym typeface="Nunito"/>
              </a:rPr>
              <a:t>TemplateResolver</a:t>
            </a:r>
            <a:r>
              <a:rPr lang="en" sz="1200">
                <a:solidFill>
                  <a:srgbClr val="24292E"/>
                </a:solidFill>
                <a:highlight>
                  <a:srgbClr val="FFFFFF"/>
                </a:highlight>
                <a:latin typeface="Nunito"/>
                <a:ea typeface="Nunito"/>
                <a:cs typeface="Nunito"/>
                <a:sym typeface="Nunito"/>
              </a:rPr>
              <a:t>, and </a:t>
            </a:r>
            <a:r>
              <a:rPr lang="en" sz="1100">
                <a:solidFill>
                  <a:srgbClr val="D73A49"/>
                </a:solidFill>
                <a:highlight>
                  <a:srgbClr val="FFFFFF"/>
                </a:highlight>
                <a:latin typeface="Nunito"/>
                <a:ea typeface="Nunito"/>
                <a:cs typeface="Nunito"/>
                <a:sym typeface="Nunito"/>
              </a:rPr>
              <a:t>ViewResolver</a:t>
            </a:r>
            <a:r>
              <a:rPr lang="en" sz="1200">
                <a:solidFill>
                  <a:srgbClr val="24292E"/>
                </a:solidFill>
                <a:highlight>
                  <a:srgbClr val="FFFFFF"/>
                </a:highlight>
                <a:latin typeface="Nunito"/>
                <a:ea typeface="Nunito"/>
                <a:cs typeface="Nunito"/>
                <a:sym typeface="Nunito"/>
              </a:rPr>
              <a:t> if </a:t>
            </a:r>
            <a:r>
              <a:rPr b="1" lang="en" sz="1200">
                <a:solidFill>
                  <a:srgbClr val="24292E"/>
                </a:solidFill>
                <a:highlight>
                  <a:srgbClr val="FFFFFF"/>
                </a:highlight>
                <a:latin typeface="Nunito"/>
                <a:ea typeface="Nunito"/>
                <a:cs typeface="Nunito"/>
                <a:sym typeface="Nunito"/>
              </a:rPr>
              <a:t>Thymeleaf </a:t>
            </a:r>
            <a:r>
              <a:rPr lang="en" sz="1200">
                <a:solidFill>
                  <a:srgbClr val="24292E"/>
                </a:solidFill>
                <a:highlight>
                  <a:srgbClr val="FFFFFF"/>
                </a:highlight>
                <a:latin typeface="Nunito"/>
                <a:ea typeface="Nunito"/>
                <a:cs typeface="Nunito"/>
                <a:sym typeface="Nunito"/>
              </a:rPr>
              <a:t>is present in the classpath.</a:t>
            </a:r>
            <a:endParaRPr sz="1200">
              <a:solidFill>
                <a:srgbClr val="24292E"/>
              </a:solidFill>
              <a:highlight>
                <a:srgbClr val="FFFFFF"/>
              </a:highlight>
              <a:latin typeface="Nunito"/>
              <a:ea typeface="Nunito"/>
              <a:cs typeface="Nunito"/>
              <a:sym typeface="Nunito"/>
            </a:endParaRPr>
          </a:p>
          <a:p>
            <a:pPr indent="0" lvl="0" marL="0" rtl="0" algn="l">
              <a:spcBef>
                <a:spcPts val="1200"/>
              </a:spcBef>
              <a:spcAft>
                <a:spcPts val="0"/>
              </a:spcAft>
              <a:buNone/>
            </a:pPr>
            <a:r>
              <a:rPr b="1" lang="en" sz="1200">
                <a:solidFill>
                  <a:srgbClr val="3D85C6"/>
                </a:solidFill>
                <a:highlight>
                  <a:srgbClr val="FFFFFF"/>
                </a:highlight>
                <a:uFill>
                  <a:noFill/>
                </a:uFill>
                <a:latin typeface="Nunito"/>
                <a:ea typeface="Nunito"/>
                <a:cs typeface="Nunito"/>
                <a:sym typeface="Nunito"/>
                <a:hlinkClick r:id="rId4">
                  <a:extLst>
                    <a:ext uri="{A12FA001-AC4F-418D-AE19-62706E023703}">
                      <ahyp:hlinkClr val="tx"/>
                    </a:ext>
                  </a:extLst>
                </a:hlinkClick>
              </a:rPr>
              <a:t>@EnableAutoConfiguration</a:t>
            </a:r>
            <a:r>
              <a:rPr lang="en" sz="1200">
                <a:solidFill>
                  <a:srgbClr val="24292E"/>
                </a:solidFill>
                <a:highlight>
                  <a:srgbClr val="FFFFFF"/>
                </a:highlight>
                <a:latin typeface="Nunito"/>
                <a:ea typeface="Nunito"/>
                <a:cs typeface="Nunito"/>
                <a:sym typeface="Nunito"/>
              </a:rPr>
              <a:t> also combines </a:t>
            </a:r>
            <a:r>
              <a:rPr b="1" lang="en" sz="1200">
                <a:solidFill>
                  <a:srgbClr val="24292E"/>
                </a:solidFill>
                <a:highlight>
                  <a:srgbClr val="FFFFFF"/>
                </a:highlight>
                <a:latin typeface="Nunito"/>
                <a:ea typeface="Nunito"/>
                <a:cs typeface="Nunito"/>
                <a:sym typeface="Nunito"/>
              </a:rPr>
              <a:t>@Configuration</a:t>
            </a:r>
            <a:r>
              <a:rPr lang="en" sz="1200">
                <a:solidFill>
                  <a:srgbClr val="24292E"/>
                </a:solidFill>
                <a:highlight>
                  <a:srgbClr val="FFFFFF"/>
                </a:highlight>
                <a:latin typeface="Nunito"/>
                <a:ea typeface="Nunito"/>
                <a:cs typeface="Nunito"/>
                <a:sym typeface="Nunito"/>
              </a:rPr>
              <a:t> and </a:t>
            </a:r>
            <a:r>
              <a:rPr b="1" lang="en" sz="1200">
                <a:solidFill>
                  <a:srgbClr val="24292E"/>
                </a:solidFill>
                <a:highlight>
                  <a:srgbClr val="FFFFFF"/>
                </a:highlight>
                <a:latin typeface="Nunito"/>
                <a:ea typeface="Nunito"/>
                <a:cs typeface="Nunito"/>
                <a:sym typeface="Nunito"/>
              </a:rPr>
              <a:t>@ComponentScan</a:t>
            </a:r>
            <a:r>
              <a:rPr lang="en" sz="1200">
                <a:solidFill>
                  <a:srgbClr val="24292E"/>
                </a:solidFill>
                <a:highlight>
                  <a:srgbClr val="FFFFFF"/>
                </a:highlight>
                <a:latin typeface="Nunito"/>
                <a:ea typeface="Nunito"/>
                <a:cs typeface="Nunito"/>
                <a:sym typeface="Nunito"/>
              </a:rPr>
              <a:t> annotations to enable Java-based configuration and component scanning in your project</a:t>
            </a:r>
            <a:endParaRPr sz="1200">
              <a:solidFill>
                <a:srgbClr val="24292E"/>
              </a:solidFill>
              <a:highlight>
                <a:srgbClr val="FFFFFF"/>
              </a:highlight>
              <a:latin typeface="Nunito"/>
              <a:ea typeface="Nunito"/>
              <a:cs typeface="Nunito"/>
              <a:sym typeface="Nunito"/>
            </a:endParaRPr>
          </a:p>
          <a:p>
            <a:pPr indent="0" lvl="0" marL="0" rtl="0" algn="l">
              <a:spcBef>
                <a:spcPts val="1200"/>
              </a:spcBef>
              <a:spcAft>
                <a:spcPts val="1200"/>
              </a:spcAft>
              <a:buNone/>
            </a:pPr>
            <a:r>
              <a:rPr lang="en" sz="1200">
                <a:solidFill>
                  <a:srgbClr val="24292E"/>
                </a:solidFill>
                <a:highlight>
                  <a:srgbClr val="FFFFFF"/>
                </a:highlight>
                <a:latin typeface="Nunito"/>
                <a:ea typeface="Nunito"/>
                <a:cs typeface="Nunito"/>
                <a:sym typeface="Nunito"/>
              </a:rPr>
              <a:t>On the other hand, </a:t>
            </a:r>
            <a:r>
              <a:rPr b="1" lang="en" sz="1200">
                <a:solidFill>
                  <a:srgbClr val="3D85C6"/>
                </a:solidFill>
                <a:highlight>
                  <a:srgbClr val="FFFFFF"/>
                </a:highlight>
                <a:uFill>
                  <a:noFill/>
                </a:uFill>
                <a:latin typeface="Nunito"/>
                <a:ea typeface="Nunito"/>
                <a:cs typeface="Nunito"/>
                <a:sym typeface="Nunito"/>
                <a:hlinkClick r:id="rId5">
                  <a:extLst>
                    <a:ext uri="{A12FA001-AC4F-418D-AE19-62706E023703}">
                      <ahyp:hlinkClr val="tx"/>
                    </a:ext>
                  </a:extLst>
                </a:hlinkClick>
              </a:rPr>
              <a:t>@SpringBootApplication</a:t>
            </a:r>
            <a:r>
              <a:rPr lang="en" sz="1200">
                <a:solidFill>
                  <a:srgbClr val="24292E"/>
                </a:solidFill>
                <a:highlight>
                  <a:srgbClr val="FFFFFF"/>
                </a:highlight>
                <a:latin typeface="Nunito"/>
                <a:ea typeface="Nunito"/>
                <a:cs typeface="Nunito"/>
                <a:sym typeface="Nunito"/>
              </a:rPr>
              <a:t> annotation indicates a configuration class that declares one or more </a:t>
            </a:r>
            <a:r>
              <a:rPr b="1" lang="en" sz="1200">
                <a:solidFill>
                  <a:srgbClr val="24292E"/>
                </a:solidFill>
                <a:highlight>
                  <a:srgbClr val="FFFFFF"/>
                </a:highlight>
                <a:latin typeface="Nunito"/>
                <a:ea typeface="Nunito"/>
                <a:cs typeface="Nunito"/>
                <a:sym typeface="Nunito"/>
              </a:rPr>
              <a:t>@Bean</a:t>
            </a:r>
            <a:r>
              <a:rPr lang="en" sz="1200">
                <a:solidFill>
                  <a:srgbClr val="24292E"/>
                </a:solidFill>
                <a:highlight>
                  <a:srgbClr val="FFFFFF"/>
                </a:highlight>
                <a:latin typeface="Nunito"/>
                <a:ea typeface="Nunito"/>
                <a:cs typeface="Nunito"/>
                <a:sym typeface="Nunito"/>
              </a:rPr>
              <a:t> methods and also triggers auto-configuration and component scanning. This is a convenience annotation that is equivalent to declaring </a:t>
            </a:r>
            <a:r>
              <a:rPr b="1" lang="en" sz="1200">
                <a:solidFill>
                  <a:srgbClr val="24292E"/>
                </a:solidFill>
                <a:highlight>
                  <a:srgbClr val="FFFFFF"/>
                </a:highlight>
                <a:latin typeface="Nunito"/>
                <a:ea typeface="Nunito"/>
                <a:cs typeface="Nunito"/>
                <a:sym typeface="Nunito"/>
              </a:rPr>
              <a:t>@Configuration</a:t>
            </a:r>
            <a:r>
              <a:rPr lang="en" sz="1200">
                <a:solidFill>
                  <a:srgbClr val="24292E"/>
                </a:solidFill>
                <a:highlight>
                  <a:srgbClr val="FFFFFF"/>
                </a:highlight>
                <a:latin typeface="Nunito"/>
                <a:ea typeface="Nunito"/>
                <a:cs typeface="Nunito"/>
                <a:sym typeface="Nunito"/>
              </a:rPr>
              <a:t>, </a:t>
            </a:r>
            <a:r>
              <a:rPr b="1" lang="en" sz="1200">
                <a:solidFill>
                  <a:srgbClr val="24292E"/>
                </a:solidFill>
                <a:highlight>
                  <a:srgbClr val="FFFFFF"/>
                </a:highlight>
                <a:latin typeface="Nunito"/>
                <a:ea typeface="Nunito"/>
                <a:cs typeface="Nunito"/>
                <a:sym typeface="Nunito"/>
              </a:rPr>
              <a:t>@EnableAutoConfiguration</a:t>
            </a:r>
            <a:r>
              <a:rPr lang="en" sz="1200">
                <a:solidFill>
                  <a:srgbClr val="24292E"/>
                </a:solidFill>
                <a:highlight>
                  <a:srgbClr val="FFFFFF"/>
                </a:highlight>
                <a:latin typeface="Nunito"/>
                <a:ea typeface="Nunito"/>
                <a:cs typeface="Nunito"/>
                <a:sym typeface="Nunito"/>
              </a:rPr>
              <a:t>, and </a:t>
            </a:r>
            <a:r>
              <a:rPr b="1" lang="en" sz="1200">
                <a:solidFill>
                  <a:srgbClr val="24292E"/>
                </a:solidFill>
                <a:highlight>
                  <a:srgbClr val="FFFFFF"/>
                </a:highlight>
                <a:latin typeface="Nunito"/>
                <a:ea typeface="Nunito"/>
                <a:cs typeface="Nunito"/>
                <a:sym typeface="Nunito"/>
              </a:rPr>
              <a:t>@ComponentScan</a:t>
            </a:r>
            <a:r>
              <a:rPr lang="en" sz="1200">
                <a:solidFill>
                  <a:srgbClr val="24292E"/>
                </a:solidFill>
                <a:highlight>
                  <a:srgbClr val="FFFFFF"/>
                </a:highlight>
                <a:latin typeface="Nunito"/>
                <a:ea typeface="Nunito"/>
                <a:cs typeface="Nunito"/>
                <a:sym typeface="Nunito"/>
              </a:rPr>
              <a:t>.</a:t>
            </a:r>
            <a:endParaRPr>
              <a:latin typeface="Nunito"/>
              <a:ea typeface="Nunito"/>
              <a:cs typeface="Nunito"/>
              <a:sym typeface="Nuni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need a spring-boot-maven plugin?</a:t>
            </a:r>
            <a:endParaRPr/>
          </a:p>
        </p:txBody>
      </p:sp>
      <p:sp>
        <p:nvSpPr>
          <p:cNvPr id="465" name="Google Shape;465;p6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24292E"/>
                </a:solidFill>
                <a:highlight>
                  <a:srgbClr val="FFFFFF"/>
                </a:highlight>
                <a:latin typeface="Nunito"/>
                <a:ea typeface="Nunito"/>
                <a:cs typeface="Nunito"/>
                <a:sym typeface="Nunito"/>
              </a:rPr>
              <a:t>The Spring Boot Maven plugin provides many convenient features:</a:t>
            </a:r>
            <a:endParaRPr sz="1400">
              <a:solidFill>
                <a:srgbClr val="24292E"/>
              </a:solidFill>
              <a:highlight>
                <a:srgbClr val="FFFFFF"/>
              </a:highlight>
              <a:latin typeface="Nunito"/>
              <a:ea typeface="Nunito"/>
              <a:cs typeface="Nunito"/>
              <a:sym typeface="Nunito"/>
            </a:endParaRPr>
          </a:p>
          <a:p>
            <a:pPr indent="-317500" lvl="0" marL="457200" rtl="0" algn="l">
              <a:spcBef>
                <a:spcPts val="1200"/>
              </a:spcBef>
              <a:spcAft>
                <a:spcPts val="0"/>
              </a:spcAft>
              <a:buClr>
                <a:srgbClr val="24292E"/>
              </a:buClr>
              <a:buSzPts val="1400"/>
              <a:buFont typeface="Nunito"/>
              <a:buChar char="●"/>
            </a:pPr>
            <a:r>
              <a:rPr lang="en" sz="1400">
                <a:solidFill>
                  <a:srgbClr val="24292E"/>
                </a:solidFill>
                <a:highlight>
                  <a:srgbClr val="FFFFFF"/>
                </a:highlight>
                <a:latin typeface="Nunito"/>
                <a:ea typeface="Nunito"/>
                <a:cs typeface="Nunito"/>
                <a:sym typeface="Nunito"/>
              </a:rPr>
              <a:t>It collects all the jars on the classpath and builds a single, runnable "über-jar", which makes it more convenient to execute and transport your service.</a:t>
            </a:r>
            <a:endParaRPr sz="1400">
              <a:solidFill>
                <a:srgbClr val="24292E"/>
              </a:solidFill>
              <a:highlight>
                <a:srgbClr val="FFFFFF"/>
              </a:highlight>
              <a:latin typeface="Nunito"/>
              <a:ea typeface="Nunito"/>
              <a:cs typeface="Nunito"/>
              <a:sym typeface="Nunito"/>
            </a:endParaRPr>
          </a:p>
          <a:p>
            <a:pPr indent="-317500" lvl="0" marL="457200" rtl="0" algn="l">
              <a:spcBef>
                <a:spcPts val="0"/>
              </a:spcBef>
              <a:spcAft>
                <a:spcPts val="0"/>
              </a:spcAft>
              <a:buClr>
                <a:srgbClr val="24292E"/>
              </a:buClr>
              <a:buSzPts val="1400"/>
              <a:buFont typeface="Arial"/>
              <a:buChar char="●"/>
            </a:pPr>
            <a:r>
              <a:rPr lang="en" sz="1400">
                <a:solidFill>
                  <a:srgbClr val="24292E"/>
                </a:solidFill>
                <a:highlight>
                  <a:srgbClr val="FFFFFF"/>
                </a:highlight>
                <a:latin typeface="Nunito"/>
                <a:ea typeface="Nunito"/>
                <a:cs typeface="Nunito"/>
                <a:sym typeface="Nunito"/>
              </a:rPr>
              <a:t>It searches for the public static void </a:t>
            </a:r>
            <a:r>
              <a:rPr lang="en" sz="1400">
                <a:solidFill>
                  <a:srgbClr val="D73A49"/>
                </a:solidFill>
                <a:highlight>
                  <a:srgbClr val="FFFFFF"/>
                </a:highlight>
                <a:latin typeface="Nunito"/>
                <a:ea typeface="Nunito"/>
                <a:cs typeface="Nunito"/>
                <a:sym typeface="Nunito"/>
              </a:rPr>
              <a:t>main()</a:t>
            </a:r>
            <a:r>
              <a:rPr lang="en" sz="1400">
                <a:solidFill>
                  <a:srgbClr val="24292E"/>
                </a:solidFill>
                <a:highlight>
                  <a:srgbClr val="FFFFFF"/>
                </a:highlight>
                <a:latin typeface="Nunito"/>
                <a:ea typeface="Nunito"/>
                <a:cs typeface="Nunito"/>
                <a:sym typeface="Nunito"/>
              </a:rPr>
              <a:t> method to flag as a runnable class.</a:t>
            </a:r>
            <a:endParaRPr sz="1400">
              <a:solidFill>
                <a:srgbClr val="24292E"/>
              </a:solidFill>
              <a:highlight>
                <a:srgbClr val="FFFFFF"/>
              </a:highlight>
              <a:latin typeface="Nunito"/>
              <a:ea typeface="Nunito"/>
              <a:cs typeface="Nunito"/>
              <a:sym typeface="Nunito"/>
            </a:endParaRPr>
          </a:p>
          <a:p>
            <a:pPr indent="-317500" lvl="0" marL="457200" rtl="0" algn="l">
              <a:spcBef>
                <a:spcPts val="0"/>
              </a:spcBef>
              <a:spcAft>
                <a:spcPts val="0"/>
              </a:spcAft>
              <a:buClr>
                <a:srgbClr val="24292E"/>
              </a:buClr>
              <a:buSzPts val="1400"/>
              <a:buFont typeface="Nunito"/>
              <a:buChar char="●"/>
            </a:pPr>
            <a:r>
              <a:rPr lang="en" sz="1400">
                <a:solidFill>
                  <a:srgbClr val="24292E"/>
                </a:solidFill>
                <a:highlight>
                  <a:srgbClr val="FFFFFF"/>
                </a:highlight>
                <a:latin typeface="Nunito"/>
                <a:ea typeface="Nunito"/>
                <a:cs typeface="Nunito"/>
                <a:sym typeface="Nunito"/>
              </a:rPr>
              <a:t>It provides a built-in dependency resolver that sets the version number to match Spring Boot dependencies. You can override any version you wish, but it will default to Boot’s chosen set of versions.</a:t>
            </a:r>
            <a:endParaRPr sz="1400">
              <a:latin typeface="Nunito"/>
              <a:ea typeface="Nunito"/>
              <a:cs typeface="Nunito"/>
              <a:sym typeface="Nuni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9"/>
          <p:cNvSpPr txBox="1"/>
          <p:nvPr>
            <p:ph idx="1" type="body"/>
          </p:nvPr>
        </p:nvSpPr>
        <p:spPr>
          <a:xfrm>
            <a:off x="819150" y="650950"/>
            <a:ext cx="7505700" cy="378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24292E"/>
                </a:solidFill>
                <a:highlight>
                  <a:srgbClr val="FFFFFF"/>
                </a:highlight>
                <a:latin typeface="Nunito"/>
                <a:ea typeface="Nunito"/>
                <a:cs typeface="Nunito"/>
                <a:sym typeface="Nunito"/>
              </a:rPr>
              <a:t>The Spring Boot Plugin has the following goals.</a:t>
            </a:r>
            <a:endParaRPr sz="1800">
              <a:solidFill>
                <a:srgbClr val="24292E"/>
              </a:solidFill>
              <a:highlight>
                <a:srgbClr val="FFFFFF"/>
              </a:highlight>
              <a:latin typeface="Nunito"/>
              <a:ea typeface="Nunito"/>
              <a:cs typeface="Nunito"/>
              <a:sym typeface="Nunito"/>
            </a:endParaRPr>
          </a:p>
          <a:p>
            <a:pPr indent="-342900" lvl="0" marL="457200" rtl="0" algn="l">
              <a:spcBef>
                <a:spcPts val="1200"/>
              </a:spcBef>
              <a:spcAft>
                <a:spcPts val="0"/>
              </a:spcAft>
              <a:buClr>
                <a:srgbClr val="24292E"/>
              </a:buClr>
              <a:buSzPts val="1800"/>
              <a:buFont typeface="Arial"/>
              <a:buChar char="●"/>
            </a:pPr>
            <a:r>
              <a:rPr lang="en" sz="1800">
                <a:solidFill>
                  <a:srgbClr val="D73A49"/>
                </a:solidFill>
                <a:highlight>
                  <a:srgbClr val="FFFFFF"/>
                </a:highlight>
                <a:latin typeface="Nunito"/>
                <a:ea typeface="Nunito"/>
                <a:cs typeface="Nunito"/>
                <a:sym typeface="Nunito"/>
              </a:rPr>
              <a:t>spring-boot:run</a:t>
            </a:r>
            <a:r>
              <a:rPr lang="en" sz="1800">
                <a:solidFill>
                  <a:srgbClr val="24292E"/>
                </a:solidFill>
                <a:highlight>
                  <a:srgbClr val="FFFFFF"/>
                </a:highlight>
                <a:latin typeface="Nunito"/>
                <a:ea typeface="Nunito"/>
                <a:cs typeface="Nunito"/>
                <a:sym typeface="Nunito"/>
              </a:rPr>
              <a:t> runs your Spring Boot application.</a:t>
            </a:r>
            <a:endParaRPr sz="1800">
              <a:solidFill>
                <a:srgbClr val="24292E"/>
              </a:solidFill>
              <a:highlight>
                <a:srgbClr val="FFFFFF"/>
              </a:highlight>
              <a:latin typeface="Nunito"/>
              <a:ea typeface="Nunito"/>
              <a:cs typeface="Nunito"/>
              <a:sym typeface="Nunito"/>
            </a:endParaRPr>
          </a:p>
          <a:p>
            <a:pPr indent="-342900" lvl="0" marL="457200" rtl="0" algn="l">
              <a:spcBef>
                <a:spcPts val="0"/>
              </a:spcBef>
              <a:spcAft>
                <a:spcPts val="0"/>
              </a:spcAft>
              <a:buClr>
                <a:srgbClr val="24292E"/>
              </a:buClr>
              <a:buSzPts val="1800"/>
              <a:buFont typeface="Arial"/>
              <a:buChar char="●"/>
            </a:pPr>
            <a:r>
              <a:rPr lang="en" sz="1800">
                <a:solidFill>
                  <a:srgbClr val="D73A49"/>
                </a:solidFill>
                <a:highlight>
                  <a:srgbClr val="FFFFFF"/>
                </a:highlight>
                <a:latin typeface="Nunito"/>
                <a:ea typeface="Nunito"/>
                <a:cs typeface="Nunito"/>
                <a:sym typeface="Nunito"/>
              </a:rPr>
              <a:t>spring-boot:repackage</a:t>
            </a:r>
            <a:r>
              <a:rPr lang="en" sz="1800">
                <a:solidFill>
                  <a:srgbClr val="24292E"/>
                </a:solidFill>
                <a:highlight>
                  <a:srgbClr val="FFFFFF"/>
                </a:highlight>
                <a:latin typeface="Nunito"/>
                <a:ea typeface="Nunito"/>
                <a:cs typeface="Nunito"/>
                <a:sym typeface="Nunito"/>
              </a:rPr>
              <a:t> repackages your jar/war to be executable.</a:t>
            </a:r>
            <a:endParaRPr sz="1800">
              <a:solidFill>
                <a:srgbClr val="24292E"/>
              </a:solidFill>
              <a:highlight>
                <a:srgbClr val="FFFFFF"/>
              </a:highlight>
              <a:latin typeface="Nunito"/>
              <a:ea typeface="Nunito"/>
              <a:cs typeface="Nunito"/>
              <a:sym typeface="Nunito"/>
            </a:endParaRPr>
          </a:p>
          <a:p>
            <a:pPr indent="-342900" lvl="0" marL="457200" rtl="0" algn="l">
              <a:spcBef>
                <a:spcPts val="0"/>
              </a:spcBef>
              <a:spcAft>
                <a:spcPts val="0"/>
              </a:spcAft>
              <a:buClr>
                <a:srgbClr val="24292E"/>
              </a:buClr>
              <a:buSzPts val="1800"/>
              <a:buFont typeface="Arial"/>
              <a:buChar char="●"/>
            </a:pPr>
            <a:r>
              <a:rPr lang="en" sz="1800">
                <a:solidFill>
                  <a:srgbClr val="D73A49"/>
                </a:solidFill>
                <a:highlight>
                  <a:srgbClr val="FFFFFF"/>
                </a:highlight>
                <a:latin typeface="Nunito"/>
                <a:ea typeface="Nunito"/>
                <a:cs typeface="Nunito"/>
                <a:sym typeface="Nunito"/>
              </a:rPr>
              <a:t>spring-boot:start</a:t>
            </a:r>
            <a:r>
              <a:rPr lang="en" sz="1800">
                <a:solidFill>
                  <a:srgbClr val="24292E"/>
                </a:solidFill>
                <a:highlight>
                  <a:srgbClr val="FFFFFF"/>
                </a:highlight>
                <a:latin typeface="Nunito"/>
                <a:ea typeface="Nunito"/>
                <a:cs typeface="Nunito"/>
                <a:sym typeface="Nunito"/>
              </a:rPr>
              <a:t> and </a:t>
            </a:r>
            <a:r>
              <a:rPr lang="en" sz="1800">
                <a:solidFill>
                  <a:srgbClr val="D73A49"/>
                </a:solidFill>
                <a:highlight>
                  <a:srgbClr val="FFFFFF"/>
                </a:highlight>
                <a:latin typeface="Nunito"/>
                <a:ea typeface="Nunito"/>
                <a:cs typeface="Nunito"/>
                <a:sym typeface="Nunito"/>
              </a:rPr>
              <a:t>spring-boot:stop</a:t>
            </a:r>
            <a:r>
              <a:rPr lang="en" sz="1800">
                <a:solidFill>
                  <a:srgbClr val="24292E"/>
                </a:solidFill>
                <a:highlight>
                  <a:srgbClr val="FFFFFF"/>
                </a:highlight>
                <a:latin typeface="Nunito"/>
                <a:ea typeface="Nunito"/>
                <a:cs typeface="Nunito"/>
                <a:sym typeface="Nunito"/>
              </a:rPr>
              <a:t> to manage the lifecycle of your Spring Boot application (i.e. for integration tests).</a:t>
            </a:r>
            <a:endParaRPr sz="1800">
              <a:solidFill>
                <a:srgbClr val="24292E"/>
              </a:solidFill>
              <a:highlight>
                <a:srgbClr val="FFFFFF"/>
              </a:highlight>
              <a:latin typeface="Nunito"/>
              <a:ea typeface="Nunito"/>
              <a:cs typeface="Nunito"/>
              <a:sym typeface="Nunito"/>
            </a:endParaRPr>
          </a:p>
          <a:p>
            <a:pPr indent="-342900" lvl="0" marL="457200" rtl="0" algn="l">
              <a:spcBef>
                <a:spcPts val="0"/>
              </a:spcBef>
              <a:spcAft>
                <a:spcPts val="0"/>
              </a:spcAft>
              <a:buClr>
                <a:srgbClr val="24292E"/>
              </a:buClr>
              <a:buSzPts val="1800"/>
              <a:buFont typeface="Arial"/>
              <a:buChar char="●"/>
            </a:pPr>
            <a:r>
              <a:rPr lang="en" sz="1800">
                <a:solidFill>
                  <a:srgbClr val="D73A49"/>
                </a:solidFill>
                <a:highlight>
                  <a:srgbClr val="FFFFFF"/>
                </a:highlight>
                <a:latin typeface="Nunito"/>
                <a:ea typeface="Nunito"/>
                <a:cs typeface="Nunito"/>
                <a:sym typeface="Nunito"/>
              </a:rPr>
              <a:t>spring-boot:build-info</a:t>
            </a:r>
            <a:r>
              <a:rPr lang="en" sz="1800">
                <a:solidFill>
                  <a:srgbClr val="24292E"/>
                </a:solidFill>
                <a:highlight>
                  <a:srgbClr val="FFFFFF"/>
                </a:highlight>
                <a:latin typeface="Nunito"/>
                <a:ea typeface="Nunito"/>
                <a:cs typeface="Nunito"/>
                <a:sym typeface="Nunito"/>
              </a:rPr>
              <a:t> generates build information that can be used by the Actuator.</a:t>
            </a:r>
            <a:endParaRPr sz="1800">
              <a:latin typeface="Nunito"/>
              <a:ea typeface="Nunito"/>
              <a:cs typeface="Nunito"/>
              <a:sym typeface="Nuni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Use Jetty Instead of Tomcat in Spring-Boot-Starter-Web?</a:t>
            </a:r>
            <a:endParaRPr/>
          </a:p>
        </p:txBody>
      </p:sp>
      <p:sp>
        <p:nvSpPr>
          <p:cNvPr id="476" name="Google Shape;476;p7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solidFill>
                  <a:srgbClr val="24292E"/>
                </a:solidFill>
                <a:highlight>
                  <a:srgbClr val="FFFFFF"/>
                </a:highlight>
                <a:latin typeface="Nunito"/>
                <a:ea typeface="Nunito"/>
                <a:cs typeface="Nunito"/>
                <a:sym typeface="Nunito"/>
              </a:rPr>
              <a:t>Remove the existing default tomcat dependency from </a:t>
            </a:r>
            <a:r>
              <a:rPr lang="en" sz="2400">
                <a:solidFill>
                  <a:srgbClr val="D73A49"/>
                </a:solidFill>
                <a:latin typeface="Nunito"/>
                <a:ea typeface="Nunito"/>
                <a:cs typeface="Nunito"/>
                <a:sym typeface="Nunito"/>
              </a:rPr>
              <a:t>spring-boot-starter-web</a:t>
            </a:r>
            <a:r>
              <a:rPr lang="en" sz="2400">
                <a:solidFill>
                  <a:srgbClr val="24292E"/>
                </a:solidFill>
                <a:highlight>
                  <a:srgbClr val="FFFFFF"/>
                </a:highlight>
                <a:latin typeface="Nunito"/>
                <a:ea typeface="Nunito"/>
                <a:cs typeface="Nunito"/>
                <a:sym typeface="Nunito"/>
              </a:rPr>
              <a:t> and add the </a:t>
            </a:r>
            <a:r>
              <a:rPr lang="en" sz="2400">
                <a:solidFill>
                  <a:srgbClr val="D73A49"/>
                </a:solidFill>
                <a:latin typeface="Nunito"/>
                <a:ea typeface="Nunito"/>
                <a:cs typeface="Nunito"/>
                <a:sym typeface="Nunito"/>
              </a:rPr>
              <a:t>spring-boot-starter-jetty</a:t>
            </a:r>
            <a:r>
              <a:rPr lang="en" sz="2400">
                <a:solidFill>
                  <a:srgbClr val="24292E"/>
                </a:solidFill>
                <a:highlight>
                  <a:srgbClr val="FFFFFF"/>
                </a:highlight>
                <a:latin typeface="Nunito"/>
                <a:ea typeface="Nunito"/>
                <a:cs typeface="Nunito"/>
                <a:sym typeface="Nunito"/>
              </a:rPr>
              <a:t> dependency:</a:t>
            </a:r>
            <a:endParaRPr sz="2400">
              <a:solidFill>
                <a:srgbClr val="24292E"/>
              </a:solidFill>
              <a:highlight>
                <a:srgbClr val="FFFFFF"/>
              </a:highlight>
              <a:latin typeface="Nunito"/>
              <a:ea typeface="Nunito"/>
              <a:cs typeface="Nunito"/>
              <a:sym typeface="Nuni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p71"/>
          <p:cNvPicPr preferRelativeResize="0"/>
          <p:nvPr/>
        </p:nvPicPr>
        <p:blipFill>
          <a:blip r:embed="rId3">
            <a:alphaModFix/>
          </a:blip>
          <a:stretch>
            <a:fillRect/>
          </a:stretch>
        </p:blipFill>
        <p:spPr>
          <a:xfrm>
            <a:off x="381000" y="671825"/>
            <a:ext cx="8382000" cy="37338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generate a WAR file with Spring Boot?</a:t>
            </a:r>
            <a:endParaRPr/>
          </a:p>
        </p:txBody>
      </p:sp>
      <p:sp>
        <p:nvSpPr>
          <p:cNvPr id="487" name="Google Shape;487;p7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88" name="Google Shape;488;p72"/>
          <p:cNvPicPr preferRelativeResize="0"/>
          <p:nvPr/>
        </p:nvPicPr>
        <p:blipFill>
          <a:blip r:embed="rId3">
            <a:alphaModFix/>
          </a:blip>
          <a:stretch>
            <a:fillRect/>
          </a:stretch>
        </p:blipFill>
        <p:spPr>
          <a:xfrm>
            <a:off x="819150" y="1668450"/>
            <a:ext cx="7505699" cy="27702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94" name="Google Shape;494;p7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95" name="Google Shape;495;p73"/>
          <p:cNvPicPr preferRelativeResize="0"/>
          <p:nvPr/>
        </p:nvPicPr>
        <p:blipFill>
          <a:blip r:embed="rId3">
            <a:alphaModFix/>
          </a:blip>
          <a:stretch>
            <a:fillRect/>
          </a:stretch>
        </p:blipFill>
        <p:spPr>
          <a:xfrm>
            <a:off x="637324" y="271288"/>
            <a:ext cx="7770674" cy="460092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7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many types of projects we can create using Spring boot?</a:t>
            </a:r>
            <a:endParaRPr/>
          </a:p>
        </p:txBody>
      </p:sp>
      <p:sp>
        <p:nvSpPr>
          <p:cNvPr id="501" name="Google Shape;501;p7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highlight>
                  <a:srgbClr val="FFFFFF"/>
                </a:highlight>
                <a:latin typeface="Nunito"/>
                <a:ea typeface="Nunito"/>
                <a:cs typeface="Nunito"/>
                <a:sym typeface="Nunito"/>
              </a:rPr>
              <a:t>We can create 3 types of projects using Spring boot starter dependencies:</a:t>
            </a:r>
            <a:endParaRPr sz="1600">
              <a:solidFill>
                <a:srgbClr val="000000"/>
              </a:solidFill>
              <a:highlight>
                <a:srgbClr val="FFFFFF"/>
              </a:highlight>
              <a:latin typeface="Nunito"/>
              <a:ea typeface="Nunito"/>
              <a:cs typeface="Nunito"/>
              <a:sym typeface="Nunito"/>
            </a:endParaRPr>
          </a:p>
          <a:p>
            <a:pPr indent="-330200" lvl="0" marL="457200" rtl="0" algn="l">
              <a:spcBef>
                <a:spcPts val="1200"/>
              </a:spcBef>
              <a:spcAft>
                <a:spcPts val="0"/>
              </a:spcAft>
              <a:buClr>
                <a:srgbClr val="000000"/>
              </a:buClr>
              <a:buSzPts val="1600"/>
              <a:buFont typeface="Arial"/>
              <a:buAutoNum type="arabicPeriod"/>
            </a:pPr>
            <a:r>
              <a:rPr lang="en" sz="1600">
                <a:solidFill>
                  <a:srgbClr val="000000"/>
                </a:solidFill>
                <a:highlight>
                  <a:srgbClr val="FFFFFF"/>
                </a:highlight>
                <a:latin typeface="Nunito"/>
                <a:ea typeface="Nunito"/>
                <a:cs typeface="Nunito"/>
                <a:sym typeface="Nunito"/>
              </a:rPr>
              <a:t>If </a:t>
            </a:r>
            <a:r>
              <a:rPr lang="en" sz="1600">
                <a:solidFill>
                  <a:srgbClr val="D73A49"/>
                </a:solidFill>
                <a:highlight>
                  <a:srgbClr val="FFFFFF"/>
                </a:highlight>
                <a:latin typeface="Nunito"/>
                <a:ea typeface="Nunito"/>
                <a:cs typeface="Nunito"/>
                <a:sym typeface="Nunito"/>
              </a:rPr>
              <a:t>we have a spring-boot-starter</a:t>
            </a:r>
            <a:r>
              <a:rPr lang="en" sz="1600">
                <a:solidFill>
                  <a:srgbClr val="000000"/>
                </a:solidFill>
                <a:highlight>
                  <a:srgbClr val="FFFFFF"/>
                </a:highlight>
                <a:latin typeface="Nunito"/>
                <a:ea typeface="Nunito"/>
                <a:cs typeface="Nunito"/>
                <a:sym typeface="Nunito"/>
              </a:rPr>
              <a:t> dependency in a classpath then the spring boot application comes under the </a:t>
            </a:r>
            <a:r>
              <a:rPr b="1" lang="en" sz="1600">
                <a:solidFill>
                  <a:srgbClr val="000000"/>
                </a:solidFill>
                <a:highlight>
                  <a:srgbClr val="FFFFFF"/>
                </a:highlight>
                <a:latin typeface="Nunito"/>
                <a:ea typeface="Nunito"/>
                <a:cs typeface="Nunito"/>
                <a:sym typeface="Nunito"/>
              </a:rPr>
              <a:t>default </a:t>
            </a:r>
            <a:r>
              <a:rPr lang="en" sz="1600">
                <a:solidFill>
                  <a:srgbClr val="000000"/>
                </a:solidFill>
                <a:highlight>
                  <a:srgbClr val="FFFFFF"/>
                </a:highlight>
                <a:latin typeface="Nunito"/>
                <a:ea typeface="Nunito"/>
                <a:cs typeface="Nunito"/>
                <a:sym typeface="Nunito"/>
              </a:rPr>
              <a:t>category.</a:t>
            </a:r>
            <a:endParaRPr sz="1600">
              <a:solidFill>
                <a:srgbClr val="000000"/>
              </a:solidFill>
              <a:highlight>
                <a:srgbClr val="FFFFFF"/>
              </a:highlight>
              <a:latin typeface="Nunito"/>
              <a:ea typeface="Nunito"/>
              <a:cs typeface="Nunito"/>
              <a:sym typeface="Nunito"/>
            </a:endParaRPr>
          </a:p>
          <a:p>
            <a:pPr indent="-330200" lvl="0" marL="457200" rtl="0" algn="l">
              <a:spcBef>
                <a:spcPts val="0"/>
              </a:spcBef>
              <a:spcAft>
                <a:spcPts val="0"/>
              </a:spcAft>
              <a:buClr>
                <a:srgbClr val="000000"/>
              </a:buClr>
              <a:buSzPts val="1600"/>
              <a:buFont typeface="Arial"/>
              <a:buAutoNum type="arabicPeriod"/>
            </a:pPr>
            <a:r>
              <a:rPr lang="en" sz="1600">
                <a:solidFill>
                  <a:srgbClr val="000000"/>
                </a:solidFill>
                <a:highlight>
                  <a:srgbClr val="FFFFFF"/>
                </a:highlight>
                <a:latin typeface="Nunito"/>
                <a:ea typeface="Nunito"/>
                <a:cs typeface="Nunito"/>
                <a:sym typeface="Nunito"/>
              </a:rPr>
              <a:t>If we have</a:t>
            </a:r>
            <a:r>
              <a:rPr lang="en" sz="1600">
                <a:solidFill>
                  <a:srgbClr val="D73A49"/>
                </a:solidFill>
                <a:highlight>
                  <a:srgbClr val="FFFFFF"/>
                </a:highlight>
                <a:latin typeface="Nunito"/>
                <a:ea typeface="Nunito"/>
                <a:cs typeface="Nunito"/>
                <a:sym typeface="Nunito"/>
              </a:rPr>
              <a:t> spring-boot-starter-web</a:t>
            </a:r>
            <a:r>
              <a:rPr lang="en" sz="1600">
                <a:solidFill>
                  <a:srgbClr val="000000"/>
                </a:solidFill>
                <a:highlight>
                  <a:srgbClr val="FFFFFF"/>
                </a:highlight>
                <a:latin typeface="Nunito"/>
                <a:ea typeface="Nunito"/>
                <a:cs typeface="Nunito"/>
                <a:sym typeface="Nunito"/>
              </a:rPr>
              <a:t> dependency in a classpath then the spring boot application comes under the </a:t>
            </a:r>
            <a:r>
              <a:rPr b="1" lang="en" sz="1600">
                <a:solidFill>
                  <a:srgbClr val="000000"/>
                </a:solidFill>
                <a:highlight>
                  <a:srgbClr val="FFFFFF"/>
                </a:highlight>
                <a:latin typeface="Nunito"/>
                <a:ea typeface="Nunito"/>
                <a:cs typeface="Nunito"/>
                <a:sym typeface="Nunito"/>
              </a:rPr>
              <a:t>servlet </a:t>
            </a:r>
            <a:r>
              <a:rPr lang="en" sz="1600">
                <a:solidFill>
                  <a:srgbClr val="000000"/>
                </a:solidFill>
                <a:highlight>
                  <a:srgbClr val="FFFFFF"/>
                </a:highlight>
                <a:latin typeface="Nunito"/>
                <a:ea typeface="Nunito"/>
                <a:cs typeface="Nunito"/>
                <a:sym typeface="Nunito"/>
              </a:rPr>
              <a:t>category.</a:t>
            </a:r>
            <a:endParaRPr sz="1600">
              <a:solidFill>
                <a:srgbClr val="000000"/>
              </a:solidFill>
              <a:highlight>
                <a:srgbClr val="FFFFFF"/>
              </a:highlight>
              <a:latin typeface="Nunito"/>
              <a:ea typeface="Nunito"/>
              <a:cs typeface="Nunito"/>
              <a:sym typeface="Nunito"/>
            </a:endParaRPr>
          </a:p>
          <a:p>
            <a:pPr indent="-330200" lvl="0" marL="457200" rtl="0" algn="l">
              <a:spcBef>
                <a:spcPts val="0"/>
              </a:spcBef>
              <a:spcAft>
                <a:spcPts val="0"/>
              </a:spcAft>
              <a:buClr>
                <a:srgbClr val="000000"/>
              </a:buClr>
              <a:buSzPts val="1600"/>
              <a:buFont typeface="Arial"/>
              <a:buAutoNum type="arabicPeriod"/>
            </a:pPr>
            <a:r>
              <a:rPr lang="en" sz="1600">
                <a:solidFill>
                  <a:srgbClr val="000000"/>
                </a:solidFill>
                <a:highlight>
                  <a:srgbClr val="FFFFFF"/>
                </a:highlight>
                <a:latin typeface="Nunito"/>
                <a:ea typeface="Nunito"/>
                <a:cs typeface="Nunito"/>
                <a:sym typeface="Nunito"/>
              </a:rPr>
              <a:t>If we have a </a:t>
            </a:r>
            <a:r>
              <a:rPr lang="en" sz="1600">
                <a:solidFill>
                  <a:srgbClr val="D73A49"/>
                </a:solidFill>
                <a:highlight>
                  <a:srgbClr val="FFFFFF"/>
                </a:highlight>
                <a:latin typeface="Nunito"/>
                <a:ea typeface="Nunito"/>
                <a:cs typeface="Nunito"/>
                <a:sym typeface="Nunito"/>
              </a:rPr>
              <a:t>spring-boot-starter-webflux</a:t>
            </a:r>
            <a:r>
              <a:rPr lang="en" sz="1600">
                <a:solidFill>
                  <a:srgbClr val="000000"/>
                </a:solidFill>
                <a:highlight>
                  <a:srgbClr val="FFFFFF"/>
                </a:highlight>
                <a:latin typeface="Nunito"/>
                <a:ea typeface="Nunito"/>
                <a:cs typeface="Nunito"/>
                <a:sym typeface="Nunito"/>
              </a:rPr>
              <a:t> dependency in a classpath then the spring boot application comes under the </a:t>
            </a:r>
            <a:r>
              <a:rPr b="1" lang="en" sz="1600">
                <a:solidFill>
                  <a:srgbClr val="000000"/>
                </a:solidFill>
                <a:highlight>
                  <a:srgbClr val="FFFFFF"/>
                </a:highlight>
                <a:latin typeface="Nunito"/>
                <a:ea typeface="Nunito"/>
                <a:cs typeface="Nunito"/>
                <a:sym typeface="Nunito"/>
              </a:rPr>
              <a:t>reactive </a:t>
            </a:r>
            <a:r>
              <a:rPr lang="en" sz="1600">
                <a:solidFill>
                  <a:srgbClr val="000000"/>
                </a:solidFill>
                <a:highlight>
                  <a:srgbClr val="FFFFFF"/>
                </a:highlight>
                <a:latin typeface="Nunito"/>
                <a:ea typeface="Nunito"/>
                <a:cs typeface="Nunito"/>
                <a:sym typeface="Nunito"/>
              </a:rPr>
              <a:t>category.</a:t>
            </a:r>
            <a:endParaRPr sz="1600">
              <a:latin typeface="Nunito"/>
              <a:ea typeface="Nunito"/>
              <a:cs typeface="Nunito"/>
              <a:sym typeface="Nuni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Change Default Embedded Tomcat Server Port and Context Path in Spring Boot Application?</a:t>
            </a:r>
            <a:endParaRPr/>
          </a:p>
        </p:txBody>
      </p:sp>
      <p:sp>
        <p:nvSpPr>
          <p:cNvPr id="507" name="Google Shape;507;p75"/>
          <p:cNvSpPr txBox="1"/>
          <p:nvPr>
            <p:ph idx="1" type="body"/>
          </p:nvPr>
        </p:nvSpPr>
        <p:spPr>
          <a:xfrm>
            <a:off x="819150" y="2176150"/>
            <a:ext cx="7505700" cy="226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24292E"/>
                </a:solidFill>
                <a:highlight>
                  <a:srgbClr val="FFFFFF"/>
                </a:highlight>
                <a:latin typeface="Nunito"/>
                <a:ea typeface="Nunito"/>
                <a:cs typeface="Nunito"/>
                <a:sym typeface="Nunito"/>
              </a:rPr>
              <a:t>By default, the embedded tomcat server starts on </a:t>
            </a:r>
            <a:r>
              <a:rPr b="1" lang="en" sz="1400">
                <a:solidFill>
                  <a:srgbClr val="24292E"/>
                </a:solidFill>
                <a:highlight>
                  <a:srgbClr val="FFFFFF"/>
                </a:highlight>
                <a:latin typeface="Nunito"/>
                <a:ea typeface="Nunito"/>
                <a:cs typeface="Nunito"/>
                <a:sym typeface="Nunito"/>
              </a:rPr>
              <a:t>port 8080 and by default</a:t>
            </a:r>
            <a:r>
              <a:rPr lang="en" sz="1400">
                <a:solidFill>
                  <a:srgbClr val="24292E"/>
                </a:solidFill>
                <a:highlight>
                  <a:srgbClr val="FFFFFF"/>
                </a:highlight>
                <a:latin typeface="Nunito"/>
                <a:ea typeface="Nunito"/>
                <a:cs typeface="Nunito"/>
                <a:sym typeface="Nunito"/>
              </a:rPr>
              <a:t>, the </a:t>
            </a:r>
            <a:r>
              <a:rPr b="1" lang="en" sz="1400">
                <a:solidFill>
                  <a:srgbClr val="24292E"/>
                </a:solidFill>
                <a:highlight>
                  <a:srgbClr val="FFFFFF"/>
                </a:highlight>
                <a:latin typeface="Nunito"/>
                <a:ea typeface="Nunito"/>
                <a:cs typeface="Nunito"/>
                <a:sym typeface="Nunito"/>
              </a:rPr>
              <a:t>context path is “/”</a:t>
            </a:r>
            <a:r>
              <a:rPr lang="en" sz="1400">
                <a:solidFill>
                  <a:srgbClr val="24292E"/>
                </a:solidFill>
                <a:highlight>
                  <a:srgbClr val="FFFFFF"/>
                </a:highlight>
                <a:latin typeface="Nunito"/>
                <a:ea typeface="Nunito"/>
                <a:cs typeface="Nunito"/>
                <a:sym typeface="Nunito"/>
              </a:rPr>
              <a:t>. Now let's change the default port and context path by defining properties in an </a:t>
            </a:r>
            <a:r>
              <a:rPr b="1" lang="en" sz="1400">
                <a:solidFill>
                  <a:srgbClr val="24292E"/>
                </a:solidFill>
                <a:highlight>
                  <a:srgbClr val="FFFFFF"/>
                </a:highlight>
                <a:latin typeface="Nunito"/>
                <a:ea typeface="Nunito"/>
                <a:cs typeface="Nunito"/>
                <a:sym typeface="Nunito"/>
              </a:rPr>
              <a:t>application.properties</a:t>
            </a:r>
            <a:r>
              <a:rPr lang="en" sz="1400">
                <a:solidFill>
                  <a:srgbClr val="24292E"/>
                </a:solidFill>
                <a:highlight>
                  <a:srgbClr val="FFFFFF"/>
                </a:highlight>
                <a:latin typeface="Nunito"/>
                <a:ea typeface="Nunito"/>
                <a:cs typeface="Nunito"/>
                <a:sym typeface="Nunito"/>
              </a:rPr>
              <a:t> file -</a:t>
            </a:r>
            <a:endParaRPr sz="1400">
              <a:solidFill>
                <a:srgbClr val="24292E"/>
              </a:solidFill>
              <a:highlight>
                <a:srgbClr val="FFFFFF"/>
              </a:highlight>
              <a:latin typeface="Nunito"/>
              <a:ea typeface="Nunito"/>
              <a:cs typeface="Nunito"/>
              <a:sym typeface="Nunito"/>
            </a:endParaRPr>
          </a:p>
          <a:p>
            <a:pPr indent="0" lvl="0" marL="0" rtl="0" algn="l">
              <a:spcBef>
                <a:spcPts val="1200"/>
              </a:spcBef>
              <a:spcAft>
                <a:spcPts val="0"/>
              </a:spcAft>
              <a:buNone/>
            </a:pPr>
            <a:r>
              <a:rPr lang="en" sz="1400">
                <a:solidFill>
                  <a:srgbClr val="D73A49"/>
                </a:solidFill>
                <a:highlight>
                  <a:srgbClr val="FFFFFF"/>
                </a:highlight>
                <a:latin typeface="Nunito"/>
                <a:ea typeface="Nunito"/>
                <a:cs typeface="Nunito"/>
                <a:sym typeface="Nunito"/>
              </a:rPr>
              <a:t>/src/main/resources/application.properties</a:t>
            </a:r>
            <a:endParaRPr sz="1400">
              <a:solidFill>
                <a:srgbClr val="D73A49"/>
              </a:solidFill>
              <a:highlight>
                <a:srgbClr val="FFFFFF"/>
              </a:highlight>
              <a:latin typeface="Nunito"/>
              <a:ea typeface="Nunito"/>
              <a:cs typeface="Nunito"/>
              <a:sym typeface="Nunito"/>
            </a:endParaRPr>
          </a:p>
          <a:p>
            <a:pPr indent="457200" lvl="0" marL="0" rtl="0" algn="l">
              <a:spcBef>
                <a:spcPts val="1200"/>
              </a:spcBef>
              <a:spcAft>
                <a:spcPts val="0"/>
              </a:spcAft>
              <a:buNone/>
            </a:pPr>
            <a:r>
              <a:rPr lang="en" sz="1400">
                <a:solidFill>
                  <a:srgbClr val="6F42C1"/>
                </a:solidFill>
                <a:highlight>
                  <a:srgbClr val="F6F8FA"/>
                </a:highlight>
                <a:latin typeface="Nunito"/>
                <a:ea typeface="Nunito"/>
                <a:cs typeface="Nunito"/>
                <a:sym typeface="Nunito"/>
              </a:rPr>
              <a:t>server.port</a:t>
            </a:r>
            <a:r>
              <a:rPr lang="en" sz="1400">
                <a:solidFill>
                  <a:srgbClr val="333333"/>
                </a:solidFill>
                <a:highlight>
                  <a:srgbClr val="F6F8FA"/>
                </a:highlight>
                <a:latin typeface="Nunito"/>
                <a:ea typeface="Nunito"/>
                <a:cs typeface="Nunito"/>
                <a:sym typeface="Nunito"/>
              </a:rPr>
              <a:t>=</a:t>
            </a:r>
            <a:r>
              <a:rPr lang="en" sz="1400">
                <a:solidFill>
                  <a:srgbClr val="005CC5"/>
                </a:solidFill>
                <a:highlight>
                  <a:srgbClr val="F6F8FA"/>
                </a:highlight>
                <a:latin typeface="Nunito"/>
                <a:ea typeface="Nunito"/>
                <a:cs typeface="Nunito"/>
                <a:sym typeface="Nunito"/>
              </a:rPr>
              <a:t>8080</a:t>
            </a:r>
            <a:endParaRPr sz="1400">
              <a:solidFill>
                <a:srgbClr val="333333"/>
              </a:solidFill>
              <a:highlight>
                <a:srgbClr val="F6F8FA"/>
              </a:highlight>
              <a:latin typeface="Nunito"/>
              <a:ea typeface="Nunito"/>
              <a:cs typeface="Nunito"/>
              <a:sym typeface="Nunito"/>
            </a:endParaRPr>
          </a:p>
          <a:p>
            <a:pPr indent="304800" lvl="0" marL="152400" marR="152400" rtl="0" algn="l">
              <a:lnSpc>
                <a:spcPct val="145000"/>
              </a:lnSpc>
              <a:spcBef>
                <a:spcPts val="1200"/>
              </a:spcBef>
              <a:spcAft>
                <a:spcPts val="1200"/>
              </a:spcAft>
              <a:buNone/>
            </a:pPr>
            <a:r>
              <a:rPr lang="en" sz="1400">
                <a:solidFill>
                  <a:srgbClr val="6F42C1"/>
                </a:solidFill>
                <a:highlight>
                  <a:srgbClr val="F6F8FA"/>
                </a:highlight>
                <a:latin typeface="Nunito"/>
                <a:ea typeface="Nunito"/>
                <a:cs typeface="Nunito"/>
                <a:sym typeface="Nunito"/>
              </a:rPr>
              <a:t>server.servlet.context-path</a:t>
            </a:r>
            <a:r>
              <a:rPr lang="en" sz="1400">
                <a:solidFill>
                  <a:srgbClr val="333333"/>
                </a:solidFill>
                <a:highlight>
                  <a:srgbClr val="F6F8FA"/>
                </a:highlight>
                <a:latin typeface="Nunito"/>
                <a:ea typeface="Nunito"/>
                <a:cs typeface="Nunito"/>
                <a:sym typeface="Nunito"/>
              </a:rPr>
              <a:t>=/springboot2webapp</a:t>
            </a:r>
            <a:endParaRPr sz="1400">
              <a:latin typeface="Nunito"/>
              <a:ea typeface="Nunito"/>
              <a:cs typeface="Nunito"/>
              <a:sym typeface="Nuni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reasons for Spring Boot is preferred over any other framework?</a:t>
            </a:r>
            <a:endParaRPr/>
          </a:p>
        </p:txBody>
      </p:sp>
      <p:sp>
        <p:nvSpPr>
          <p:cNvPr id="513" name="Google Shape;513;p7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It is one of the </a:t>
            </a:r>
            <a:r>
              <a:rPr b="1" lang="en" sz="1400">
                <a:solidFill>
                  <a:srgbClr val="3A3A3A"/>
                </a:solidFill>
                <a:highlight>
                  <a:srgbClr val="FFFFFF"/>
                </a:highlight>
                <a:latin typeface="Nunito"/>
                <a:ea typeface="Nunito"/>
                <a:cs typeface="Nunito"/>
                <a:sym typeface="Nunito"/>
              </a:rPr>
              <a:t>best means for configuring Java Beans.</a:t>
            </a:r>
            <a:endParaRPr b="1"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Spring Boot offers a highly robust batch processing for managing effectively REST endpoints.</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Spring boot can be </a:t>
            </a:r>
            <a:r>
              <a:rPr b="1" lang="en" sz="1400">
                <a:solidFill>
                  <a:srgbClr val="3A3A3A"/>
                </a:solidFill>
                <a:highlight>
                  <a:srgbClr val="FFFFFF"/>
                </a:highlight>
                <a:latin typeface="Nunito"/>
                <a:ea typeface="Nunito"/>
                <a:cs typeface="Nunito"/>
                <a:sym typeface="Nunito"/>
              </a:rPr>
              <a:t>integrated with the auto-configuration tool, which eliminates manual configuration</a:t>
            </a:r>
            <a:r>
              <a:rPr lang="en" sz="1400">
                <a:solidFill>
                  <a:srgbClr val="3A3A3A"/>
                </a:solidFill>
                <a:highlight>
                  <a:srgbClr val="FFFFFF"/>
                </a:highlight>
                <a:latin typeface="Nunito"/>
                <a:ea typeface="Nunito"/>
                <a:cs typeface="Nunito"/>
                <a:sym typeface="Nunito"/>
              </a:rPr>
              <a:t>, thereby speeding up development.</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It offers ease in </a:t>
            </a:r>
            <a:r>
              <a:rPr b="1" lang="en" sz="1400">
                <a:solidFill>
                  <a:srgbClr val="3A3A3A"/>
                </a:solidFill>
                <a:highlight>
                  <a:srgbClr val="FFFFFF"/>
                </a:highlight>
                <a:latin typeface="Nunito"/>
                <a:ea typeface="Nunito"/>
                <a:cs typeface="Nunito"/>
                <a:sym typeface="Nunito"/>
              </a:rPr>
              <a:t>dependency management</a:t>
            </a:r>
            <a:r>
              <a:rPr lang="en" sz="1400">
                <a:solidFill>
                  <a:srgbClr val="3A3A3A"/>
                </a:solidFill>
                <a:highlight>
                  <a:srgbClr val="FFFFFF"/>
                </a:highlight>
                <a:latin typeface="Nunito"/>
                <a:ea typeface="Nunito"/>
                <a:cs typeface="Nunito"/>
                <a:sym typeface="Nunito"/>
              </a:rPr>
              <a:t>, the inclusion of </a:t>
            </a:r>
            <a:r>
              <a:rPr b="1" lang="en" sz="1400">
                <a:solidFill>
                  <a:srgbClr val="3A3A3A"/>
                </a:solidFill>
                <a:highlight>
                  <a:srgbClr val="FFFFFF"/>
                </a:highlight>
                <a:latin typeface="Nunito"/>
                <a:ea typeface="Nunito"/>
                <a:cs typeface="Nunito"/>
                <a:sym typeface="Nunito"/>
              </a:rPr>
              <a:t>embedded servlet containers, and enables annotation-based configuration</a:t>
            </a:r>
            <a:r>
              <a:rPr lang="en" sz="1400">
                <a:solidFill>
                  <a:srgbClr val="3A3A3A"/>
                </a:solidFill>
                <a:highlight>
                  <a:srgbClr val="FFFFFF"/>
                </a:highlight>
                <a:latin typeface="Nunito"/>
                <a:ea typeface="Nunito"/>
                <a:cs typeface="Nunito"/>
                <a:sym typeface="Nunito"/>
              </a:rPr>
              <a:t>.</a:t>
            </a:r>
            <a:endParaRPr sz="1400">
              <a:latin typeface="Nunito"/>
              <a:ea typeface="Nunito"/>
              <a:cs typeface="Nunito"/>
              <a:sym typeface="Nuni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steps to implement swagger using Spring Boot</a:t>
            </a:r>
            <a:endParaRPr/>
          </a:p>
        </p:txBody>
      </p:sp>
      <p:sp>
        <p:nvSpPr>
          <p:cNvPr id="519" name="Google Shape;519;p7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A3A3A"/>
                </a:solidFill>
                <a:highlight>
                  <a:srgbClr val="FFFFFF"/>
                </a:highlight>
                <a:latin typeface="Arial"/>
                <a:ea typeface="Arial"/>
                <a:cs typeface="Arial"/>
                <a:sym typeface="Arial"/>
              </a:rPr>
              <a:t>Swagger is an open source set of rules, specs, and tools for describing and developing interactive, machine, and human-readable RESTful APIs.</a:t>
            </a:r>
            <a:endParaRPr b="1" sz="1200">
              <a:solidFill>
                <a:srgbClr val="3A3A3A"/>
              </a:solidFill>
              <a:highlight>
                <a:srgbClr val="FFFFFF"/>
              </a:highlight>
              <a:latin typeface="Arial"/>
              <a:ea typeface="Arial"/>
              <a:cs typeface="Arial"/>
              <a:sym typeface="Arial"/>
            </a:endParaRPr>
          </a:p>
          <a:p>
            <a:pPr indent="0" lvl="0" marL="0" rtl="0" algn="l">
              <a:spcBef>
                <a:spcPts val="1700"/>
              </a:spcBef>
              <a:spcAft>
                <a:spcPts val="0"/>
              </a:spcAft>
              <a:buNone/>
            </a:pPr>
            <a:r>
              <a:rPr b="1" lang="en" sz="1200">
                <a:solidFill>
                  <a:srgbClr val="3A3A3A"/>
                </a:solidFill>
                <a:latin typeface="Arial"/>
                <a:ea typeface="Arial"/>
                <a:cs typeface="Arial"/>
                <a:sym typeface="Arial"/>
              </a:rPr>
              <a:t>@EnableSwagger2WebMv</a:t>
            </a:r>
            <a:r>
              <a:rPr b="1" lang="en" sz="1200">
                <a:solidFill>
                  <a:srgbClr val="3A3A3A"/>
                </a:solidFill>
                <a:latin typeface="Arial"/>
                <a:ea typeface="Arial"/>
                <a:cs typeface="Arial"/>
                <a:sym typeface="Arial"/>
              </a:rPr>
              <a:t>c</a:t>
            </a:r>
            <a:endParaRPr b="1" sz="1200">
              <a:solidFill>
                <a:srgbClr val="3A3A3A"/>
              </a:solidFill>
              <a:latin typeface="Arial"/>
              <a:ea typeface="Arial"/>
              <a:cs typeface="Arial"/>
              <a:sym typeface="Arial"/>
            </a:endParaRPr>
          </a:p>
          <a:p>
            <a:pPr indent="0" lvl="0" marL="0" rtl="0" algn="l">
              <a:spcBef>
                <a:spcPts val="1700"/>
              </a:spcBef>
              <a:spcAft>
                <a:spcPts val="0"/>
              </a:spcAft>
              <a:buNone/>
            </a:pPr>
            <a:r>
              <a:rPr b="1" lang="en" sz="1200">
                <a:solidFill>
                  <a:srgbClr val="3A3A3A"/>
                </a:solidFill>
                <a:latin typeface="Arial"/>
                <a:ea typeface="Arial"/>
                <a:cs typeface="Arial"/>
                <a:sym typeface="Arial"/>
              </a:rPr>
              <a:t>@Import (SpringDataRestConfig.class)</a:t>
            </a:r>
            <a:endParaRPr b="1" sz="1200">
              <a:solidFill>
                <a:srgbClr val="3A3A3A"/>
              </a:solidFill>
              <a:highlight>
                <a:srgbClr val="FFFFFF"/>
              </a:highlight>
              <a:latin typeface="Arial"/>
              <a:ea typeface="Arial"/>
              <a:cs typeface="Arial"/>
              <a:sym typeface="Arial"/>
            </a:endParaRPr>
          </a:p>
          <a:p>
            <a:pPr indent="0" lvl="0" marL="0" rtl="0" algn="l">
              <a:spcBef>
                <a:spcPts val="1700"/>
              </a:spcBef>
              <a:spcAft>
                <a:spcPts val="1800"/>
              </a:spcAft>
              <a:buNone/>
            </a:pPr>
            <a:r>
              <a:rPr lang="en" sz="1200">
                <a:solidFill>
                  <a:srgbClr val="3A3A3A"/>
                </a:solidFill>
                <a:highlight>
                  <a:srgbClr val="FFFFFF"/>
                </a:highlight>
                <a:latin typeface="Arial"/>
                <a:ea typeface="Arial"/>
                <a:cs typeface="Arial"/>
                <a:sym typeface="Arial"/>
              </a:rPr>
              <a:t>Specifications are generated for the AppUser entity with HTTP methods like GET, POST, PUT, PATCH, and DELETE.</a:t>
            </a:r>
            <a:endParaRPr sz="1200">
              <a:solidFill>
                <a:srgbClr val="3A3A3A"/>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integrate Spring Boot and Apache Kafka</a:t>
            </a:r>
            <a:endParaRPr/>
          </a:p>
        </p:txBody>
      </p:sp>
      <p:sp>
        <p:nvSpPr>
          <p:cNvPr id="525" name="Google Shape;525;p7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integrate Spring Boot and ActiveMQ</a:t>
            </a:r>
            <a:endParaRPr/>
          </a:p>
        </p:txBody>
      </p:sp>
      <p:sp>
        <p:nvSpPr>
          <p:cNvPr id="531" name="Google Shape;531;p7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3A3A3A"/>
                </a:solidFill>
                <a:highlight>
                  <a:srgbClr val="FFFFFF"/>
                </a:highlight>
                <a:latin typeface="Nunito"/>
                <a:ea typeface="Nunito"/>
                <a:cs typeface="Nunito"/>
                <a:sym typeface="Nunito"/>
              </a:rPr>
              <a:t>Written in Java, Apache ActiveMQ is an open-source multi-protocol message broker with a full Java message service client. </a:t>
            </a:r>
            <a:endParaRPr b="1" sz="1400">
              <a:solidFill>
                <a:srgbClr val="3A3A3A"/>
              </a:solidFill>
              <a:highlight>
                <a:srgbClr val="FFFFFF"/>
              </a:highlight>
              <a:latin typeface="Nunito"/>
              <a:ea typeface="Nunito"/>
              <a:cs typeface="Nunito"/>
              <a:sym typeface="Nunito"/>
            </a:endParaRPr>
          </a:p>
          <a:p>
            <a:pPr indent="-317500" lvl="0" marL="457200" rtl="0" algn="l">
              <a:spcBef>
                <a:spcPts val="1200"/>
              </a:spcBef>
              <a:spcAft>
                <a:spcPts val="0"/>
              </a:spcAft>
              <a:buClr>
                <a:srgbClr val="3A3A3A"/>
              </a:buClr>
              <a:buSzPts val="1400"/>
              <a:buFont typeface="Arial"/>
              <a:buChar char="●"/>
            </a:pPr>
            <a:r>
              <a:rPr lang="en" sz="1400">
                <a:solidFill>
                  <a:srgbClr val="3A3A3A"/>
                </a:solidFill>
                <a:highlight>
                  <a:srgbClr val="FFFFFF"/>
                </a:highlight>
                <a:latin typeface="Nunito"/>
                <a:ea typeface="Nunito"/>
                <a:cs typeface="Nunito"/>
                <a:sym typeface="Nunito"/>
              </a:rPr>
              <a:t>In order to </a:t>
            </a:r>
            <a:r>
              <a:rPr b="1" lang="en" sz="1400">
                <a:solidFill>
                  <a:srgbClr val="3A3A3A"/>
                </a:solidFill>
                <a:highlight>
                  <a:srgbClr val="FFFFFF"/>
                </a:highlight>
                <a:latin typeface="Nunito"/>
                <a:ea typeface="Nunito"/>
                <a:cs typeface="Nunito"/>
                <a:sym typeface="Nunito"/>
              </a:rPr>
              <a:t>integrate Spring Boot with ActiveMQ</a:t>
            </a:r>
            <a:r>
              <a:rPr lang="en" sz="1400">
                <a:solidFill>
                  <a:srgbClr val="3A3A3A"/>
                </a:solidFill>
                <a:highlight>
                  <a:srgbClr val="FFFFFF"/>
                </a:highlight>
                <a:latin typeface="Nunito"/>
                <a:ea typeface="Nunito"/>
                <a:cs typeface="Nunito"/>
                <a:sym typeface="Nunito"/>
              </a:rPr>
              <a:t>, download and </a:t>
            </a:r>
            <a:r>
              <a:rPr b="1" lang="en" sz="1400">
                <a:solidFill>
                  <a:srgbClr val="3A3A3A"/>
                </a:solidFill>
                <a:highlight>
                  <a:srgbClr val="FFFFFF"/>
                </a:highlight>
                <a:latin typeface="Nunito"/>
                <a:ea typeface="Nunito"/>
                <a:cs typeface="Nunito"/>
                <a:sym typeface="Nunito"/>
              </a:rPr>
              <a:t>run ActiveMQ</a:t>
            </a:r>
            <a:endParaRPr b="1" sz="1400">
              <a:solidFill>
                <a:srgbClr val="3A3A3A"/>
              </a:solidFill>
              <a:highlight>
                <a:srgbClr val="FFFFFF"/>
              </a:highlight>
              <a:latin typeface="Nunito"/>
              <a:ea typeface="Nunito"/>
              <a:cs typeface="Nunito"/>
              <a:sym typeface="Nunito"/>
            </a:endParaRPr>
          </a:p>
          <a:p>
            <a:pPr indent="-317500" lvl="0" marL="457200" rtl="0" algn="l">
              <a:spcBef>
                <a:spcPts val="0"/>
              </a:spcBef>
              <a:spcAft>
                <a:spcPts val="0"/>
              </a:spcAft>
              <a:buClr>
                <a:srgbClr val="3A3A3A"/>
              </a:buClr>
              <a:buSzPts val="1400"/>
              <a:buFont typeface="Arial"/>
              <a:buChar char="●"/>
            </a:pPr>
            <a:r>
              <a:rPr lang="en" sz="1400">
                <a:solidFill>
                  <a:srgbClr val="3A3A3A"/>
                </a:solidFill>
                <a:highlight>
                  <a:srgbClr val="FFFFFF"/>
                </a:highlight>
                <a:latin typeface="Nunito"/>
                <a:ea typeface="Nunito"/>
                <a:cs typeface="Nunito"/>
                <a:sym typeface="Nunito"/>
              </a:rPr>
              <a:t>In Maven, the dependency needed is </a:t>
            </a:r>
            <a:r>
              <a:rPr b="1" lang="en" sz="1400">
                <a:solidFill>
                  <a:srgbClr val="3A3A3A"/>
                </a:solidFill>
                <a:highlight>
                  <a:srgbClr val="FFFFFF"/>
                </a:highlight>
                <a:latin typeface="Nunito"/>
                <a:ea typeface="Nunito"/>
                <a:cs typeface="Nunito"/>
                <a:sym typeface="Nunito"/>
              </a:rPr>
              <a:t>spring-boot-starter-activemq</a:t>
            </a:r>
            <a:endParaRPr b="1" sz="1400">
              <a:solidFill>
                <a:srgbClr val="3A3A3A"/>
              </a:solidFill>
              <a:highlight>
                <a:srgbClr val="FFFFFF"/>
              </a:highlight>
              <a:latin typeface="Nunito"/>
              <a:ea typeface="Nunito"/>
              <a:cs typeface="Nunito"/>
              <a:sym typeface="Nunito"/>
            </a:endParaRPr>
          </a:p>
          <a:p>
            <a:pPr indent="-317500" lvl="0" marL="4572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Create application.properties as </a:t>
            </a:r>
            <a:r>
              <a:rPr b="1" lang="en" sz="1400">
                <a:solidFill>
                  <a:srgbClr val="3A3A3A"/>
                </a:solidFill>
                <a:highlight>
                  <a:srgbClr val="FFFFFF"/>
                </a:highlight>
                <a:latin typeface="Nunito"/>
                <a:ea typeface="Nunito"/>
                <a:cs typeface="Nunito"/>
                <a:sym typeface="Nunito"/>
              </a:rPr>
              <a:t>spring.activemq.broker-url = tcp://localhost:61616</a:t>
            </a:r>
            <a:endParaRPr b="1" sz="1400">
              <a:solidFill>
                <a:srgbClr val="3A3A3A"/>
              </a:solidFill>
              <a:highlight>
                <a:srgbClr val="FFFFFF"/>
              </a:highlight>
              <a:latin typeface="Nunito"/>
              <a:ea typeface="Nunito"/>
              <a:cs typeface="Nunito"/>
              <a:sym typeface="Nunito"/>
            </a:endParaRPr>
          </a:p>
          <a:p>
            <a:pPr indent="-317500" lvl="0" marL="457200" rtl="0" algn="l">
              <a:spcBef>
                <a:spcPts val="0"/>
              </a:spcBef>
              <a:spcAft>
                <a:spcPts val="0"/>
              </a:spcAft>
              <a:buClr>
                <a:srgbClr val="3A3A3A"/>
              </a:buClr>
              <a:buSzPts val="1400"/>
              <a:buFont typeface="Arial"/>
              <a:buChar char="●"/>
            </a:pPr>
            <a:r>
              <a:rPr lang="en" sz="1400">
                <a:solidFill>
                  <a:srgbClr val="3A3A3A"/>
                </a:solidFill>
                <a:highlight>
                  <a:srgbClr val="FFFFFF"/>
                </a:highlight>
                <a:latin typeface="Nunito"/>
                <a:ea typeface="Nunito"/>
                <a:cs typeface="Nunito"/>
                <a:sym typeface="Nunito"/>
              </a:rPr>
              <a:t>Use </a:t>
            </a:r>
            <a:r>
              <a:rPr b="1" lang="en" sz="1400">
                <a:solidFill>
                  <a:srgbClr val="EF4444"/>
                </a:solidFill>
                <a:highlight>
                  <a:srgbClr val="FFFFFF"/>
                </a:highlight>
                <a:latin typeface="Nunito"/>
                <a:ea typeface="Nunito"/>
                <a:cs typeface="Nunito"/>
                <a:sym typeface="Nunito"/>
              </a:rPr>
              <a:t>JMSTemplate</a:t>
            </a:r>
            <a:r>
              <a:rPr lang="en" sz="1400">
                <a:solidFill>
                  <a:srgbClr val="3A3A3A"/>
                </a:solidFill>
                <a:highlight>
                  <a:srgbClr val="FFFFFF"/>
                </a:highlight>
                <a:latin typeface="Nunito"/>
                <a:ea typeface="Nunito"/>
                <a:cs typeface="Nunito"/>
                <a:sym typeface="Nunito"/>
              </a:rPr>
              <a:t> </a:t>
            </a:r>
            <a:r>
              <a:rPr b="1" lang="en" sz="1400">
                <a:solidFill>
                  <a:srgbClr val="3A3A3A"/>
                </a:solidFill>
                <a:highlight>
                  <a:srgbClr val="FFFFFF"/>
                </a:highlight>
                <a:latin typeface="Nunito"/>
                <a:ea typeface="Nunito"/>
                <a:cs typeface="Nunito"/>
                <a:sym typeface="Nunito"/>
              </a:rPr>
              <a:t>to add new queues</a:t>
            </a:r>
            <a:r>
              <a:rPr lang="en" sz="1400">
                <a:solidFill>
                  <a:srgbClr val="3A3A3A"/>
                </a:solidFill>
                <a:highlight>
                  <a:srgbClr val="FFFFFF"/>
                </a:highlight>
                <a:latin typeface="Nunito"/>
                <a:ea typeface="Nunito"/>
                <a:cs typeface="Nunito"/>
                <a:sym typeface="Nunito"/>
              </a:rPr>
              <a:t> as ‘myqueues’</a:t>
            </a:r>
            <a:endParaRPr sz="1400">
              <a:solidFill>
                <a:srgbClr val="3A3A3A"/>
              </a:solidFill>
              <a:highlight>
                <a:srgbClr val="FFFFFF"/>
              </a:highlight>
              <a:latin typeface="Nunito"/>
              <a:ea typeface="Nunito"/>
              <a:cs typeface="Nunito"/>
              <a:sym typeface="Nunit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8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Describe steps to deploy Spring Boot to a Docker container.</a:t>
            </a:r>
            <a:endParaRPr/>
          </a:p>
        </p:txBody>
      </p:sp>
      <p:sp>
        <p:nvSpPr>
          <p:cNvPr id="537" name="Google Shape;537;p8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3A3A3A"/>
                </a:solidFill>
                <a:highlight>
                  <a:srgbClr val="FFFFFF"/>
                </a:highlight>
                <a:latin typeface="Arial"/>
                <a:ea typeface="Arial"/>
                <a:cs typeface="Arial"/>
                <a:sym typeface="Arial"/>
              </a:rPr>
              <a:t>Docker is a service products platform for </a:t>
            </a:r>
            <a:r>
              <a:rPr b="1" lang="en" sz="1200">
                <a:solidFill>
                  <a:srgbClr val="3A3A3A"/>
                </a:solidFill>
                <a:highlight>
                  <a:srgbClr val="FFFFFF"/>
                </a:highlight>
                <a:latin typeface="Arial"/>
                <a:ea typeface="Arial"/>
                <a:cs typeface="Arial"/>
                <a:sym typeface="Arial"/>
              </a:rPr>
              <a:t>OS-level virtualization</a:t>
            </a:r>
            <a:r>
              <a:rPr lang="en" sz="1200">
                <a:solidFill>
                  <a:srgbClr val="3A3A3A"/>
                </a:solidFill>
                <a:highlight>
                  <a:srgbClr val="FFFFFF"/>
                </a:highlight>
                <a:latin typeface="Arial"/>
                <a:ea typeface="Arial"/>
                <a:cs typeface="Arial"/>
                <a:sym typeface="Arial"/>
              </a:rPr>
              <a:t> delivering software in packages called containers. </a:t>
            </a:r>
            <a:endParaRPr sz="1200">
              <a:solidFill>
                <a:srgbClr val="3A3A3A"/>
              </a:solidFill>
              <a:highlight>
                <a:srgbClr val="FFFFFF"/>
              </a:highlight>
              <a:latin typeface="Arial"/>
              <a:ea typeface="Arial"/>
              <a:cs typeface="Arial"/>
              <a:sym typeface="Arial"/>
            </a:endParaRPr>
          </a:p>
          <a:p>
            <a:pPr indent="-304800" lvl="0" marL="457200" rtl="0" algn="l">
              <a:spcBef>
                <a:spcPts val="120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An executable jar file will be created with a configured Maven file</a:t>
            </a:r>
            <a:br>
              <a:rPr lang="en" sz="1200">
                <a:solidFill>
                  <a:srgbClr val="3A3A3A"/>
                </a:solidFill>
                <a:highlight>
                  <a:srgbClr val="FFFFFF"/>
                </a:highlight>
                <a:latin typeface="Arial"/>
                <a:ea typeface="Arial"/>
                <a:cs typeface="Arial"/>
                <a:sym typeface="Arial"/>
              </a:rPr>
            </a:br>
            <a:r>
              <a:rPr lang="en" sz="1200">
                <a:solidFill>
                  <a:srgbClr val="3A3A3A"/>
                </a:solidFill>
                <a:highlight>
                  <a:srgbClr val="FFFFFF"/>
                </a:highlight>
                <a:latin typeface="Arial"/>
                <a:ea typeface="Arial"/>
                <a:cs typeface="Arial"/>
                <a:sym typeface="Arial"/>
              </a:rPr>
              <a:t>	mvn clean package</a:t>
            </a:r>
            <a:endParaRPr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Start up the Spring Boot application</a:t>
            </a:r>
            <a:br>
              <a:rPr lang="en" sz="1200">
                <a:solidFill>
                  <a:srgbClr val="3A3A3A"/>
                </a:solidFill>
                <a:highlight>
                  <a:srgbClr val="FFFFFF"/>
                </a:highlight>
                <a:latin typeface="Arial"/>
                <a:ea typeface="Arial"/>
                <a:cs typeface="Arial"/>
                <a:sym typeface="Arial"/>
              </a:rPr>
            </a:br>
            <a:r>
              <a:rPr lang="en" sz="1200">
                <a:solidFill>
                  <a:srgbClr val="3A3A3A"/>
                </a:solidFill>
                <a:highlight>
                  <a:srgbClr val="FFFFFF"/>
                </a:highlight>
                <a:latin typeface="Arial"/>
                <a:ea typeface="Arial"/>
                <a:cs typeface="Arial"/>
                <a:sym typeface="Arial"/>
              </a:rPr>
              <a:t>	java –jar taget/docker-message-server-1.0.0.jar</a:t>
            </a:r>
            <a:endParaRPr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To Dockerize the application, Dockerfile is created as below</a:t>
            </a:r>
            <a:br>
              <a:rPr lang="en" sz="1200">
                <a:solidFill>
                  <a:srgbClr val="3A3A3A"/>
                </a:solidFill>
                <a:highlight>
                  <a:srgbClr val="FFFFFF"/>
                </a:highlight>
                <a:latin typeface="Arial"/>
                <a:ea typeface="Arial"/>
                <a:cs typeface="Arial"/>
                <a:sym typeface="Arial"/>
              </a:rPr>
            </a:br>
            <a:endParaRPr sz="1200">
              <a:solidFill>
                <a:srgbClr val="3A3A3A"/>
              </a:solidFill>
              <a:highlight>
                <a:srgbClr val="FFFFFF"/>
              </a:highlight>
              <a:latin typeface="Arial"/>
              <a:ea typeface="Arial"/>
              <a:cs typeface="Arial"/>
              <a:sym typeface="Arial"/>
            </a:endParaRPr>
          </a:p>
        </p:txBody>
      </p:sp>
      <p:pic>
        <p:nvPicPr>
          <p:cNvPr id="538" name="Google Shape;538;p80"/>
          <p:cNvPicPr preferRelativeResize="0"/>
          <p:nvPr/>
        </p:nvPicPr>
        <p:blipFill>
          <a:blip r:embed="rId3">
            <a:alphaModFix/>
          </a:blip>
          <a:stretch>
            <a:fillRect/>
          </a:stretch>
        </p:blipFill>
        <p:spPr>
          <a:xfrm>
            <a:off x="1346275" y="3769300"/>
            <a:ext cx="5401025" cy="10788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1"/>
          <p:cNvSpPr txBox="1"/>
          <p:nvPr>
            <p:ph idx="1" type="body"/>
          </p:nvPr>
        </p:nvSpPr>
        <p:spPr>
          <a:xfrm>
            <a:off x="819150" y="624525"/>
            <a:ext cx="7505700" cy="381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Nunito"/>
              <a:buChar char="●"/>
            </a:pPr>
            <a:r>
              <a:rPr lang="en" sz="1800">
                <a:solidFill>
                  <a:srgbClr val="3A3A3A"/>
                </a:solidFill>
                <a:highlight>
                  <a:srgbClr val="FFFFFF"/>
                </a:highlight>
                <a:latin typeface="Nunito"/>
                <a:ea typeface="Nunito"/>
                <a:cs typeface="Nunito"/>
                <a:sym typeface="Nunito"/>
              </a:rPr>
              <a:t> To run </a:t>
            </a:r>
            <a:r>
              <a:rPr b="1" lang="en" sz="1800">
                <a:solidFill>
                  <a:srgbClr val="3A3A3A"/>
                </a:solidFill>
                <a:highlight>
                  <a:srgbClr val="FFFFFF"/>
                </a:highlight>
                <a:latin typeface="Nunito"/>
                <a:ea typeface="Nunito"/>
                <a:cs typeface="Nunito"/>
                <a:sym typeface="Nunito"/>
              </a:rPr>
              <a:t>‘docker build</a:t>
            </a:r>
            <a:r>
              <a:rPr lang="en" sz="1800">
                <a:solidFill>
                  <a:srgbClr val="3A3A3A"/>
                </a:solidFill>
                <a:highlight>
                  <a:srgbClr val="FFFFFF"/>
                </a:highlight>
                <a:latin typeface="Nunito"/>
                <a:ea typeface="Nunito"/>
                <a:cs typeface="Nunito"/>
                <a:sym typeface="Nunito"/>
              </a:rPr>
              <a:t>’ like before –</a:t>
            </a:r>
            <a:br>
              <a:rPr lang="en" sz="1800">
                <a:solidFill>
                  <a:srgbClr val="3A3A3A"/>
                </a:solidFill>
                <a:highlight>
                  <a:srgbClr val="FFFFFF"/>
                </a:highlight>
                <a:latin typeface="Nunito"/>
                <a:ea typeface="Nunito"/>
                <a:cs typeface="Nunito"/>
                <a:sym typeface="Nunito"/>
              </a:rPr>
            </a:br>
            <a:r>
              <a:rPr lang="en" sz="1800">
                <a:solidFill>
                  <a:srgbClr val="3A3A3A"/>
                </a:solidFill>
                <a:highlight>
                  <a:srgbClr val="FFFFFF"/>
                </a:highlight>
                <a:latin typeface="Nunito"/>
                <a:ea typeface="Nunito"/>
                <a:cs typeface="Nunito"/>
                <a:sym typeface="Nunito"/>
              </a:rPr>
              <a:t>	</a:t>
            </a:r>
            <a:r>
              <a:rPr b="1" lang="en" sz="1800">
                <a:solidFill>
                  <a:srgbClr val="3A3A3A"/>
                </a:solidFill>
                <a:highlight>
                  <a:srgbClr val="FFFFFF"/>
                </a:highlight>
                <a:latin typeface="Nunito"/>
                <a:ea typeface="Nunito"/>
                <a:cs typeface="Nunito"/>
                <a:sym typeface="Nunito"/>
              </a:rPr>
              <a:t>docker build –tag=message-server:latest</a:t>
            </a:r>
            <a:endParaRPr b="1" sz="1800">
              <a:solidFill>
                <a:srgbClr val="3A3A3A"/>
              </a:solidFill>
              <a:highlight>
                <a:srgbClr val="FFFFFF"/>
              </a:highlight>
              <a:latin typeface="Nunito"/>
              <a:ea typeface="Nunito"/>
              <a:cs typeface="Nunito"/>
              <a:sym typeface="Nunito"/>
            </a:endParaRPr>
          </a:p>
          <a:p>
            <a:pPr indent="-342900" lvl="0" marL="457200" rtl="0" algn="l">
              <a:spcBef>
                <a:spcPts val="0"/>
              </a:spcBef>
              <a:spcAft>
                <a:spcPts val="0"/>
              </a:spcAft>
              <a:buClr>
                <a:srgbClr val="3A3A3A"/>
              </a:buClr>
              <a:buSzPts val="1800"/>
              <a:buFont typeface="Nunito"/>
              <a:buChar char="●"/>
            </a:pPr>
            <a:r>
              <a:rPr lang="en" sz="1800">
                <a:solidFill>
                  <a:srgbClr val="3A3A3A"/>
                </a:solidFill>
                <a:highlight>
                  <a:srgbClr val="FFFFFF"/>
                </a:highlight>
                <a:latin typeface="Nunito"/>
                <a:ea typeface="Nunito"/>
                <a:cs typeface="Nunito"/>
                <a:sym typeface="Nunito"/>
              </a:rPr>
              <a:t>We can </a:t>
            </a:r>
            <a:r>
              <a:rPr b="1" lang="en" sz="1800">
                <a:solidFill>
                  <a:srgbClr val="3A3A3A"/>
                </a:solidFill>
                <a:highlight>
                  <a:srgbClr val="FFFFFF"/>
                </a:highlight>
                <a:latin typeface="Nunito"/>
                <a:ea typeface="Nunito"/>
                <a:cs typeface="Nunito"/>
                <a:sym typeface="Nunito"/>
              </a:rPr>
              <a:t>run</a:t>
            </a:r>
            <a:r>
              <a:rPr lang="en" sz="1800">
                <a:solidFill>
                  <a:srgbClr val="3A3A3A"/>
                </a:solidFill>
                <a:highlight>
                  <a:srgbClr val="FFFFFF"/>
                </a:highlight>
                <a:latin typeface="Nunito"/>
                <a:ea typeface="Nunito"/>
                <a:cs typeface="Nunito"/>
                <a:sym typeface="Nunito"/>
              </a:rPr>
              <a:t> the container from the image below</a:t>
            </a:r>
            <a:br>
              <a:rPr lang="en" sz="1800">
                <a:solidFill>
                  <a:srgbClr val="3A3A3A"/>
                </a:solidFill>
                <a:highlight>
                  <a:srgbClr val="FFFFFF"/>
                </a:highlight>
                <a:latin typeface="Nunito"/>
                <a:ea typeface="Nunito"/>
                <a:cs typeface="Nunito"/>
                <a:sym typeface="Nunito"/>
              </a:rPr>
            </a:br>
            <a:r>
              <a:rPr b="1" lang="en" sz="1800">
                <a:solidFill>
                  <a:srgbClr val="3A3A3A"/>
                </a:solidFill>
                <a:highlight>
                  <a:srgbClr val="FFFFFF"/>
                </a:highlight>
                <a:latin typeface="Nunito"/>
                <a:ea typeface="Nunito"/>
                <a:cs typeface="Nunito"/>
                <a:sym typeface="Nunito"/>
              </a:rPr>
              <a:t>	docker run –p8887:8888 message-server:latest</a:t>
            </a:r>
            <a:br>
              <a:rPr lang="en" sz="1800">
                <a:solidFill>
                  <a:srgbClr val="3A3A3A"/>
                </a:solidFill>
                <a:highlight>
                  <a:srgbClr val="FFFFFF"/>
                </a:highlight>
                <a:latin typeface="Nunito"/>
                <a:ea typeface="Nunito"/>
                <a:cs typeface="Nunito"/>
                <a:sym typeface="Nunito"/>
              </a:rPr>
            </a:br>
            <a:br>
              <a:rPr lang="en" sz="1800">
                <a:solidFill>
                  <a:srgbClr val="3A3A3A"/>
                </a:solidFill>
                <a:highlight>
                  <a:srgbClr val="FFFFFF"/>
                </a:highlight>
                <a:latin typeface="Nunito"/>
                <a:ea typeface="Nunito"/>
                <a:cs typeface="Nunito"/>
                <a:sym typeface="Nunito"/>
              </a:rPr>
            </a:br>
            <a:r>
              <a:rPr lang="en" sz="1800">
                <a:solidFill>
                  <a:srgbClr val="3A3A3A"/>
                </a:solidFill>
                <a:highlight>
                  <a:srgbClr val="FFFFFF"/>
                </a:highlight>
                <a:latin typeface="Nunito"/>
                <a:ea typeface="Nunito"/>
                <a:cs typeface="Nunito"/>
                <a:sym typeface="Nunito"/>
              </a:rPr>
              <a:t>The above command will start the Spring Boot application in Docker, by accessing it from the host machine at localhost:8887/messages. We need to define the port mapping – mapping a port at host 8887 to a port inside Docker 8888.</a:t>
            </a:r>
            <a:endParaRPr sz="1800">
              <a:solidFill>
                <a:srgbClr val="3A3A3A"/>
              </a:solidFill>
              <a:highlight>
                <a:srgbClr val="FFFFFF"/>
              </a:highlight>
              <a:latin typeface="Nunito"/>
              <a:ea typeface="Nunito"/>
              <a:cs typeface="Nunito"/>
              <a:sym typeface="Nunit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8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steps to deploy the Spring Boot application as a WAR.</a:t>
            </a:r>
            <a:endParaRPr/>
          </a:p>
        </p:txBody>
      </p:sp>
      <p:sp>
        <p:nvSpPr>
          <p:cNvPr id="549" name="Google Shape;549;p8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200">
                <a:solidFill>
                  <a:srgbClr val="3A3A3A"/>
                </a:solidFill>
                <a:highlight>
                  <a:srgbClr val="FFFFFF"/>
                </a:highlight>
                <a:latin typeface="Nunito"/>
                <a:ea typeface="Nunito"/>
                <a:cs typeface="Nunito"/>
                <a:sym typeface="Nunito"/>
              </a:rPr>
              <a:t>Add the </a:t>
            </a:r>
            <a:r>
              <a:rPr b="1" lang="en" sz="1200">
                <a:solidFill>
                  <a:srgbClr val="3A3A3A"/>
                </a:solidFill>
                <a:latin typeface="Nunito"/>
                <a:ea typeface="Nunito"/>
                <a:cs typeface="Nunito"/>
                <a:sym typeface="Nunito"/>
              </a:rPr>
              <a:t>spring-boot-maven-plugin</a:t>
            </a:r>
            <a:r>
              <a:rPr lang="en" sz="1200">
                <a:solidFill>
                  <a:srgbClr val="3A3A3A"/>
                </a:solidFill>
                <a:highlight>
                  <a:srgbClr val="FFFFFF"/>
                </a:highlight>
                <a:latin typeface="Nunito"/>
                <a:ea typeface="Nunito"/>
                <a:cs typeface="Nunito"/>
                <a:sym typeface="Nunito"/>
              </a:rPr>
              <a:t> plugin in pom.xml</a:t>
            </a:r>
            <a:endParaRPr sz="1200">
              <a:solidFill>
                <a:srgbClr val="3A3A3A"/>
              </a:solidFill>
              <a:highlight>
                <a:srgbClr val="FFFFFF"/>
              </a:highlight>
              <a:latin typeface="Nunito"/>
              <a:ea typeface="Nunito"/>
              <a:cs typeface="Nunito"/>
              <a:sym typeface="Nunito"/>
            </a:endParaRPr>
          </a:p>
          <a:p>
            <a:pPr indent="-304800" lvl="0" marL="4572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With the above plugin, a Jar executing package phase will be generated, which will have all necessary libraries and dependencies along with the embedded server.</a:t>
            </a:r>
            <a:br>
              <a:rPr lang="en" sz="1200">
                <a:solidFill>
                  <a:srgbClr val="3A3A3A"/>
                </a:solidFill>
                <a:highlight>
                  <a:srgbClr val="FFFFFF"/>
                </a:highlight>
                <a:latin typeface="Nunito"/>
                <a:ea typeface="Nunito"/>
                <a:cs typeface="Nunito"/>
                <a:sym typeface="Nunito"/>
              </a:rPr>
            </a:br>
            <a:r>
              <a:rPr lang="en" sz="1200">
                <a:solidFill>
                  <a:srgbClr val="3A3A3A"/>
                </a:solidFill>
                <a:highlight>
                  <a:srgbClr val="FFFFFF"/>
                </a:highlight>
                <a:latin typeface="Nunito"/>
                <a:ea typeface="Nunito"/>
                <a:cs typeface="Nunito"/>
                <a:sym typeface="Nunito"/>
              </a:rPr>
              <a:t>You can run an application like an ordinary JAR file.</a:t>
            </a:r>
            <a:endParaRPr sz="1200">
              <a:solidFill>
                <a:srgbClr val="3A3A3A"/>
              </a:solidFill>
              <a:highlight>
                <a:srgbClr val="FFFFFF"/>
              </a:highlight>
              <a:latin typeface="Nunito"/>
              <a:ea typeface="Nunito"/>
              <a:cs typeface="Nunito"/>
              <a:sym typeface="Nunito"/>
            </a:endParaRPr>
          </a:p>
          <a:p>
            <a:pPr indent="-304800" lvl="0" marL="4572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Nunito"/>
                <a:ea typeface="Nunito"/>
                <a:cs typeface="Nunito"/>
                <a:sym typeface="Nunito"/>
              </a:rPr>
              <a:t>The packaging element in pom.xml must be set to jar to build a JAR file as</a:t>
            </a:r>
            <a:br>
              <a:rPr lang="en" sz="1200">
                <a:solidFill>
                  <a:srgbClr val="3A3A3A"/>
                </a:solidFill>
                <a:highlight>
                  <a:srgbClr val="FFFFFF"/>
                </a:highlight>
                <a:latin typeface="Nunito"/>
                <a:ea typeface="Nunito"/>
                <a:cs typeface="Nunito"/>
                <a:sym typeface="Nunito"/>
              </a:rPr>
            </a:br>
            <a:br>
              <a:rPr lang="en" sz="1200">
                <a:solidFill>
                  <a:srgbClr val="3A3A3A"/>
                </a:solidFill>
                <a:highlight>
                  <a:srgbClr val="FFFFFF"/>
                </a:highlight>
                <a:latin typeface="Nunito"/>
                <a:ea typeface="Nunito"/>
                <a:cs typeface="Nunito"/>
                <a:sym typeface="Nunito"/>
              </a:rPr>
            </a:br>
            <a:r>
              <a:rPr lang="en" sz="1200">
                <a:solidFill>
                  <a:srgbClr val="EF4444"/>
                </a:solidFill>
                <a:highlight>
                  <a:srgbClr val="FFFFFF"/>
                </a:highlight>
                <a:latin typeface="Nunito"/>
                <a:ea typeface="Nunito"/>
                <a:cs typeface="Nunito"/>
                <a:sym typeface="Nunito"/>
              </a:rPr>
              <a:t>&lt;packaging&gt;</a:t>
            </a:r>
            <a:r>
              <a:rPr b="1" lang="en" sz="1200">
                <a:solidFill>
                  <a:srgbClr val="EF4444"/>
                </a:solidFill>
                <a:highlight>
                  <a:srgbClr val="FFFFFF"/>
                </a:highlight>
                <a:latin typeface="Nunito"/>
                <a:ea typeface="Nunito"/>
                <a:cs typeface="Nunito"/>
                <a:sym typeface="Nunito"/>
              </a:rPr>
              <a:t>jar</a:t>
            </a:r>
            <a:r>
              <a:rPr lang="en" sz="1200">
                <a:solidFill>
                  <a:srgbClr val="EF4444"/>
                </a:solidFill>
                <a:highlight>
                  <a:srgbClr val="FFFFFF"/>
                </a:highlight>
                <a:latin typeface="Nunito"/>
                <a:ea typeface="Nunito"/>
                <a:cs typeface="Nunito"/>
                <a:sym typeface="Nunito"/>
              </a:rPr>
              <a:t>&lt;/packaging&gt;</a:t>
            </a:r>
            <a:endParaRPr sz="1200">
              <a:solidFill>
                <a:srgbClr val="EF4444"/>
              </a:solidFill>
              <a:highlight>
                <a:srgbClr val="FFFFFF"/>
              </a:highlight>
              <a:latin typeface="Nunito"/>
              <a:ea typeface="Nunito"/>
              <a:cs typeface="Nunito"/>
              <a:sym typeface="Nunito"/>
            </a:endParaRPr>
          </a:p>
          <a:p>
            <a:pPr indent="0" lvl="0" marL="457200" rtl="0" algn="l">
              <a:spcBef>
                <a:spcPts val="1200"/>
              </a:spcBef>
              <a:spcAft>
                <a:spcPts val="0"/>
              </a:spcAft>
              <a:buNone/>
            </a:pPr>
            <a:r>
              <a:rPr lang="en" sz="1200">
                <a:solidFill>
                  <a:srgbClr val="3A3A3A"/>
                </a:solidFill>
                <a:highlight>
                  <a:srgbClr val="FFFFFF"/>
                </a:highlight>
                <a:latin typeface="Nunito"/>
                <a:ea typeface="Nunito"/>
                <a:cs typeface="Nunito"/>
                <a:sym typeface="Nunito"/>
              </a:rPr>
              <a:t>In a similar way, we can create a WAR file,</a:t>
            </a:r>
            <a:endParaRPr sz="1200">
              <a:solidFill>
                <a:srgbClr val="3A3A3A"/>
              </a:solidFill>
              <a:highlight>
                <a:srgbClr val="FFFFFF"/>
              </a:highlight>
              <a:latin typeface="Nunito"/>
              <a:ea typeface="Nunito"/>
              <a:cs typeface="Nunito"/>
              <a:sym typeface="Nunito"/>
            </a:endParaRPr>
          </a:p>
          <a:p>
            <a:pPr indent="0" lvl="0" marL="457200" rtl="0" algn="l">
              <a:spcBef>
                <a:spcPts val="1700"/>
              </a:spcBef>
              <a:spcAft>
                <a:spcPts val="1700"/>
              </a:spcAft>
              <a:buNone/>
            </a:pPr>
            <a:r>
              <a:rPr lang="en" sz="1200">
                <a:solidFill>
                  <a:srgbClr val="EF4444"/>
                </a:solidFill>
                <a:highlight>
                  <a:srgbClr val="FFFFFF"/>
                </a:highlight>
                <a:latin typeface="Nunito"/>
                <a:ea typeface="Nunito"/>
                <a:cs typeface="Nunito"/>
                <a:sym typeface="Nunito"/>
              </a:rPr>
              <a:t>&lt;packaging&gt;</a:t>
            </a:r>
            <a:r>
              <a:rPr b="1" lang="en" sz="1200">
                <a:solidFill>
                  <a:srgbClr val="EF4444"/>
                </a:solidFill>
                <a:highlight>
                  <a:srgbClr val="FFFFFF"/>
                </a:highlight>
                <a:latin typeface="Nunito"/>
                <a:ea typeface="Nunito"/>
                <a:cs typeface="Nunito"/>
                <a:sym typeface="Nunito"/>
              </a:rPr>
              <a:t>war</a:t>
            </a:r>
            <a:r>
              <a:rPr lang="en" sz="1200">
                <a:solidFill>
                  <a:srgbClr val="EF4444"/>
                </a:solidFill>
                <a:highlight>
                  <a:srgbClr val="FFFFFF"/>
                </a:highlight>
                <a:latin typeface="Nunito"/>
                <a:ea typeface="Nunito"/>
                <a:cs typeface="Nunito"/>
                <a:sym typeface="Nunito"/>
              </a:rPr>
              <a:t>&lt;/packaging&gt;</a:t>
            </a:r>
            <a:endParaRPr sz="1200">
              <a:solidFill>
                <a:srgbClr val="EF4444"/>
              </a:solidFill>
              <a:highlight>
                <a:srgbClr val="FFFFFF"/>
              </a:highlight>
              <a:latin typeface="Nunito"/>
              <a:ea typeface="Nunito"/>
              <a:cs typeface="Nunito"/>
              <a:sym typeface="Nunit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8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ways to enable debugging log in spring boot application.</a:t>
            </a:r>
            <a:endParaRPr/>
          </a:p>
        </p:txBody>
      </p:sp>
      <p:sp>
        <p:nvSpPr>
          <p:cNvPr id="555" name="Google Shape;555;p83"/>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A3A3A"/>
                </a:solidFill>
                <a:highlight>
                  <a:srgbClr val="FFFFFF"/>
                </a:highlight>
                <a:latin typeface="Nunito"/>
                <a:ea typeface="Nunito"/>
                <a:cs typeface="Nunito"/>
                <a:sym typeface="Nunito"/>
              </a:rPr>
              <a:t>Spring boot enable debug logging feature will display useful information related to Spring boot container initialization on a console, and check which beans have been created using which configuration.</a:t>
            </a:r>
            <a:endParaRPr sz="1800">
              <a:solidFill>
                <a:srgbClr val="3A3A3A"/>
              </a:solidFill>
              <a:highlight>
                <a:srgbClr val="FFFFFF"/>
              </a:highlight>
              <a:latin typeface="Nunito"/>
              <a:ea typeface="Nunito"/>
              <a:cs typeface="Nunito"/>
              <a:sym typeface="Nunito"/>
            </a:endParaRPr>
          </a:p>
          <a:p>
            <a:pPr indent="-342900" lvl="0" marL="914400" rtl="0" algn="l">
              <a:spcBef>
                <a:spcPts val="1200"/>
              </a:spcBef>
              <a:spcAft>
                <a:spcPts val="0"/>
              </a:spcAft>
              <a:buClr>
                <a:srgbClr val="3A3A3A"/>
              </a:buClr>
              <a:buSzPts val="1800"/>
              <a:buFont typeface="Nunito"/>
              <a:buChar char="●"/>
            </a:pPr>
            <a:r>
              <a:rPr lang="en" sz="1800">
                <a:solidFill>
                  <a:srgbClr val="3A3A3A"/>
                </a:solidFill>
                <a:highlight>
                  <a:srgbClr val="FFFFFF"/>
                </a:highlight>
                <a:latin typeface="Nunito"/>
                <a:ea typeface="Nunito"/>
                <a:cs typeface="Nunito"/>
                <a:sym typeface="Nunito"/>
              </a:rPr>
              <a:t>Set </a:t>
            </a:r>
            <a:r>
              <a:rPr b="1" lang="en" sz="1800">
                <a:solidFill>
                  <a:srgbClr val="3A3A3A"/>
                </a:solidFill>
                <a:highlight>
                  <a:srgbClr val="FFFFFF"/>
                </a:highlight>
                <a:latin typeface="Nunito"/>
                <a:ea typeface="Nunito"/>
                <a:cs typeface="Nunito"/>
                <a:sym typeface="Nunito"/>
              </a:rPr>
              <a:t>debug=true</a:t>
            </a:r>
            <a:r>
              <a:rPr lang="en" sz="1800">
                <a:solidFill>
                  <a:srgbClr val="3A3A3A"/>
                </a:solidFill>
                <a:highlight>
                  <a:srgbClr val="FFFFFF"/>
                </a:highlight>
                <a:latin typeface="Nunito"/>
                <a:ea typeface="Nunito"/>
                <a:cs typeface="Nunito"/>
                <a:sym typeface="Nunito"/>
              </a:rPr>
              <a:t> or </a:t>
            </a:r>
            <a:r>
              <a:rPr b="1" lang="en" sz="1800">
                <a:solidFill>
                  <a:srgbClr val="3A3A3A"/>
                </a:solidFill>
                <a:highlight>
                  <a:srgbClr val="FFFFFF"/>
                </a:highlight>
                <a:latin typeface="Nunito"/>
                <a:ea typeface="Nunito"/>
                <a:cs typeface="Nunito"/>
                <a:sym typeface="Nunito"/>
              </a:rPr>
              <a:t>trace=true</a:t>
            </a:r>
            <a:r>
              <a:rPr lang="en" sz="1800">
                <a:solidFill>
                  <a:srgbClr val="3A3A3A"/>
                </a:solidFill>
                <a:highlight>
                  <a:srgbClr val="FFFFFF"/>
                </a:highlight>
                <a:latin typeface="Nunito"/>
                <a:ea typeface="Nunito"/>
                <a:cs typeface="Nunito"/>
                <a:sym typeface="Nunito"/>
              </a:rPr>
              <a:t> in </a:t>
            </a:r>
            <a:r>
              <a:rPr b="1" lang="en" sz="1800">
                <a:solidFill>
                  <a:srgbClr val="3A3A3A"/>
                </a:solidFill>
                <a:highlight>
                  <a:srgbClr val="FFFFFF"/>
                </a:highlight>
                <a:latin typeface="Nunito"/>
                <a:ea typeface="Nunito"/>
                <a:cs typeface="Nunito"/>
                <a:sym typeface="Nunito"/>
              </a:rPr>
              <a:t>application.properties</a:t>
            </a:r>
            <a:endParaRPr b="1" sz="1800">
              <a:solidFill>
                <a:srgbClr val="3A3A3A"/>
              </a:solidFill>
              <a:highlight>
                <a:srgbClr val="FFFFFF"/>
              </a:highlight>
              <a:latin typeface="Nunito"/>
              <a:ea typeface="Nunito"/>
              <a:cs typeface="Nunito"/>
              <a:sym typeface="Nunito"/>
            </a:endParaRPr>
          </a:p>
          <a:p>
            <a:pPr indent="-342900" lvl="0" marL="914400" rtl="0" algn="l">
              <a:spcBef>
                <a:spcPts val="0"/>
              </a:spcBef>
              <a:spcAft>
                <a:spcPts val="0"/>
              </a:spcAft>
              <a:buClr>
                <a:srgbClr val="3A3A3A"/>
              </a:buClr>
              <a:buSzPts val="1800"/>
              <a:buFont typeface="Nunito"/>
              <a:buChar char="●"/>
            </a:pPr>
            <a:r>
              <a:rPr lang="en" sz="1800">
                <a:solidFill>
                  <a:srgbClr val="3A3A3A"/>
                </a:solidFill>
                <a:highlight>
                  <a:srgbClr val="FFFFFF"/>
                </a:highlight>
                <a:latin typeface="Nunito"/>
                <a:ea typeface="Nunito"/>
                <a:cs typeface="Nunito"/>
                <a:sym typeface="Nunito"/>
              </a:rPr>
              <a:t>Set </a:t>
            </a:r>
            <a:r>
              <a:rPr b="1" lang="en" sz="1800">
                <a:solidFill>
                  <a:srgbClr val="3A3A3A"/>
                </a:solidFill>
                <a:highlight>
                  <a:srgbClr val="FFFFFF"/>
                </a:highlight>
                <a:latin typeface="Nunito"/>
                <a:ea typeface="Nunito"/>
                <a:cs typeface="Nunito"/>
                <a:sym typeface="Nunito"/>
              </a:rPr>
              <a:t>debug=true</a:t>
            </a:r>
            <a:r>
              <a:rPr lang="en" sz="1800">
                <a:solidFill>
                  <a:srgbClr val="3A3A3A"/>
                </a:solidFill>
                <a:highlight>
                  <a:srgbClr val="FFFFFF"/>
                </a:highlight>
                <a:latin typeface="Nunito"/>
                <a:ea typeface="Nunito"/>
                <a:cs typeface="Nunito"/>
                <a:sym typeface="Nunito"/>
              </a:rPr>
              <a:t> in </a:t>
            </a:r>
            <a:r>
              <a:rPr b="1" lang="en" sz="1800">
                <a:solidFill>
                  <a:srgbClr val="3A3A3A"/>
                </a:solidFill>
                <a:highlight>
                  <a:srgbClr val="FFFFFF"/>
                </a:highlight>
                <a:latin typeface="Nunito"/>
                <a:ea typeface="Nunito"/>
                <a:cs typeface="Nunito"/>
                <a:sym typeface="Nunito"/>
              </a:rPr>
              <a:t>application.yml</a:t>
            </a:r>
            <a:r>
              <a:rPr lang="en" sz="1800">
                <a:solidFill>
                  <a:srgbClr val="3A3A3A"/>
                </a:solidFill>
                <a:highlight>
                  <a:srgbClr val="FFFFFF"/>
                </a:highlight>
                <a:latin typeface="Nunito"/>
                <a:ea typeface="Nunito"/>
                <a:cs typeface="Nunito"/>
                <a:sym typeface="Nunito"/>
              </a:rPr>
              <a:t> file</a:t>
            </a:r>
            <a:endParaRPr sz="1800">
              <a:solidFill>
                <a:srgbClr val="3A3A3A"/>
              </a:solidFill>
              <a:highlight>
                <a:srgbClr val="FFFFFF"/>
              </a:highlight>
              <a:latin typeface="Nunito"/>
              <a:ea typeface="Nunito"/>
              <a:cs typeface="Nunito"/>
              <a:sym typeface="Nunito"/>
            </a:endParaRPr>
          </a:p>
          <a:p>
            <a:pPr indent="-342900" lvl="0" marL="914400" rtl="0" algn="l">
              <a:spcBef>
                <a:spcPts val="0"/>
              </a:spcBef>
              <a:spcAft>
                <a:spcPts val="0"/>
              </a:spcAft>
              <a:buClr>
                <a:srgbClr val="3A3A3A"/>
              </a:buClr>
              <a:buSzPts val="1800"/>
              <a:buFont typeface="Nunito"/>
              <a:buChar char="●"/>
            </a:pPr>
            <a:r>
              <a:rPr lang="en" sz="1800">
                <a:solidFill>
                  <a:srgbClr val="3A3A3A"/>
                </a:solidFill>
                <a:highlight>
                  <a:srgbClr val="FFFFFF"/>
                </a:highlight>
                <a:latin typeface="Nunito"/>
                <a:ea typeface="Nunito"/>
                <a:cs typeface="Nunito"/>
                <a:sym typeface="Nunito"/>
              </a:rPr>
              <a:t>pass parameter </a:t>
            </a:r>
            <a:r>
              <a:rPr b="1" lang="en" sz="1800">
                <a:solidFill>
                  <a:srgbClr val="3A3A3A"/>
                </a:solidFill>
                <a:highlight>
                  <a:srgbClr val="FFFFFF"/>
                </a:highlight>
                <a:latin typeface="Nunito"/>
                <a:ea typeface="Nunito"/>
                <a:cs typeface="Nunito"/>
                <a:sym typeface="Nunito"/>
              </a:rPr>
              <a:t>java -jar demo.jar –debug</a:t>
            </a:r>
            <a:r>
              <a:rPr lang="en" sz="1800">
                <a:solidFill>
                  <a:srgbClr val="3A3A3A"/>
                </a:solidFill>
                <a:highlight>
                  <a:srgbClr val="FFFFFF"/>
                </a:highlight>
                <a:latin typeface="Nunito"/>
                <a:ea typeface="Nunito"/>
                <a:cs typeface="Nunito"/>
                <a:sym typeface="Nunito"/>
              </a:rPr>
              <a:t> before starting the application using jar command.</a:t>
            </a:r>
            <a:endParaRPr sz="1800">
              <a:latin typeface="Nunito"/>
              <a:ea typeface="Nunito"/>
              <a:cs typeface="Nunito"/>
              <a:sym typeface="Nunit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8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actuator provided endpoints for monitoring Spring boot application.</a:t>
            </a:r>
            <a:endParaRPr/>
          </a:p>
        </p:txBody>
      </p:sp>
      <p:sp>
        <p:nvSpPr>
          <p:cNvPr id="561" name="Google Shape;561;p8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solidFill>
                  <a:srgbClr val="3A3A3A"/>
                </a:solidFill>
                <a:highlight>
                  <a:srgbClr val="FFFFFF"/>
                </a:highlight>
                <a:latin typeface="Nunito"/>
                <a:ea typeface="Nunito"/>
                <a:cs typeface="Nunito"/>
                <a:sym typeface="Nunito"/>
              </a:rPr>
              <a:t>Actuator endpoints allow developers to monitor and interact with the application. There are built-in endpoints already available as well as one can create customized endpoints. We can enable or disable these endpoints as per our needs.</a:t>
            </a:r>
            <a:endParaRPr sz="1200">
              <a:solidFill>
                <a:srgbClr val="3A3A3A"/>
              </a:solidFill>
              <a:highlight>
                <a:srgbClr val="FFFFFF"/>
              </a:highlight>
              <a:latin typeface="Nunito"/>
              <a:ea typeface="Nunito"/>
              <a:cs typeface="Nunito"/>
              <a:sym typeface="Nunito"/>
            </a:endParaRPr>
          </a:p>
          <a:p>
            <a:pPr indent="-304800" lvl="0" marL="876300" rtl="0" algn="l">
              <a:spcBef>
                <a:spcPts val="120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Configprops</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Beans</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Health</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Httptrace</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Heapdump</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Threaddump</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Mapping</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Info</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Shutdown</a:t>
            </a:r>
            <a:endParaRPr sz="1200">
              <a:solidFill>
                <a:srgbClr val="3A3A3A"/>
              </a:solidFill>
              <a:highlight>
                <a:srgbClr val="FFFFFF"/>
              </a:highlight>
              <a:latin typeface="Nunito"/>
              <a:ea typeface="Nunito"/>
              <a:cs typeface="Nunito"/>
              <a:sym typeface="Nunito"/>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8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Differentiate between RequestMapping and GetMapping.</a:t>
            </a:r>
            <a:endParaRPr/>
          </a:p>
        </p:txBody>
      </p:sp>
      <p:graphicFrame>
        <p:nvGraphicFramePr>
          <p:cNvPr id="567" name="Google Shape;567;p85"/>
          <p:cNvGraphicFramePr/>
          <p:nvPr/>
        </p:nvGraphicFramePr>
        <p:xfrm>
          <a:off x="952500" y="1852075"/>
          <a:ext cx="3000000" cy="3000000"/>
        </p:xfrm>
        <a:graphic>
          <a:graphicData uri="http://schemas.openxmlformats.org/drawingml/2006/table">
            <a:tbl>
              <a:tblPr>
                <a:noFill/>
                <a:tableStyleId>{C6CF43B0-E42B-4D9D-A980-A0F6B66A534A}</a:tableStyleId>
              </a:tblPr>
              <a:tblGrid>
                <a:gridCol w="3619500"/>
                <a:gridCol w="3619500"/>
              </a:tblGrid>
              <a:tr h="381000">
                <a:tc>
                  <a:txBody>
                    <a:bodyPr/>
                    <a:lstStyle/>
                    <a:p>
                      <a:pPr indent="0" lvl="0" marL="0" rtl="0" algn="l">
                        <a:lnSpc>
                          <a:spcPct val="115000"/>
                        </a:lnSpc>
                        <a:spcBef>
                          <a:spcPts val="0"/>
                        </a:spcBef>
                        <a:spcAft>
                          <a:spcPts val="0"/>
                        </a:spcAft>
                        <a:buNone/>
                      </a:pPr>
                      <a:r>
                        <a:rPr b="1" lang="en" sz="1200">
                          <a:solidFill>
                            <a:srgbClr val="3A3A3A"/>
                          </a:solidFill>
                          <a:highlight>
                            <a:srgbClr val="FFFFFF"/>
                          </a:highlight>
                        </a:rPr>
                        <a:t>@RequestMapping</a:t>
                      </a:r>
                      <a:endParaRPr b="1" sz="1200">
                        <a:solidFill>
                          <a:srgbClr val="3A3A3A"/>
                        </a:solidFill>
                        <a:highlight>
                          <a:srgbClr val="FFFFFF"/>
                        </a:highlight>
                      </a:endParaRPr>
                    </a:p>
                  </a:txBody>
                  <a:tcPr marT="91425" marB="91425" marR="91425" marL="91425" anchor="ctr"/>
                </a:tc>
                <a:tc>
                  <a:txBody>
                    <a:bodyPr/>
                    <a:lstStyle/>
                    <a:p>
                      <a:pPr indent="0" lvl="0" marL="0" rtl="0" algn="l">
                        <a:spcBef>
                          <a:spcPts val="0"/>
                        </a:spcBef>
                        <a:spcAft>
                          <a:spcPts val="0"/>
                        </a:spcAft>
                        <a:buNone/>
                      </a:pPr>
                      <a:r>
                        <a:rPr b="1" lang="en" sz="1200">
                          <a:solidFill>
                            <a:srgbClr val="111111"/>
                          </a:solidFill>
                          <a:highlight>
                            <a:srgbClr val="D9EDF7"/>
                          </a:highlight>
                        </a:rPr>
                        <a:t>@GetMapping</a:t>
                      </a:r>
                      <a:endParaRPr/>
                    </a:p>
                  </a:txBody>
                  <a:tcPr marT="91425" marB="91425" marR="91425" marL="91425"/>
                </a:tc>
              </a:tr>
              <a:tr h="381000">
                <a:tc>
                  <a:txBody>
                    <a:bodyPr/>
                    <a:lstStyle/>
                    <a:p>
                      <a:pPr indent="0" lvl="0" marL="0" rtl="0" algn="l">
                        <a:spcBef>
                          <a:spcPts val="0"/>
                        </a:spcBef>
                        <a:spcAft>
                          <a:spcPts val="0"/>
                        </a:spcAft>
                        <a:buNone/>
                      </a:pPr>
                      <a:r>
                        <a:rPr lang="en" sz="1200">
                          <a:solidFill>
                            <a:srgbClr val="111111"/>
                          </a:solidFill>
                          <a:highlight>
                            <a:srgbClr val="F3F3F3"/>
                          </a:highlight>
                        </a:rPr>
                        <a:t>Used to map web requests to specific handler classes and methods</a:t>
                      </a:r>
                      <a:endParaRPr/>
                    </a:p>
                  </a:txBody>
                  <a:tcPr marT="91425" marB="91425" marR="91425" marL="91425"/>
                </a:tc>
                <a:tc>
                  <a:txBody>
                    <a:bodyPr/>
                    <a:lstStyle/>
                    <a:p>
                      <a:pPr indent="0" lvl="0" marL="0" rtl="0" algn="l">
                        <a:spcBef>
                          <a:spcPts val="0"/>
                        </a:spcBef>
                        <a:spcAft>
                          <a:spcPts val="0"/>
                        </a:spcAft>
                        <a:buNone/>
                      </a:pPr>
                      <a:r>
                        <a:rPr lang="en" sz="1200">
                          <a:solidFill>
                            <a:srgbClr val="111111"/>
                          </a:solidFill>
                          <a:highlight>
                            <a:srgbClr val="F3F3F3"/>
                          </a:highlight>
                        </a:rPr>
                        <a:t>It not used to map onto specific handler classes</a:t>
                      </a:r>
                      <a:endParaRPr/>
                    </a:p>
                  </a:txBody>
                  <a:tcPr marT="91425" marB="91425" marR="91425" marL="91425"/>
                </a:tc>
              </a:tr>
              <a:tr h="381000">
                <a:tc>
                  <a:txBody>
                    <a:bodyPr/>
                    <a:lstStyle/>
                    <a:p>
                      <a:pPr indent="0" lvl="0" marL="0" rtl="0" algn="l">
                        <a:spcBef>
                          <a:spcPts val="0"/>
                        </a:spcBef>
                        <a:spcAft>
                          <a:spcPts val="0"/>
                        </a:spcAft>
                        <a:buNone/>
                      </a:pPr>
                      <a:r>
                        <a:rPr lang="en" sz="1200">
                          <a:solidFill>
                            <a:srgbClr val="111111"/>
                          </a:solidFill>
                          <a:highlight>
                            <a:srgbClr val="F3F3F3"/>
                          </a:highlight>
                        </a:rPr>
                        <a:t>It maps both GET and POST requests</a:t>
                      </a:r>
                      <a:endParaRPr/>
                    </a:p>
                  </a:txBody>
                  <a:tcPr marT="91425" marB="91425" marR="91425" marL="91425"/>
                </a:tc>
                <a:tc>
                  <a:txBody>
                    <a:bodyPr/>
                    <a:lstStyle/>
                    <a:p>
                      <a:pPr indent="0" lvl="0" marL="0" rtl="0" algn="l">
                        <a:spcBef>
                          <a:spcPts val="0"/>
                        </a:spcBef>
                        <a:spcAft>
                          <a:spcPts val="0"/>
                        </a:spcAft>
                        <a:buNone/>
                      </a:pPr>
                      <a:r>
                        <a:rPr lang="en" sz="1200">
                          <a:solidFill>
                            <a:srgbClr val="111111"/>
                          </a:solidFill>
                          <a:highlight>
                            <a:srgbClr val="F3F3F3"/>
                          </a:highlight>
                        </a:rPr>
                        <a:t>It maps only GET requests</a:t>
                      </a:r>
                      <a:endParaRPr/>
                    </a:p>
                  </a:txBody>
                  <a:tcPr marT="91425" marB="91425" marR="91425" marL="91425"/>
                </a:tc>
              </a:tr>
              <a:tr h="381000">
                <a:tc>
                  <a:txBody>
                    <a:bodyPr/>
                    <a:lstStyle/>
                    <a:p>
                      <a:pPr indent="0" lvl="0" marL="0" rtl="0" algn="l">
                        <a:spcBef>
                          <a:spcPts val="0"/>
                        </a:spcBef>
                        <a:spcAft>
                          <a:spcPts val="0"/>
                        </a:spcAft>
                        <a:buNone/>
                      </a:pPr>
                      <a:r>
                        <a:rPr lang="en" sz="1200">
                          <a:solidFill>
                            <a:srgbClr val="111111"/>
                          </a:solidFill>
                          <a:highlight>
                            <a:srgbClr val="F3F3F3"/>
                          </a:highlight>
                        </a:rPr>
                        <a:t>It is class level annotation</a:t>
                      </a:r>
                      <a:endParaRPr/>
                    </a:p>
                  </a:txBody>
                  <a:tcPr marT="91425" marB="91425" marR="91425" marL="91425"/>
                </a:tc>
                <a:tc>
                  <a:txBody>
                    <a:bodyPr/>
                    <a:lstStyle/>
                    <a:p>
                      <a:pPr indent="0" lvl="0" marL="0" rtl="0" algn="l">
                        <a:spcBef>
                          <a:spcPts val="0"/>
                        </a:spcBef>
                        <a:spcAft>
                          <a:spcPts val="0"/>
                        </a:spcAft>
                        <a:buNone/>
                      </a:pPr>
                      <a:r>
                        <a:rPr lang="en" sz="1200">
                          <a:solidFill>
                            <a:srgbClr val="111111"/>
                          </a:solidFill>
                          <a:highlight>
                            <a:srgbClr val="F3F3F3"/>
                          </a:highlight>
                        </a:rPr>
                        <a:t>It uses get mapping annotation rather than requestmapping</a:t>
                      </a:r>
                      <a:endParaRPr/>
                    </a:p>
                  </a:txBody>
                  <a:tcPr marT="91425" marB="91425" marR="91425" marL="91425"/>
                </a:tc>
              </a:tr>
              <a:tr h="381000">
                <a:tc>
                  <a:txBody>
                    <a:bodyPr/>
                    <a:lstStyle/>
                    <a:p>
                      <a:pPr indent="0" lvl="0" marL="0" rtl="0" algn="l">
                        <a:spcBef>
                          <a:spcPts val="0"/>
                        </a:spcBef>
                        <a:spcAft>
                          <a:spcPts val="0"/>
                        </a:spcAft>
                        <a:buNone/>
                      </a:pPr>
                      <a:r>
                        <a:rPr lang="en" sz="1200">
                          <a:solidFill>
                            <a:srgbClr val="111111"/>
                          </a:solidFill>
                          <a:highlight>
                            <a:srgbClr val="F3F3F3"/>
                          </a:highlight>
                        </a:rPr>
                        <a:t>Used to configure base path and not for any further levels.</a:t>
                      </a:r>
                      <a:endParaRPr sz="1200">
                        <a:solidFill>
                          <a:srgbClr val="111111"/>
                        </a:solidFill>
                        <a:highlight>
                          <a:srgbClr val="F3F3F3"/>
                        </a:highlight>
                      </a:endParaRPr>
                    </a:p>
                  </a:txBody>
                  <a:tcPr marT="91425" marB="91425" marR="91425" marL="91425"/>
                </a:tc>
                <a:tc>
                  <a:txBody>
                    <a:bodyPr/>
                    <a:lstStyle/>
                    <a:p>
                      <a:pPr indent="0" lvl="0" marL="0" rtl="0" algn="l">
                        <a:spcBef>
                          <a:spcPts val="0"/>
                        </a:spcBef>
                        <a:spcAft>
                          <a:spcPts val="0"/>
                        </a:spcAft>
                        <a:buNone/>
                      </a:pPr>
                      <a:r>
                        <a:rPr lang="en" sz="1200">
                          <a:solidFill>
                            <a:srgbClr val="111111"/>
                          </a:solidFill>
                          <a:highlight>
                            <a:srgbClr val="F3F3F3"/>
                          </a:highlight>
                        </a:rPr>
                        <a:t>It is used to overcome drawbacks of @RequestMapping</a:t>
                      </a:r>
                      <a:endParaRPr sz="1200">
                        <a:solidFill>
                          <a:srgbClr val="111111"/>
                        </a:solidFill>
                        <a:highlight>
                          <a:srgbClr val="F3F3F3"/>
                        </a:highlight>
                      </a:endParaRPr>
                    </a:p>
                  </a:txBody>
                  <a:tcPr marT="91425" marB="91425" marR="91425" marL="91425"/>
                </a:tc>
              </a:tr>
              <a:tr h="381000">
                <a:tc>
                  <a:txBody>
                    <a:bodyPr/>
                    <a:lstStyle/>
                    <a:p>
                      <a:pPr indent="0" lvl="0" marL="0" rtl="0" algn="l">
                        <a:spcBef>
                          <a:spcPts val="0"/>
                        </a:spcBef>
                        <a:spcAft>
                          <a:spcPts val="0"/>
                        </a:spcAft>
                        <a:buNone/>
                      </a:pPr>
                      <a:r>
                        <a:rPr lang="en" sz="1200">
                          <a:solidFill>
                            <a:srgbClr val="111111"/>
                          </a:solidFill>
                          <a:highlight>
                            <a:srgbClr val="F3F3F3"/>
                          </a:highlight>
                        </a:rPr>
                        <a:t>Developers avoid using this annotation due to its complexity and lengthy code</a:t>
                      </a:r>
                      <a:endParaRPr sz="1200">
                        <a:solidFill>
                          <a:srgbClr val="111111"/>
                        </a:solidFill>
                        <a:highlight>
                          <a:srgbClr val="F3F3F3"/>
                        </a:highlight>
                      </a:endParaRPr>
                    </a:p>
                  </a:txBody>
                  <a:tcPr marT="91425" marB="91425" marR="91425" marL="91425"/>
                </a:tc>
                <a:tc>
                  <a:txBody>
                    <a:bodyPr/>
                    <a:lstStyle/>
                    <a:p>
                      <a:pPr indent="0" lvl="0" marL="0" rtl="0" algn="l">
                        <a:spcBef>
                          <a:spcPts val="0"/>
                        </a:spcBef>
                        <a:spcAft>
                          <a:spcPts val="0"/>
                        </a:spcAft>
                        <a:buNone/>
                      </a:pPr>
                      <a:r>
                        <a:rPr lang="en" sz="1200">
                          <a:solidFill>
                            <a:srgbClr val="111111"/>
                          </a:solidFill>
                          <a:highlight>
                            <a:srgbClr val="F3F3F3"/>
                          </a:highlight>
                        </a:rPr>
                        <a:t>It has less code length compared to @RequestMapping</a:t>
                      </a:r>
                      <a:endParaRPr sz="1200">
                        <a:solidFill>
                          <a:srgbClr val="111111"/>
                        </a:solidFill>
                        <a:highlight>
                          <a:srgbClr val="F3F3F3"/>
                        </a:highlight>
                      </a:endParaRPr>
                    </a:p>
                  </a:txBody>
                  <a:tcPr marT="91425" marB="91425" marR="91425" marL="91425"/>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8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Differentiate between @RestController and @Controller.</a:t>
            </a:r>
            <a:endParaRPr/>
          </a:p>
        </p:txBody>
      </p:sp>
      <p:sp>
        <p:nvSpPr>
          <p:cNvPr id="573" name="Google Shape;573;p86"/>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A3A3A"/>
                </a:solidFill>
                <a:highlight>
                  <a:srgbClr val="FFFFFF"/>
                </a:highlight>
                <a:latin typeface="Nunito"/>
                <a:ea typeface="Nunito"/>
                <a:cs typeface="Nunito"/>
                <a:sym typeface="Nunito"/>
              </a:rPr>
              <a:t>@Controller annotation is used along with @RequestMapping annotation-based annotation handler methods. Their use is to mark the class as a web request handler. @Controller is used with Spring MVC applications where they are scanned to detect @RequestMapping annotations.</a:t>
            </a:r>
            <a:endParaRPr sz="1600">
              <a:solidFill>
                <a:srgbClr val="3A3A3A"/>
              </a:solidFill>
              <a:highlight>
                <a:srgbClr val="FFFFFF"/>
              </a:highlight>
              <a:latin typeface="Nunito"/>
              <a:ea typeface="Nunito"/>
              <a:cs typeface="Nunito"/>
              <a:sym typeface="Nunito"/>
            </a:endParaRPr>
          </a:p>
          <a:p>
            <a:pPr indent="0" lvl="0" marL="0" rtl="0" algn="l">
              <a:spcBef>
                <a:spcPts val="1700"/>
              </a:spcBef>
              <a:spcAft>
                <a:spcPts val="1700"/>
              </a:spcAft>
              <a:buNone/>
            </a:pPr>
            <a:r>
              <a:rPr lang="en" sz="1600">
                <a:solidFill>
                  <a:srgbClr val="3A3A3A"/>
                </a:solidFill>
                <a:highlight>
                  <a:srgbClr val="FFFFFF"/>
                </a:highlight>
                <a:latin typeface="Nunito"/>
                <a:ea typeface="Nunito"/>
                <a:cs typeface="Nunito"/>
                <a:sym typeface="Nunito"/>
              </a:rPr>
              <a:t>@RestController annotation is used for making restful web services, allowing to handle all REST API methods such as GET, POST, Delete and PUT requests. The differences between @Controller and @RequestMapping annotation are listed below</a:t>
            </a:r>
            <a:endParaRPr sz="1600">
              <a:latin typeface="Nunito"/>
              <a:ea typeface="Nunito"/>
              <a:cs typeface="Nunito"/>
              <a:sym typeface="Nunit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87"/>
          <p:cNvPicPr preferRelativeResize="0"/>
          <p:nvPr/>
        </p:nvPicPr>
        <p:blipFill>
          <a:blip r:embed="rId3">
            <a:alphaModFix/>
          </a:blip>
          <a:stretch>
            <a:fillRect/>
          </a:stretch>
        </p:blipFill>
        <p:spPr>
          <a:xfrm>
            <a:off x="327650" y="314425"/>
            <a:ext cx="8486276" cy="452922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8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some common Spring Boot Command Line commands.</a:t>
            </a:r>
            <a:endParaRPr/>
          </a:p>
        </p:txBody>
      </p:sp>
      <p:sp>
        <p:nvSpPr>
          <p:cNvPr id="584" name="Google Shape;584;p8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400">
                <a:solidFill>
                  <a:srgbClr val="EF4444"/>
                </a:solidFill>
                <a:highlight>
                  <a:srgbClr val="FFFFFF"/>
                </a:highlight>
                <a:latin typeface="Nunito"/>
                <a:ea typeface="Nunito"/>
                <a:cs typeface="Nunito"/>
                <a:sym typeface="Nunito"/>
              </a:rPr>
              <a:t>spring help </a:t>
            </a:r>
            <a:r>
              <a:rPr b="1" lang="en" sz="1400">
                <a:solidFill>
                  <a:srgbClr val="EF4444"/>
                </a:solidFill>
                <a:highlight>
                  <a:srgbClr val="FFFFFF"/>
                </a:highlight>
                <a:latin typeface="Nunito"/>
                <a:ea typeface="Nunito"/>
                <a:cs typeface="Nunito"/>
                <a:sym typeface="Nunito"/>
              </a:rPr>
              <a:t>run</a:t>
            </a:r>
            <a:br>
              <a:rPr b="1" lang="en" sz="1400">
                <a:solidFill>
                  <a:srgbClr val="3A3A3A"/>
                </a:solidFill>
                <a:highlight>
                  <a:srgbClr val="FFFFFF"/>
                </a:highlight>
                <a:latin typeface="Nunito"/>
                <a:ea typeface="Nunito"/>
                <a:cs typeface="Nunito"/>
                <a:sym typeface="Nunito"/>
              </a:rPr>
            </a:br>
            <a:r>
              <a:rPr lang="en" sz="1400">
                <a:solidFill>
                  <a:srgbClr val="3A3A3A"/>
                </a:solidFill>
                <a:highlight>
                  <a:srgbClr val="FFFFFF"/>
                </a:highlight>
                <a:latin typeface="Nunito"/>
                <a:ea typeface="Nunito"/>
                <a:cs typeface="Nunito"/>
                <a:sym typeface="Nunito"/>
              </a:rPr>
              <a:t>This command is used to run a spring groovy script</a:t>
            </a:r>
            <a:endParaRPr sz="1400">
              <a:solidFill>
                <a:srgbClr val="3A3A3A"/>
              </a:solidFill>
              <a:highlight>
                <a:srgbClr val="FFFFFF"/>
              </a:highlight>
              <a:latin typeface="Nunito"/>
              <a:ea typeface="Nunito"/>
              <a:cs typeface="Nunito"/>
              <a:sym typeface="Nunito"/>
            </a:endParaRPr>
          </a:p>
          <a:p>
            <a:pPr indent="-317500" lvl="0" marL="457200" rtl="0" algn="l">
              <a:spcBef>
                <a:spcPts val="0"/>
              </a:spcBef>
              <a:spcAft>
                <a:spcPts val="0"/>
              </a:spcAft>
              <a:buClr>
                <a:srgbClr val="3A3A3A"/>
              </a:buClr>
              <a:buSzPts val="1400"/>
              <a:buFont typeface="Arial"/>
              <a:buChar char="●"/>
            </a:pPr>
            <a:r>
              <a:rPr lang="en" sz="1400">
                <a:solidFill>
                  <a:srgbClr val="EF4444"/>
                </a:solidFill>
                <a:highlight>
                  <a:srgbClr val="FFFFFF"/>
                </a:highlight>
                <a:latin typeface="Nunito"/>
                <a:ea typeface="Nunito"/>
                <a:cs typeface="Nunito"/>
                <a:sym typeface="Nunito"/>
              </a:rPr>
              <a:t>spring </a:t>
            </a:r>
            <a:r>
              <a:rPr b="1" lang="en" sz="1400">
                <a:solidFill>
                  <a:srgbClr val="EF4444"/>
                </a:solidFill>
                <a:highlight>
                  <a:srgbClr val="FFFFFF"/>
                </a:highlight>
                <a:latin typeface="Nunito"/>
                <a:ea typeface="Nunito"/>
                <a:cs typeface="Nunito"/>
                <a:sym typeface="Nunito"/>
              </a:rPr>
              <a:t>version</a:t>
            </a:r>
            <a:br>
              <a:rPr b="1" lang="en" sz="1400">
                <a:solidFill>
                  <a:srgbClr val="3A3A3A"/>
                </a:solidFill>
                <a:highlight>
                  <a:srgbClr val="FFFFFF"/>
                </a:highlight>
                <a:latin typeface="Nunito"/>
                <a:ea typeface="Nunito"/>
                <a:cs typeface="Nunito"/>
                <a:sym typeface="Nunito"/>
              </a:rPr>
            </a:br>
            <a:r>
              <a:rPr lang="en" sz="1400">
                <a:solidFill>
                  <a:srgbClr val="3A3A3A"/>
                </a:solidFill>
                <a:highlight>
                  <a:srgbClr val="FFFFFF"/>
                </a:highlight>
                <a:latin typeface="Nunito"/>
                <a:ea typeface="Nunito"/>
                <a:cs typeface="Nunito"/>
                <a:sym typeface="Nunito"/>
              </a:rPr>
              <a:t>The command displays version details of the spring installed</a:t>
            </a:r>
            <a:endParaRPr sz="1400">
              <a:solidFill>
                <a:srgbClr val="3A3A3A"/>
              </a:solidFill>
              <a:highlight>
                <a:srgbClr val="FFFFFF"/>
              </a:highlight>
              <a:latin typeface="Nunito"/>
              <a:ea typeface="Nunito"/>
              <a:cs typeface="Nunito"/>
              <a:sym typeface="Nunito"/>
            </a:endParaRPr>
          </a:p>
          <a:p>
            <a:pPr indent="-317500" lvl="0" marL="457200" rtl="0" algn="l">
              <a:spcBef>
                <a:spcPts val="0"/>
              </a:spcBef>
              <a:spcAft>
                <a:spcPts val="0"/>
              </a:spcAft>
              <a:buClr>
                <a:srgbClr val="3A3A3A"/>
              </a:buClr>
              <a:buSzPts val="1400"/>
              <a:buFont typeface="Arial"/>
              <a:buChar char="●"/>
            </a:pPr>
            <a:r>
              <a:rPr lang="en" sz="1400">
                <a:solidFill>
                  <a:srgbClr val="EF4444"/>
                </a:solidFill>
                <a:highlight>
                  <a:srgbClr val="FFFFFF"/>
                </a:highlight>
                <a:latin typeface="Nunito"/>
                <a:ea typeface="Nunito"/>
                <a:cs typeface="Nunito"/>
                <a:sym typeface="Nunito"/>
              </a:rPr>
              <a:t>spring </a:t>
            </a:r>
            <a:r>
              <a:rPr b="1" lang="en" sz="1400">
                <a:solidFill>
                  <a:srgbClr val="EF4444"/>
                </a:solidFill>
                <a:highlight>
                  <a:srgbClr val="FFFFFF"/>
                </a:highlight>
                <a:latin typeface="Nunito"/>
                <a:ea typeface="Nunito"/>
                <a:cs typeface="Nunito"/>
                <a:sym typeface="Nunito"/>
              </a:rPr>
              <a:t>test</a:t>
            </a:r>
            <a:r>
              <a:rPr lang="en" sz="1400">
                <a:solidFill>
                  <a:srgbClr val="EF4444"/>
                </a:solidFill>
                <a:highlight>
                  <a:srgbClr val="FFFFFF"/>
                </a:highlight>
                <a:latin typeface="Nunito"/>
                <a:ea typeface="Nunito"/>
                <a:cs typeface="Nunito"/>
                <a:sym typeface="Nunito"/>
              </a:rPr>
              <a:t> mycode.groovy welcome.groovy</a:t>
            </a:r>
            <a:br>
              <a:rPr lang="en" sz="1400">
                <a:solidFill>
                  <a:srgbClr val="3A3A3A"/>
                </a:solidFill>
                <a:highlight>
                  <a:srgbClr val="FFFFFF"/>
                </a:highlight>
                <a:latin typeface="Nunito"/>
                <a:ea typeface="Nunito"/>
                <a:cs typeface="Nunito"/>
                <a:sym typeface="Nunito"/>
              </a:rPr>
            </a:br>
            <a:r>
              <a:rPr lang="en" sz="1400">
                <a:solidFill>
                  <a:srgbClr val="3A3A3A"/>
                </a:solidFill>
                <a:highlight>
                  <a:srgbClr val="FFFFFF"/>
                </a:highlight>
                <a:latin typeface="Nunito"/>
                <a:ea typeface="Nunito"/>
                <a:cs typeface="Nunito"/>
                <a:sym typeface="Nunito"/>
              </a:rPr>
              <a:t>The test command compiles and runs the test for your application</a:t>
            </a:r>
            <a:endParaRPr sz="1400">
              <a:solidFill>
                <a:srgbClr val="3A3A3A"/>
              </a:solidFill>
              <a:highlight>
                <a:srgbClr val="FFFFFF"/>
              </a:highlight>
              <a:latin typeface="Nunito"/>
              <a:ea typeface="Nunito"/>
              <a:cs typeface="Nunito"/>
              <a:sym typeface="Nunito"/>
            </a:endParaRPr>
          </a:p>
          <a:p>
            <a:pPr indent="-317500" lvl="0" marL="457200" rtl="0" algn="l">
              <a:spcBef>
                <a:spcPts val="0"/>
              </a:spcBef>
              <a:spcAft>
                <a:spcPts val="0"/>
              </a:spcAft>
              <a:buClr>
                <a:srgbClr val="3A3A3A"/>
              </a:buClr>
              <a:buSzPts val="1400"/>
              <a:buFont typeface="Arial"/>
              <a:buChar char="●"/>
            </a:pPr>
            <a:r>
              <a:rPr lang="en" sz="1400">
                <a:solidFill>
                  <a:srgbClr val="EF4444"/>
                </a:solidFill>
                <a:highlight>
                  <a:srgbClr val="FFFFFF"/>
                </a:highlight>
                <a:latin typeface="Nunito"/>
                <a:ea typeface="Nunito"/>
                <a:cs typeface="Nunito"/>
                <a:sym typeface="Nunito"/>
              </a:rPr>
              <a:t>spring </a:t>
            </a:r>
            <a:r>
              <a:rPr b="1" lang="en" sz="1400">
                <a:solidFill>
                  <a:srgbClr val="EF4444"/>
                </a:solidFill>
                <a:highlight>
                  <a:srgbClr val="FFFFFF"/>
                </a:highlight>
                <a:latin typeface="Nunito"/>
                <a:ea typeface="Nunito"/>
                <a:cs typeface="Nunito"/>
                <a:sym typeface="Nunito"/>
              </a:rPr>
              <a:t>jar</a:t>
            </a:r>
            <a:r>
              <a:rPr lang="en" sz="1400">
                <a:solidFill>
                  <a:srgbClr val="EF4444"/>
                </a:solidFill>
                <a:highlight>
                  <a:srgbClr val="FFFFFF"/>
                </a:highlight>
                <a:latin typeface="Nunito"/>
                <a:ea typeface="Nunito"/>
                <a:cs typeface="Nunito"/>
                <a:sym typeface="Nunito"/>
              </a:rPr>
              <a:t> source-code.jar *.groovy</a:t>
            </a:r>
            <a:br>
              <a:rPr lang="en" sz="1400">
                <a:solidFill>
                  <a:srgbClr val="3A3A3A"/>
                </a:solidFill>
                <a:highlight>
                  <a:srgbClr val="FFFFFF"/>
                </a:highlight>
                <a:latin typeface="Nunito"/>
                <a:ea typeface="Nunito"/>
                <a:cs typeface="Nunito"/>
                <a:sym typeface="Nunito"/>
              </a:rPr>
            </a:br>
            <a:r>
              <a:rPr lang="en" sz="1400">
                <a:solidFill>
                  <a:srgbClr val="3A3A3A"/>
                </a:solidFill>
                <a:highlight>
                  <a:srgbClr val="FFFFFF"/>
                </a:highlight>
                <a:latin typeface="Nunito"/>
                <a:ea typeface="Nunito"/>
                <a:cs typeface="Nunito"/>
                <a:sym typeface="Nunito"/>
              </a:rPr>
              <a:t>The jar created (source-code.jar) will contain all compiled classes, entries from the application’s classpath, and application dependencies that can be run using the java -jar</a:t>
            </a:r>
            <a:endParaRPr sz="1400">
              <a:solidFill>
                <a:srgbClr val="3A3A3A"/>
              </a:solidFill>
              <a:highlight>
                <a:srgbClr val="FFFFFF"/>
              </a:highlight>
              <a:latin typeface="Nunito"/>
              <a:ea typeface="Nunito"/>
              <a:cs typeface="Nunito"/>
              <a:sym typeface="Nuni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9"/>
          <p:cNvSpPr txBox="1"/>
          <p:nvPr>
            <p:ph idx="1" type="body"/>
          </p:nvPr>
        </p:nvSpPr>
        <p:spPr>
          <a:xfrm>
            <a:off x="819150" y="677350"/>
            <a:ext cx="7505700" cy="3761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3A3A3A"/>
              </a:buClr>
              <a:buSzPts val="1800"/>
              <a:buFont typeface="Arial"/>
              <a:buChar char="●"/>
            </a:pPr>
            <a:r>
              <a:rPr lang="en" sz="1800">
                <a:solidFill>
                  <a:srgbClr val="EF4444"/>
                </a:solidFill>
                <a:highlight>
                  <a:srgbClr val="FFFFFF"/>
                </a:highlight>
                <a:latin typeface="Nunito"/>
                <a:ea typeface="Nunito"/>
                <a:cs typeface="Nunito"/>
                <a:sym typeface="Nunito"/>
              </a:rPr>
              <a:t>spring </a:t>
            </a:r>
            <a:r>
              <a:rPr b="1" lang="en" sz="1800">
                <a:solidFill>
                  <a:srgbClr val="EF4444"/>
                </a:solidFill>
                <a:highlight>
                  <a:srgbClr val="FFFFFF"/>
                </a:highlight>
                <a:latin typeface="Nunito"/>
                <a:ea typeface="Nunito"/>
                <a:cs typeface="Nunito"/>
                <a:sym typeface="Nunito"/>
              </a:rPr>
              <a:t>install</a:t>
            </a:r>
            <a:r>
              <a:rPr lang="en" sz="1800">
                <a:solidFill>
                  <a:srgbClr val="3A3A3A"/>
                </a:solidFill>
                <a:highlight>
                  <a:srgbClr val="FFFFFF"/>
                </a:highlight>
                <a:latin typeface="Nunito"/>
                <a:ea typeface="Nunito"/>
                <a:cs typeface="Nunito"/>
                <a:sym typeface="Nunito"/>
              </a:rPr>
              <a:t> </a:t>
            </a:r>
            <a:r>
              <a:rPr lang="en" sz="1800">
                <a:solidFill>
                  <a:srgbClr val="EF4444"/>
                </a:solidFill>
                <a:highlight>
                  <a:srgbClr val="FFFFFF"/>
                </a:highlight>
                <a:latin typeface="Nunito"/>
                <a:ea typeface="Nunito"/>
                <a:cs typeface="Nunito"/>
                <a:sym typeface="Nunito"/>
              </a:rPr>
              <a:t>com.mypack:spring-boot-cli-extension:1.0.2.RELEASE</a:t>
            </a:r>
            <a:br>
              <a:rPr lang="en" sz="1800">
                <a:solidFill>
                  <a:srgbClr val="3A3A3A"/>
                </a:solidFill>
                <a:highlight>
                  <a:srgbClr val="FFFFFF"/>
                </a:highlight>
                <a:latin typeface="Nunito"/>
                <a:ea typeface="Nunito"/>
                <a:cs typeface="Nunito"/>
                <a:sym typeface="Nunito"/>
              </a:rPr>
            </a:br>
            <a:r>
              <a:rPr lang="en" sz="1800">
                <a:solidFill>
                  <a:srgbClr val="3A3A3A"/>
                </a:solidFill>
                <a:highlight>
                  <a:srgbClr val="FFFFFF"/>
                </a:highlight>
                <a:latin typeface="Nunito"/>
                <a:ea typeface="Nunito"/>
                <a:cs typeface="Nunito"/>
                <a:sym typeface="Nunito"/>
              </a:rPr>
              <a:t>install command help add extensions in the format group:artifact: version as above</a:t>
            </a:r>
            <a:endParaRPr sz="1800">
              <a:solidFill>
                <a:srgbClr val="3A3A3A"/>
              </a:solidFill>
              <a:highlight>
                <a:srgbClr val="FFFFFF"/>
              </a:highlight>
              <a:latin typeface="Nunito"/>
              <a:ea typeface="Nunito"/>
              <a:cs typeface="Nunito"/>
              <a:sym typeface="Nunito"/>
            </a:endParaRPr>
          </a:p>
          <a:p>
            <a:pPr indent="-342900" lvl="0" marL="457200" rtl="0" algn="l">
              <a:spcBef>
                <a:spcPts val="0"/>
              </a:spcBef>
              <a:spcAft>
                <a:spcPts val="0"/>
              </a:spcAft>
              <a:buClr>
                <a:srgbClr val="3A3A3A"/>
              </a:buClr>
              <a:buSzPts val="1800"/>
              <a:buFont typeface="Arial"/>
              <a:buChar char="●"/>
            </a:pPr>
            <a:r>
              <a:rPr lang="en" sz="1800">
                <a:solidFill>
                  <a:srgbClr val="EF4444"/>
                </a:solidFill>
                <a:highlight>
                  <a:srgbClr val="FFFFFF"/>
                </a:highlight>
                <a:latin typeface="Nunito"/>
                <a:ea typeface="Nunito"/>
                <a:cs typeface="Nunito"/>
                <a:sym typeface="Nunito"/>
              </a:rPr>
              <a:t>spring </a:t>
            </a:r>
            <a:r>
              <a:rPr b="1" lang="en" sz="1800">
                <a:solidFill>
                  <a:srgbClr val="EF4444"/>
                </a:solidFill>
                <a:highlight>
                  <a:srgbClr val="FFFFFF"/>
                </a:highlight>
                <a:latin typeface="Nunito"/>
                <a:ea typeface="Nunito"/>
                <a:cs typeface="Nunito"/>
                <a:sym typeface="Nunito"/>
              </a:rPr>
              <a:t>uninstall</a:t>
            </a:r>
            <a:r>
              <a:rPr lang="en" sz="1800">
                <a:solidFill>
                  <a:srgbClr val="EF4444"/>
                </a:solidFill>
                <a:highlight>
                  <a:srgbClr val="FFFFFF"/>
                </a:highlight>
                <a:latin typeface="Nunito"/>
                <a:ea typeface="Nunito"/>
                <a:cs typeface="Nunito"/>
                <a:sym typeface="Nunito"/>
              </a:rPr>
              <a:t> com.mypack:spring-boot-cli-extension:1.0.2.RELEASE</a:t>
            </a:r>
            <a:br>
              <a:rPr lang="en" sz="1800">
                <a:solidFill>
                  <a:srgbClr val="3A3A3A"/>
                </a:solidFill>
                <a:highlight>
                  <a:srgbClr val="FFFFFF"/>
                </a:highlight>
                <a:latin typeface="Nunito"/>
                <a:ea typeface="Nunito"/>
                <a:cs typeface="Nunito"/>
                <a:sym typeface="Nunito"/>
              </a:rPr>
            </a:br>
            <a:r>
              <a:rPr lang="en" sz="1800">
                <a:solidFill>
                  <a:srgbClr val="3A3A3A"/>
                </a:solidFill>
                <a:highlight>
                  <a:srgbClr val="FFFFFF"/>
                </a:highlight>
                <a:latin typeface="Nunito"/>
                <a:ea typeface="Nunito"/>
                <a:cs typeface="Nunito"/>
                <a:sym typeface="Nunito"/>
              </a:rPr>
              <a:t>uninstall command help uninstall artifacts</a:t>
            </a:r>
            <a:endParaRPr sz="1800">
              <a:solidFill>
                <a:srgbClr val="3A3A3A"/>
              </a:solidFill>
              <a:highlight>
                <a:srgbClr val="FFFFFF"/>
              </a:highlight>
              <a:latin typeface="Nunito"/>
              <a:ea typeface="Nunito"/>
              <a:cs typeface="Nunito"/>
              <a:sym typeface="Nunito"/>
            </a:endParaRPr>
          </a:p>
          <a:p>
            <a:pPr indent="-342900" lvl="0" marL="457200" rtl="0" algn="l">
              <a:spcBef>
                <a:spcPts val="0"/>
              </a:spcBef>
              <a:spcAft>
                <a:spcPts val="0"/>
              </a:spcAft>
              <a:buClr>
                <a:srgbClr val="3A3A3A"/>
              </a:buClr>
              <a:buSzPts val="1800"/>
              <a:buFont typeface="Arial"/>
              <a:buChar char="●"/>
            </a:pPr>
            <a:r>
              <a:rPr lang="en" sz="1800">
                <a:solidFill>
                  <a:srgbClr val="EF4444"/>
                </a:solidFill>
                <a:highlight>
                  <a:srgbClr val="FFFFFF"/>
                </a:highlight>
                <a:latin typeface="Nunito"/>
                <a:ea typeface="Nunito"/>
                <a:cs typeface="Nunito"/>
                <a:sym typeface="Nunito"/>
              </a:rPr>
              <a:t>spring uninstall </a:t>
            </a:r>
            <a:r>
              <a:rPr b="1" lang="en" sz="1800">
                <a:solidFill>
                  <a:srgbClr val="EF4444"/>
                </a:solidFill>
                <a:highlight>
                  <a:srgbClr val="FFFFFF"/>
                </a:highlight>
                <a:latin typeface="Nunito"/>
                <a:ea typeface="Nunito"/>
                <a:cs typeface="Nunito"/>
                <a:sym typeface="Nunito"/>
              </a:rPr>
              <a:t>–all</a:t>
            </a:r>
            <a:br>
              <a:rPr b="1" lang="en" sz="1800">
                <a:solidFill>
                  <a:srgbClr val="3A3A3A"/>
                </a:solidFill>
                <a:highlight>
                  <a:srgbClr val="FFFFFF"/>
                </a:highlight>
                <a:latin typeface="Nunito"/>
                <a:ea typeface="Nunito"/>
                <a:cs typeface="Nunito"/>
                <a:sym typeface="Nunito"/>
              </a:rPr>
            </a:br>
            <a:r>
              <a:rPr lang="en" sz="1800">
                <a:solidFill>
                  <a:srgbClr val="3A3A3A"/>
                </a:solidFill>
                <a:highlight>
                  <a:srgbClr val="FFFFFF"/>
                </a:highlight>
                <a:latin typeface="Nunito"/>
                <a:ea typeface="Nunito"/>
                <a:cs typeface="Nunito"/>
                <a:sym typeface="Nunito"/>
              </a:rPr>
              <a:t>uninstall all dependencies using –all command</a:t>
            </a:r>
            <a:endParaRPr sz="1800">
              <a:latin typeface="Nunito"/>
              <a:ea typeface="Nunito"/>
              <a:cs typeface="Nunito"/>
              <a:sym typeface="Nuni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dependencies are required to start the JPA application and connect the in-memory database H2 with Spring Boot application?</a:t>
            </a:r>
            <a:endParaRPr/>
          </a:p>
        </p:txBody>
      </p:sp>
      <p:sp>
        <p:nvSpPr>
          <p:cNvPr id="595" name="Google Shape;595;p90"/>
          <p:cNvSpPr txBox="1"/>
          <p:nvPr>
            <p:ph idx="1" type="body"/>
          </p:nvPr>
        </p:nvSpPr>
        <p:spPr>
          <a:xfrm>
            <a:off x="819150" y="2374250"/>
            <a:ext cx="7505700" cy="20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A3A3A"/>
                </a:solidFill>
                <a:highlight>
                  <a:srgbClr val="FFFFFF"/>
                </a:highlight>
                <a:latin typeface="Nunito"/>
                <a:ea typeface="Nunito"/>
                <a:cs typeface="Nunito"/>
                <a:sym typeface="Nunito"/>
              </a:rPr>
              <a:t>In-memory database utilizes system memory to store data instead of disk space for data storage.</a:t>
            </a:r>
            <a:r>
              <a:rPr lang="en" sz="1200">
                <a:solidFill>
                  <a:srgbClr val="3A3A3A"/>
                </a:solidFill>
                <a:highlight>
                  <a:srgbClr val="FFFFFF"/>
                </a:highlight>
                <a:latin typeface="Nunito"/>
                <a:ea typeface="Nunito"/>
                <a:cs typeface="Nunito"/>
                <a:sym typeface="Nunito"/>
              </a:rPr>
              <a:t> These databases are convenient when you don’t need data stored in physical memory.</a:t>
            </a:r>
            <a:endParaRPr sz="1200">
              <a:solidFill>
                <a:srgbClr val="3A3A3A"/>
              </a:solidFill>
              <a:highlight>
                <a:srgbClr val="FFFFFF"/>
              </a:highlight>
              <a:latin typeface="Nunito"/>
              <a:ea typeface="Nunito"/>
              <a:cs typeface="Nunito"/>
              <a:sym typeface="Nunito"/>
            </a:endParaRPr>
          </a:p>
          <a:p>
            <a:pPr indent="0" lvl="0" marL="0" rtl="0" algn="l">
              <a:spcBef>
                <a:spcPts val="1200"/>
              </a:spcBef>
              <a:spcAft>
                <a:spcPts val="1200"/>
              </a:spcAft>
              <a:buNone/>
            </a:pPr>
            <a:r>
              <a:rPr lang="en" sz="1200">
                <a:solidFill>
                  <a:srgbClr val="3A3A3A"/>
                </a:solidFill>
                <a:highlight>
                  <a:srgbClr val="FFFFFF"/>
                </a:highlight>
                <a:latin typeface="Nunito"/>
                <a:ea typeface="Nunito"/>
                <a:cs typeface="Nunito"/>
                <a:sym typeface="Nunito"/>
              </a:rPr>
              <a:t>Dependencies between the H2 database and spring-boot-starter-data-jpa are configured as below</a:t>
            </a:r>
            <a:endParaRPr sz="1200">
              <a:solidFill>
                <a:srgbClr val="3A3A3A"/>
              </a:solidFill>
              <a:highlight>
                <a:srgbClr val="FFFFFF"/>
              </a:highlight>
              <a:latin typeface="Nunito"/>
              <a:ea typeface="Nunito"/>
              <a:cs typeface="Nunito"/>
              <a:sym typeface="Nunito"/>
            </a:endParaRPr>
          </a:p>
        </p:txBody>
      </p:sp>
      <p:pic>
        <p:nvPicPr>
          <p:cNvPr id="596" name="Google Shape;596;p90"/>
          <p:cNvPicPr preferRelativeResize="0"/>
          <p:nvPr/>
        </p:nvPicPr>
        <p:blipFill>
          <a:blip r:embed="rId3">
            <a:alphaModFix/>
          </a:blip>
          <a:stretch>
            <a:fillRect/>
          </a:stretch>
        </p:blipFill>
        <p:spPr>
          <a:xfrm>
            <a:off x="971550" y="3396900"/>
            <a:ext cx="4983425" cy="14270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91"/>
          <p:cNvSpPr txBox="1"/>
          <p:nvPr>
            <p:ph idx="1" type="body"/>
          </p:nvPr>
        </p:nvSpPr>
        <p:spPr>
          <a:xfrm>
            <a:off x="819150" y="650950"/>
            <a:ext cx="7505700" cy="378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3A3A3A"/>
                </a:solidFill>
                <a:highlight>
                  <a:srgbClr val="FFFFFF"/>
                </a:highlight>
                <a:latin typeface="Nunito"/>
                <a:ea typeface="Nunito"/>
                <a:cs typeface="Nunito"/>
                <a:sym typeface="Nunito"/>
              </a:rPr>
              <a:t>The parameters listed below are added to the </a:t>
            </a:r>
            <a:r>
              <a:rPr b="1" lang="en" sz="1200">
                <a:solidFill>
                  <a:srgbClr val="3A3A3A"/>
                </a:solidFill>
                <a:highlight>
                  <a:srgbClr val="FFFFFF"/>
                </a:highlight>
                <a:latin typeface="Nunito"/>
                <a:ea typeface="Nunito"/>
                <a:cs typeface="Nunito"/>
                <a:sym typeface="Nunito"/>
              </a:rPr>
              <a:t>application.properties</a:t>
            </a:r>
            <a:r>
              <a:rPr lang="en" sz="1200">
                <a:solidFill>
                  <a:srgbClr val="3A3A3A"/>
                </a:solidFill>
                <a:highlight>
                  <a:srgbClr val="FFFFFF"/>
                </a:highlight>
                <a:latin typeface="Nunito"/>
                <a:ea typeface="Nunito"/>
                <a:cs typeface="Nunito"/>
                <a:sym typeface="Nunito"/>
              </a:rPr>
              <a:t> file as a configuration to connect to an in-memory store with a username as </a:t>
            </a:r>
            <a:r>
              <a:rPr b="1" lang="en" sz="1200">
                <a:solidFill>
                  <a:srgbClr val="3A3A3A"/>
                </a:solidFill>
                <a:highlight>
                  <a:srgbClr val="FFFFFF"/>
                </a:highlight>
                <a:latin typeface="Nunito"/>
                <a:ea typeface="Nunito"/>
                <a:cs typeface="Nunito"/>
                <a:sym typeface="Nunito"/>
              </a:rPr>
              <a:t>sa</a:t>
            </a:r>
            <a:r>
              <a:rPr lang="en" sz="1200">
                <a:solidFill>
                  <a:srgbClr val="3A3A3A"/>
                </a:solidFill>
                <a:highlight>
                  <a:srgbClr val="FFFFFF"/>
                </a:highlight>
                <a:latin typeface="Nunito"/>
                <a:ea typeface="Nunito"/>
                <a:cs typeface="Nunito"/>
                <a:sym typeface="Nunito"/>
              </a:rPr>
              <a:t> and an </a:t>
            </a:r>
            <a:r>
              <a:rPr b="1" lang="en" sz="1200">
                <a:solidFill>
                  <a:srgbClr val="3A3A3A"/>
                </a:solidFill>
                <a:highlight>
                  <a:srgbClr val="FFFFFF"/>
                </a:highlight>
                <a:latin typeface="Nunito"/>
                <a:ea typeface="Nunito"/>
                <a:cs typeface="Nunito"/>
                <a:sym typeface="Nunito"/>
              </a:rPr>
              <a:t>empty</a:t>
            </a:r>
            <a:r>
              <a:rPr lang="en" sz="1200">
                <a:solidFill>
                  <a:srgbClr val="3A3A3A"/>
                </a:solidFill>
                <a:highlight>
                  <a:srgbClr val="FFFFFF"/>
                </a:highlight>
                <a:latin typeface="Nunito"/>
                <a:ea typeface="Nunito"/>
                <a:cs typeface="Nunito"/>
                <a:sym typeface="Nunito"/>
              </a:rPr>
              <a:t> password.</a:t>
            </a:r>
            <a:endParaRPr sz="1200">
              <a:solidFill>
                <a:srgbClr val="3A3A3A"/>
              </a:solidFill>
              <a:highlight>
                <a:srgbClr val="FFFFFF"/>
              </a:highlight>
              <a:latin typeface="Nunito"/>
              <a:ea typeface="Nunito"/>
              <a:cs typeface="Nunito"/>
              <a:sym typeface="Nunito"/>
            </a:endParaRPr>
          </a:p>
          <a:p>
            <a:pPr indent="-304800" lvl="0" marL="457200" rtl="0" algn="l">
              <a:lnSpc>
                <a:spcPct val="150000"/>
              </a:lnSpc>
              <a:spcBef>
                <a:spcPts val="1200"/>
              </a:spcBef>
              <a:spcAft>
                <a:spcPts val="0"/>
              </a:spcAft>
              <a:buClr>
                <a:srgbClr val="EF4444"/>
              </a:buClr>
              <a:buSzPts val="1200"/>
              <a:buFont typeface="Nunito"/>
              <a:buChar char="●"/>
            </a:pPr>
            <a:r>
              <a:rPr b="1" lang="en" sz="1200">
                <a:solidFill>
                  <a:srgbClr val="EF4444"/>
                </a:solidFill>
                <a:latin typeface="Nunito"/>
                <a:ea typeface="Nunito"/>
                <a:cs typeface="Nunito"/>
                <a:sym typeface="Nunito"/>
              </a:rPr>
              <a:t>spring.datasource.url=jdbc:h2:mem:sampledb</a:t>
            </a:r>
            <a:endParaRPr b="1" sz="1200">
              <a:solidFill>
                <a:srgbClr val="EF4444"/>
              </a:solidFill>
              <a:latin typeface="Nunito"/>
              <a:ea typeface="Nunito"/>
              <a:cs typeface="Nunito"/>
              <a:sym typeface="Nunito"/>
            </a:endParaRPr>
          </a:p>
          <a:p>
            <a:pPr indent="-304800" lvl="0" marL="457200" rtl="0" algn="l">
              <a:lnSpc>
                <a:spcPct val="150000"/>
              </a:lnSpc>
              <a:spcBef>
                <a:spcPts val="0"/>
              </a:spcBef>
              <a:spcAft>
                <a:spcPts val="0"/>
              </a:spcAft>
              <a:buClr>
                <a:srgbClr val="EF4444"/>
              </a:buClr>
              <a:buSzPts val="1200"/>
              <a:buFont typeface="Nunito"/>
              <a:buChar char="●"/>
            </a:pPr>
            <a:r>
              <a:rPr b="1" lang="en" sz="1200">
                <a:solidFill>
                  <a:srgbClr val="EF4444"/>
                </a:solidFill>
                <a:latin typeface="Nunito"/>
                <a:ea typeface="Nunito"/>
                <a:cs typeface="Nunito"/>
                <a:sym typeface="Nunito"/>
              </a:rPr>
              <a:t>spring.datasource.driverClassName=org.h2.Driver</a:t>
            </a:r>
            <a:endParaRPr b="1" sz="1200">
              <a:solidFill>
                <a:srgbClr val="EF4444"/>
              </a:solidFill>
              <a:latin typeface="Nunito"/>
              <a:ea typeface="Nunito"/>
              <a:cs typeface="Nunito"/>
              <a:sym typeface="Nunito"/>
            </a:endParaRPr>
          </a:p>
          <a:p>
            <a:pPr indent="-304800" lvl="0" marL="457200" rtl="0" algn="l">
              <a:lnSpc>
                <a:spcPct val="150000"/>
              </a:lnSpc>
              <a:spcBef>
                <a:spcPts val="0"/>
              </a:spcBef>
              <a:spcAft>
                <a:spcPts val="0"/>
              </a:spcAft>
              <a:buClr>
                <a:srgbClr val="EF4444"/>
              </a:buClr>
              <a:buSzPts val="1200"/>
              <a:buFont typeface="Nunito"/>
              <a:buChar char="●"/>
            </a:pPr>
            <a:r>
              <a:rPr b="1" lang="en" sz="1200">
                <a:solidFill>
                  <a:srgbClr val="EF4444"/>
                </a:solidFill>
                <a:latin typeface="Nunito"/>
                <a:ea typeface="Nunito"/>
                <a:cs typeface="Nunito"/>
                <a:sym typeface="Nunito"/>
              </a:rPr>
              <a:t>spring.datasource.username=sa</a:t>
            </a:r>
            <a:endParaRPr b="1" sz="1200">
              <a:solidFill>
                <a:srgbClr val="EF4444"/>
              </a:solidFill>
              <a:latin typeface="Nunito"/>
              <a:ea typeface="Nunito"/>
              <a:cs typeface="Nunito"/>
              <a:sym typeface="Nunito"/>
            </a:endParaRPr>
          </a:p>
          <a:p>
            <a:pPr indent="-304800" lvl="0" marL="457200" rtl="0" algn="l">
              <a:lnSpc>
                <a:spcPct val="150000"/>
              </a:lnSpc>
              <a:spcBef>
                <a:spcPts val="0"/>
              </a:spcBef>
              <a:spcAft>
                <a:spcPts val="0"/>
              </a:spcAft>
              <a:buClr>
                <a:srgbClr val="EF4444"/>
              </a:buClr>
              <a:buSzPts val="1200"/>
              <a:buFont typeface="Nunito"/>
              <a:buChar char="●"/>
            </a:pPr>
            <a:r>
              <a:rPr b="1" lang="en" sz="1200">
                <a:solidFill>
                  <a:srgbClr val="EF4444"/>
                </a:solidFill>
                <a:latin typeface="Nunito"/>
                <a:ea typeface="Nunito"/>
                <a:cs typeface="Nunito"/>
                <a:sym typeface="Nunito"/>
              </a:rPr>
              <a:t>spring.datasource.password=</a:t>
            </a:r>
            <a:endParaRPr b="1" sz="1200">
              <a:solidFill>
                <a:srgbClr val="EF4444"/>
              </a:solidFill>
              <a:latin typeface="Nunito"/>
              <a:ea typeface="Nunito"/>
              <a:cs typeface="Nunito"/>
              <a:sym typeface="Nunito"/>
            </a:endParaRPr>
          </a:p>
          <a:p>
            <a:pPr indent="-304800" lvl="0" marL="457200" marR="190500" rtl="0" algn="l">
              <a:lnSpc>
                <a:spcPct val="150000"/>
              </a:lnSpc>
              <a:spcBef>
                <a:spcPts val="0"/>
              </a:spcBef>
              <a:spcAft>
                <a:spcPts val="0"/>
              </a:spcAft>
              <a:buClr>
                <a:srgbClr val="EF4444"/>
              </a:buClr>
              <a:buSzPts val="1200"/>
              <a:buFont typeface="Nunito"/>
              <a:buChar char="●"/>
            </a:pPr>
            <a:r>
              <a:rPr b="1" lang="en" sz="1200">
                <a:solidFill>
                  <a:srgbClr val="EF4444"/>
                </a:solidFill>
                <a:latin typeface="Nunito"/>
                <a:ea typeface="Nunito"/>
                <a:cs typeface="Nunito"/>
                <a:sym typeface="Nunito"/>
              </a:rPr>
              <a:t>spring.jpa.database-platform=org.hibernate.dialect.H2Dialect</a:t>
            </a:r>
            <a:endParaRPr b="1" sz="1200">
              <a:solidFill>
                <a:srgbClr val="EF4444"/>
              </a:solidFill>
              <a:latin typeface="Nunito"/>
              <a:ea typeface="Nunito"/>
              <a:cs typeface="Nunito"/>
              <a:sym typeface="Nunito"/>
            </a:endParaRPr>
          </a:p>
          <a:p>
            <a:pPr indent="0" lvl="0" marL="0" rtl="0" algn="l">
              <a:spcBef>
                <a:spcPts val="1700"/>
              </a:spcBef>
              <a:spcAft>
                <a:spcPts val="0"/>
              </a:spcAft>
              <a:buNone/>
            </a:pPr>
            <a:r>
              <a:rPr lang="en" sz="1200">
                <a:solidFill>
                  <a:srgbClr val="3A3A3A"/>
                </a:solidFill>
                <a:highlight>
                  <a:srgbClr val="FFFFFF"/>
                </a:highlight>
                <a:latin typeface="Arial"/>
                <a:ea typeface="Arial"/>
                <a:cs typeface="Arial"/>
                <a:sym typeface="Arial"/>
              </a:rPr>
              <a:t>In addition, spring boot has </a:t>
            </a:r>
            <a:r>
              <a:rPr b="1" lang="en" sz="1200">
                <a:solidFill>
                  <a:srgbClr val="3A3A3A"/>
                </a:solidFill>
                <a:highlight>
                  <a:srgbClr val="FFFFFF"/>
                </a:highlight>
                <a:latin typeface="Arial"/>
                <a:ea typeface="Arial"/>
                <a:cs typeface="Arial"/>
                <a:sym typeface="Arial"/>
              </a:rPr>
              <a:t>two more properties to manage the h2 console</a:t>
            </a:r>
            <a:r>
              <a:rPr lang="en" sz="1200">
                <a:solidFill>
                  <a:srgbClr val="3A3A3A"/>
                </a:solidFill>
                <a:highlight>
                  <a:srgbClr val="FFFFFF"/>
                </a:highlight>
                <a:latin typeface="Arial"/>
                <a:ea typeface="Arial"/>
                <a:cs typeface="Arial"/>
                <a:sym typeface="Arial"/>
              </a:rPr>
              <a:t>, such as </a:t>
            </a:r>
            <a:r>
              <a:rPr b="1" lang="en" sz="1200">
                <a:solidFill>
                  <a:srgbClr val="3A3A3A"/>
                </a:solidFill>
                <a:highlight>
                  <a:srgbClr val="FFFFFF"/>
                </a:highlight>
                <a:latin typeface="Arial"/>
                <a:ea typeface="Arial"/>
                <a:cs typeface="Arial"/>
                <a:sym typeface="Arial"/>
              </a:rPr>
              <a:t>enable/disable database trace logs, and remote access to the H2 console</a:t>
            </a:r>
            <a:r>
              <a:rPr lang="en" sz="1200">
                <a:solidFill>
                  <a:srgbClr val="3A3A3A"/>
                </a:solidFill>
                <a:highlight>
                  <a:srgbClr val="FFFFFF"/>
                </a:highlight>
                <a:latin typeface="Arial"/>
                <a:ea typeface="Arial"/>
                <a:cs typeface="Arial"/>
                <a:sym typeface="Arial"/>
              </a:rPr>
              <a:t> by adding the following in </a:t>
            </a:r>
            <a:r>
              <a:rPr b="1" lang="en" sz="1200">
                <a:solidFill>
                  <a:srgbClr val="3A3A3A"/>
                </a:solidFill>
                <a:highlight>
                  <a:srgbClr val="FFFFFF"/>
                </a:highlight>
                <a:latin typeface="Arial"/>
                <a:ea typeface="Arial"/>
                <a:cs typeface="Arial"/>
                <a:sym typeface="Arial"/>
              </a:rPr>
              <a:t>application.properties</a:t>
            </a:r>
            <a:r>
              <a:rPr lang="en" sz="1200">
                <a:solidFill>
                  <a:srgbClr val="3A3A3A"/>
                </a:solidFill>
                <a:highlight>
                  <a:srgbClr val="FFFFFF"/>
                </a:highlight>
                <a:latin typeface="Arial"/>
                <a:ea typeface="Arial"/>
                <a:cs typeface="Arial"/>
                <a:sym typeface="Arial"/>
              </a:rPr>
              <a:t> file.</a:t>
            </a:r>
            <a:endParaRPr sz="1200">
              <a:solidFill>
                <a:srgbClr val="3A3A3A"/>
              </a:solidFill>
              <a:highlight>
                <a:srgbClr val="FFFFFF"/>
              </a:highlight>
              <a:latin typeface="Arial"/>
              <a:ea typeface="Arial"/>
              <a:cs typeface="Arial"/>
              <a:sym typeface="Arial"/>
            </a:endParaRPr>
          </a:p>
          <a:p>
            <a:pPr indent="-304800" lvl="0" marL="457200" rtl="0" algn="l">
              <a:lnSpc>
                <a:spcPct val="150000"/>
              </a:lnSpc>
              <a:spcBef>
                <a:spcPts val="1700"/>
              </a:spcBef>
              <a:spcAft>
                <a:spcPts val="0"/>
              </a:spcAft>
              <a:buClr>
                <a:srgbClr val="3A3A3A"/>
              </a:buClr>
              <a:buSzPts val="1200"/>
              <a:buFont typeface="Arial"/>
              <a:buChar char="●"/>
            </a:pPr>
            <a:r>
              <a:rPr b="1" lang="en" sz="1200">
                <a:solidFill>
                  <a:srgbClr val="3A3A3A"/>
                </a:solidFill>
                <a:latin typeface="Arial"/>
                <a:ea typeface="Arial"/>
                <a:cs typeface="Arial"/>
                <a:sym typeface="Arial"/>
              </a:rPr>
              <a:t>spring.h2.console.settings.trace=false</a:t>
            </a:r>
            <a:endParaRPr b="1" sz="1200">
              <a:solidFill>
                <a:srgbClr val="3A3A3A"/>
              </a:solidFill>
              <a:latin typeface="Arial"/>
              <a:ea typeface="Arial"/>
              <a:cs typeface="Arial"/>
              <a:sym typeface="Arial"/>
            </a:endParaRPr>
          </a:p>
          <a:p>
            <a:pPr indent="-304800" lvl="0" marL="457200" marR="190500" rtl="0" algn="l">
              <a:lnSpc>
                <a:spcPct val="150000"/>
              </a:lnSpc>
              <a:spcBef>
                <a:spcPts val="0"/>
              </a:spcBef>
              <a:spcAft>
                <a:spcPts val="0"/>
              </a:spcAft>
              <a:buClr>
                <a:srgbClr val="3A3A3A"/>
              </a:buClr>
              <a:buSzPts val="1200"/>
              <a:buFont typeface="Arial"/>
              <a:buChar char="●"/>
            </a:pPr>
            <a:r>
              <a:rPr b="1" lang="en" sz="1200">
                <a:solidFill>
                  <a:srgbClr val="3A3A3A"/>
                </a:solidFill>
                <a:latin typeface="Arial"/>
                <a:ea typeface="Arial"/>
                <a:cs typeface="Arial"/>
                <a:sym typeface="Arial"/>
              </a:rPr>
              <a:t>spring.h2.console.settings.web-allow-others=false</a:t>
            </a:r>
            <a:endParaRPr b="1" sz="1200">
              <a:solidFill>
                <a:srgbClr val="3A3A3A"/>
              </a:solidFill>
              <a:highlight>
                <a:srgbClr val="FFFFFF"/>
              </a:highlight>
              <a:latin typeface="Nunito"/>
              <a:ea typeface="Nunito"/>
              <a:cs typeface="Nunito"/>
              <a:sym typeface="Nunit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9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advantages of using the Spring framework.</a:t>
            </a:r>
            <a:endParaRPr/>
          </a:p>
        </p:txBody>
      </p:sp>
      <p:sp>
        <p:nvSpPr>
          <p:cNvPr id="607" name="Google Shape;607;p9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3A3A3A"/>
                </a:solidFill>
                <a:highlight>
                  <a:srgbClr val="FFFFFF"/>
                </a:highlight>
                <a:latin typeface="Arial"/>
                <a:ea typeface="Arial"/>
                <a:cs typeface="Arial"/>
                <a:sym typeface="Arial"/>
              </a:rPr>
              <a:t>Spring is a Java open source application development framework used for its simplicity, ease of use, safe, and quick to build enterprise applications.</a:t>
            </a:r>
            <a:endParaRPr b="1" sz="1200">
              <a:solidFill>
                <a:srgbClr val="3A3A3A"/>
              </a:solidFill>
              <a:highlight>
                <a:srgbClr val="FFFFFF"/>
              </a:highlight>
              <a:latin typeface="Arial"/>
              <a:ea typeface="Arial"/>
              <a:cs typeface="Arial"/>
              <a:sym typeface="Arial"/>
            </a:endParaRPr>
          </a:p>
          <a:p>
            <a:pPr indent="0" lvl="0" marL="0" rtl="0" algn="l">
              <a:spcBef>
                <a:spcPts val="1200"/>
              </a:spcBef>
              <a:spcAft>
                <a:spcPts val="0"/>
              </a:spcAft>
              <a:buNone/>
            </a:pPr>
            <a:r>
              <a:rPr b="1" lang="en" sz="1200">
                <a:solidFill>
                  <a:srgbClr val="3A3A3A"/>
                </a:solidFill>
                <a:highlight>
                  <a:srgbClr val="FFFFFF"/>
                </a:highlight>
                <a:latin typeface="Arial"/>
                <a:ea typeface="Arial"/>
                <a:cs typeface="Arial"/>
                <a:sym typeface="Arial"/>
              </a:rPr>
              <a:t>The benefits of using the Spring framework are listed below:</a:t>
            </a:r>
            <a:endParaRPr b="1" sz="1200">
              <a:solidFill>
                <a:srgbClr val="3A3A3A"/>
              </a:solidFill>
              <a:highlight>
                <a:srgbClr val="FFFFFF"/>
              </a:highlight>
              <a:latin typeface="Arial"/>
              <a:ea typeface="Arial"/>
              <a:cs typeface="Arial"/>
              <a:sym typeface="Arial"/>
            </a:endParaRPr>
          </a:p>
          <a:p>
            <a:pPr indent="-304800" lvl="0" marL="876300" rtl="0" algn="l">
              <a:spcBef>
                <a:spcPts val="1700"/>
              </a:spcBef>
              <a:spcAft>
                <a:spcPts val="0"/>
              </a:spcAft>
              <a:buClr>
                <a:srgbClr val="3A3A3A"/>
              </a:buClr>
              <a:buSzPts val="1200"/>
              <a:buFont typeface="Arial"/>
              <a:buChar char="●"/>
            </a:pPr>
            <a:r>
              <a:rPr b="1" lang="en" sz="1200">
                <a:solidFill>
                  <a:srgbClr val="3A3A3A"/>
                </a:solidFill>
                <a:highlight>
                  <a:srgbClr val="FFFFFF"/>
                </a:highlight>
                <a:latin typeface="Arial"/>
                <a:ea typeface="Arial"/>
                <a:cs typeface="Arial"/>
                <a:sym typeface="Arial"/>
              </a:rPr>
              <a:t>Spring is a lightweight framework that uses plain old Java objects (POJO) and uses Tomcat as a servlet container.</a:t>
            </a:r>
            <a:endParaRPr b="1" sz="1200">
              <a:solidFill>
                <a:srgbClr val="3A3A3A"/>
              </a:solidFill>
              <a:highlight>
                <a:srgbClr val="FFFFFF"/>
              </a:highlight>
              <a:latin typeface="Arial"/>
              <a:ea typeface="Arial"/>
              <a:cs typeface="Arial"/>
              <a:sym typeface="Arial"/>
            </a:endParaRPr>
          </a:p>
          <a:p>
            <a:pPr indent="-304800" lvl="0" marL="876300" rtl="0" algn="l">
              <a:spcBef>
                <a:spcPts val="0"/>
              </a:spcBef>
              <a:spcAft>
                <a:spcPts val="0"/>
              </a:spcAft>
              <a:buClr>
                <a:srgbClr val="3A3A3A"/>
              </a:buClr>
              <a:buSzPts val="1200"/>
              <a:buFont typeface="Arial"/>
              <a:buChar char="●"/>
            </a:pPr>
            <a:r>
              <a:rPr b="1" lang="en" sz="1200">
                <a:solidFill>
                  <a:srgbClr val="3A3A3A"/>
                </a:solidFill>
                <a:highlight>
                  <a:srgbClr val="FFFFFF"/>
                </a:highlight>
                <a:latin typeface="Arial"/>
                <a:ea typeface="Arial"/>
                <a:cs typeface="Arial"/>
                <a:sym typeface="Arial"/>
              </a:rPr>
              <a:t>Spring Beans are configured using XML or Java-based annotations.</a:t>
            </a:r>
            <a:endParaRPr b="1" sz="1200">
              <a:solidFill>
                <a:srgbClr val="3A3A3A"/>
              </a:solidFill>
              <a:highlight>
                <a:srgbClr val="FFFFFF"/>
              </a:highlight>
              <a:latin typeface="Arial"/>
              <a:ea typeface="Arial"/>
              <a:cs typeface="Arial"/>
              <a:sym typeface="Arial"/>
            </a:endParaRPr>
          </a:p>
          <a:p>
            <a:pPr indent="-304800" lvl="0" marL="8763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Offers a separate class loader, different compilation, </a:t>
            </a:r>
            <a:r>
              <a:rPr b="1" lang="en" sz="1200">
                <a:solidFill>
                  <a:srgbClr val="3A3A3A"/>
                </a:solidFill>
                <a:highlight>
                  <a:srgbClr val="FFFFFF"/>
                </a:highlight>
                <a:latin typeface="Arial"/>
                <a:ea typeface="Arial"/>
                <a:cs typeface="Arial"/>
                <a:sym typeface="Arial"/>
              </a:rPr>
              <a:t>uses dependency injections to manage components and objects such as Spring Beans.</a:t>
            </a:r>
            <a:endParaRPr b="1" sz="1200">
              <a:solidFill>
                <a:srgbClr val="3A3A3A"/>
              </a:solidFill>
              <a:highlight>
                <a:srgbClr val="FFFFFF"/>
              </a:highlight>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93"/>
          <p:cNvSpPr txBox="1"/>
          <p:nvPr>
            <p:ph idx="1" type="body"/>
          </p:nvPr>
        </p:nvSpPr>
        <p:spPr>
          <a:xfrm>
            <a:off x="819150" y="650950"/>
            <a:ext cx="7505700" cy="3787800"/>
          </a:xfrm>
          <a:prstGeom prst="rect">
            <a:avLst/>
          </a:prstGeom>
        </p:spPr>
        <p:txBody>
          <a:bodyPr anchorCtr="0" anchor="t" bIns="91425" lIns="91425" spcFirstLastPara="1" rIns="91425" wrap="square" tIns="91425">
            <a:normAutofit/>
          </a:bodyPr>
          <a:lstStyle/>
          <a:p>
            <a:pPr indent="-304800" lvl="0" marL="9144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Spring framework offers APIs that offer easy integration with Java EE, JDK timers, and ORM frameworks.</a:t>
            </a:r>
            <a:endParaRPr sz="1200">
              <a:solidFill>
                <a:srgbClr val="3A3A3A"/>
              </a:solidFill>
              <a:highlight>
                <a:srgbClr val="FFFFFF"/>
              </a:highlight>
              <a:latin typeface="Arial"/>
              <a:ea typeface="Arial"/>
              <a:cs typeface="Arial"/>
              <a:sym typeface="Arial"/>
            </a:endParaRPr>
          </a:p>
          <a:p>
            <a:pPr indent="-304800" lvl="0" marL="9144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Spring framework allows developers to pick only those classes or packages that they want to use.</a:t>
            </a:r>
            <a:endParaRPr sz="1200">
              <a:solidFill>
                <a:srgbClr val="3A3A3A"/>
              </a:solidFill>
              <a:highlight>
                <a:srgbClr val="FFFFFF"/>
              </a:highlight>
              <a:latin typeface="Arial"/>
              <a:ea typeface="Arial"/>
              <a:cs typeface="Arial"/>
              <a:sym typeface="Arial"/>
            </a:endParaRPr>
          </a:p>
          <a:p>
            <a:pPr indent="-304800" lvl="0" marL="9144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The </a:t>
            </a:r>
            <a:r>
              <a:rPr b="1" lang="en" sz="1200">
                <a:solidFill>
                  <a:srgbClr val="3A3A3A"/>
                </a:solidFill>
                <a:highlight>
                  <a:srgbClr val="FFFFFF"/>
                </a:highlight>
                <a:latin typeface="Arial"/>
                <a:ea typeface="Arial"/>
                <a:cs typeface="Arial"/>
                <a:sym typeface="Arial"/>
              </a:rPr>
              <a:t>testing spring-based</a:t>
            </a:r>
            <a:r>
              <a:rPr lang="en" sz="1200">
                <a:solidFill>
                  <a:srgbClr val="3A3A3A"/>
                </a:solidFill>
                <a:highlight>
                  <a:srgbClr val="FFFFFF"/>
                </a:highlight>
                <a:latin typeface="Arial"/>
                <a:ea typeface="Arial"/>
                <a:cs typeface="Arial"/>
                <a:sym typeface="Arial"/>
              </a:rPr>
              <a:t> application is simplified using </a:t>
            </a:r>
            <a:r>
              <a:rPr b="1" lang="en" sz="1200">
                <a:solidFill>
                  <a:srgbClr val="3A3A3A"/>
                </a:solidFill>
                <a:highlight>
                  <a:srgbClr val="FFFFFF"/>
                </a:highlight>
                <a:latin typeface="Arial"/>
                <a:ea typeface="Arial"/>
                <a:cs typeface="Arial"/>
                <a:sym typeface="Arial"/>
              </a:rPr>
              <a:t>JavaBean POJO</a:t>
            </a:r>
            <a:r>
              <a:rPr lang="en" sz="1200">
                <a:solidFill>
                  <a:srgbClr val="3A3A3A"/>
                </a:solidFill>
                <a:highlight>
                  <a:srgbClr val="FFFFFF"/>
                </a:highlight>
                <a:latin typeface="Arial"/>
                <a:ea typeface="Arial"/>
                <a:cs typeface="Arial"/>
                <a:sym typeface="Arial"/>
              </a:rPr>
              <a:t> due to dependency injection.</a:t>
            </a:r>
            <a:endParaRPr sz="1200">
              <a:solidFill>
                <a:srgbClr val="3A3A3A"/>
              </a:solidFill>
              <a:highlight>
                <a:srgbClr val="FFFFFF"/>
              </a:highlight>
              <a:latin typeface="Arial"/>
              <a:ea typeface="Arial"/>
              <a:cs typeface="Arial"/>
              <a:sym typeface="Arial"/>
            </a:endParaRPr>
          </a:p>
          <a:p>
            <a:pPr indent="-304800" lvl="0" marL="914400" rtl="0" algn="l">
              <a:spcBef>
                <a:spcPts val="0"/>
              </a:spcBef>
              <a:spcAft>
                <a:spcPts val="0"/>
              </a:spcAft>
              <a:buClr>
                <a:srgbClr val="3A3A3A"/>
              </a:buClr>
              <a:buSzPts val="1200"/>
              <a:buFont typeface="Arial"/>
              <a:buChar char="●"/>
            </a:pPr>
            <a:r>
              <a:rPr b="1" lang="en" sz="1200">
                <a:solidFill>
                  <a:srgbClr val="3A3A3A"/>
                </a:solidFill>
                <a:highlight>
                  <a:srgbClr val="FFFFFF"/>
                </a:highlight>
                <a:latin typeface="Arial"/>
                <a:ea typeface="Arial"/>
                <a:cs typeface="Arial"/>
                <a:sym typeface="Arial"/>
              </a:rPr>
              <a:t>Spring uses the MVC framework in place of the legacy web framework.</a:t>
            </a:r>
            <a:endParaRPr b="1" sz="1200">
              <a:solidFill>
                <a:srgbClr val="3A3A3A"/>
              </a:solidFill>
              <a:highlight>
                <a:srgbClr val="FFFFFF"/>
              </a:highlight>
              <a:latin typeface="Arial"/>
              <a:ea typeface="Arial"/>
              <a:cs typeface="Arial"/>
              <a:sym typeface="Arial"/>
            </a:endParaRPr>
          </a:p>
          <a:p>
            <a:pPr indent="-304800" lvl="0" marL="914400" rtl="0" algn="l">
              <a:spcBef>
                <a:spcPts val="0"/>
              </a:spcBef>
              <a:spcAft>
                <a:spcPts val="0"/>
              </a:spcAft>
              <a:buClr>
                <a:srgbClr val="3A3A3A"/>
              </a:buClr>
              <a:buSzPts val="1200"/>
              <a:buFont typeface="Arial"/>
              <a:buChar char="●"/>
            </a:pPr>
            <a:r>
              <a:rPr lang="en" sz="1200">
                <a:solidFill>
                  <a:srgbClr val="3A3A3A"/>
                </a:solidFill>
                <a:highlight>
                  <a:srgbClr val="FFFFFF"/>
                </a:highlight>
                <a:latin typeface="Arial"/>
                <a:ea typeface="Arial"/>
                <a:cs typeface="Arial"/>
                <a:sym typeface="Arial"/>
              </a:rPr>
              <a:t>A feature like inversion control and APIs to convert JDBC or hibernate exception.</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9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Spring boot was developed?</a:t>
            </a:r>
            <a:endParaRPr/>
          </a:p>
        </p:txBody>
      </p:sp>
      <p:sp>
        <p:nvSpPr>
          <p:cNvPr id="618" name="Google Shape;618;p9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3A3A3A"/>
                </a:solidFill>
                <a:highlight>
                  <a:srgbClr val="FFFFFF"/>
                </a:highlight>
                <a:latin typeface="Nunito"/>
                <a:ea typeface="Nunito"/>
                <a:cs typeface="Nunito"/>
                <a:sym typeface="Nunito"/>
              </a:rPr>
              <a:t>Spring boot was developed as an extension of Spring</a:t>
            </a:r>
            <a:r>
              <a:rPr lang="en" sz="1600">
                <a:solidFill>
                  <a:srgbClr val="3A3A3A"/>
                </a:solidFill>
                <a:highlight>
                  <a:srgbClr val="FFFFFF"/>
                </a:highlight>
                <a:latin typeface="Nunito"/>
                <a:ea typeface="Nunito"/>
                <a:cs typeface="Nunito"/>
                <a:sym typeface="Nunito"/>
              </a:rPr>
              <a:t> to overcome the limitations the Spring framework has. </a:t>
            </a:r>
            <a:r>
              <a:rPr b="1" lang="en" sz="1600">
                <a:solidFill>
                  <a:srgbClr val="3A3A3A"/>
                </a:solidFill>
                <a:highlight>
                  <a:srgbClr val="FFFFFF"/>
                </a:highlight>
                <a:latin typeface="Nunito"/>
                <a:ea typeface="Nunito"/>
                <a:cs typeface="Nunito"/>
                <a:sym typeface="Nunito"/>
              </a:rPr>
              <a:t>Spring boot uses annotation, boilerplate configuration, and reduced code length to help developers quickly deploy and create standalone</a:t>
            </a:r>
            <a:r>
              <a:rPr lang="en" sz="1600">
                <a:solidFill>
                  <a:srgbClr val="3A3A3A"/>
                </a:solidFill>
                <a:highlight>
                  <a:srgbClr val="FFFFFF"/>
                </a:highlight>
                <a:latin typeface="Nunito"/>
                <a:ea typeface="Nunito"/>
                <a:cs typeface="Nunito"/>
                <a:sym typeface="Nunito"/>
              </a:rPr>
              <a:t> Spring applications without any configuration overhead.</a:t>
            </a:r>
            <a:endParaRPr sz="1600">
              <a:solidFill>
                <a:srgbClr val="3A3A3A"/>
              </a:solidFill>
              <a:highlight>
                <a:srgbClr val="FFFFFF"/>
              </a:highlight>
              <a:latin typeface="Nunito"/>
              <a:ea typeface="Nunito"/>
              <a:cs typeface="Nunito"/>
              <a:sym typeface="Nunito"/>
            </a:endParaRPr>
          </a:p>
          <a:p>
            <a:pPr indent="0" lvl="0" marL="0" rtl="0" algn="l">
              <a:spcBef>
                <a:spcPts val="1700"/>
              </a:spcBef>
              <a:spcAft>
                <a:spcPts val="1700"/>
              </a:spcAft>
              <a:buNone/>
            </a:pPr>
            <a:r>
              <a:rPr lang="en" sz="1600">
                <a:solidFill>
                  <a:srgbClr val="3A3A3A"/>
                </a:solidFill>
                <a:highlight>
                  <a:srgbClr val="FFFFFF"/>
                </a:highlight>
                <a:latin typeface="Nunito"/>
                <a:ea typeface="Nunito"/>
                <a:cs typeface="Nunito"/>
                <a:sym typeface="Nunito"/>
              </a:rPr>
              <a:t>In addition, Spring boot also has </a:t>
            </a:r>
            <a:r>
              <a:rPr b="1" lang="en" sz="1600">
                <a:solidFill>
                  <a:srgbClr val="3A3A3A"/>
                </a:solidFill>
                <a:highlight>
                  <a:srgbClr val="FFFFFF"/>
                </a:highlight>
                <a:latin typeface="Nunito"/>
                <a:ea typeface="Nunito"/>
                <a:cs typeface="Nunito"/>
                <a:sym typeface="Nunito"/>
              </a:rPr>
              <a:t>starters that implicitly handle dependencies</a:t>
            </a:r>
            <a:r>
              <a:rPr lang="en" sz="1600">
                <a:solidFill>
                  <a:srgbClr val="3A3A3A"/>
                </a:solidFill>
                <a:highlight>
                  <a:srgbClr val="FFFFFF"/>
                </a:highlight>
                <a:latin typeface="Nunito"/>
                <a:ea typeface="Nunito"/>
                <a:cs typeface="Nunito"/>
                <a:sym typeface="Nunito"/>
              </a:rPr>
              <a:t>, </a:t>
            </a:r>
            <a:r>
              <a:rPr b="1" lang="en" sz="1600">
                <a:solidFill>
                  <a:srgbClr val="3A3A3A"/>
                </a:solidFill>
                <a:highlight>
                  <a:srgbClr val="FFFFFF"/>
                </a:highlight>
                <a:latin typeface="Nunito"/>
                <a:ea typeface="Nunito"/>
                <a:cs typeface="Nunito"/>
                <a:sym typeface="Nunito"/>
              </a:rPr>
              <a:t>embedded servers such as Tomcat and Jetty, in-memory database support</a:t>
            </a:r>
            <a:r>
              <a:rPr lang="en" sz="1600">
                <a:solidFill>
                  <a:srgbClr val="3A3A3A"/>
                </a:solidFill>
                <a:highlight>
                  <a:srgbClr val="FFFFFF"/>
                </a:highlight>
                <a:latin typeface="Nunito"/>
                <a:ea typeface="Nunito"/>
                <a:cs typeface="Nunito"/>
                <a:sym typeface="Nunito"/>
              </a:rPr>
              <a:t>, and a CLI tool for testing and developing applications.</a:t>
            </a:r>
            <a:endParaRPr sz="1600">
              <a:latin typeface="Nunito"/>
              <a:ea typeface="Nunito"/>
              <a:cs typeface="Nunito"/>
              <a:sym typeface="Nunit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9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advantages of using the Spring boot application.</a:t>
            </a:r>
            <a:endParaRPr/>
          </a:p>
        </p:txBody>
      </p:sp>
      <p:sp>
        <p:nvSpPr>
          <p:cNvPr id="624" name="Google Shape;624;p9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Ease of development.</a:t>
            </a:r>
            <a:endParaRPr sz="1600">
              <a:solidFill>
                <a:srgbClr val="3A3A3A"/>
              </a:solidFill>
              <a:highlight>
                <a:srgbClr val="FFFFFF"/>
              </a:highlight>
              <a:latin typeface="Nunito"/>
              <a:ea typeface="Nunito"/>
              <a:cs typeface="Nunito"/>
              <a:sym typeface="Nunito"/>
            </a:endParaRPr>
          </a:p>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Standalone applications without the need for deploying war files.</a:t>
            </a:r>
            <a:endParaRPr sz="1600">
              <a:solidFill>
                <a:srgbClr val="3A3A3A"/>
              </a:solidFill>
              <a:highlight>
                <a:srgbClr val="FFFFFF"/>
              </a:highlight>
              <a:latin typeface="Nunito"/>
              <a:ea typeface="Nunito"/>
              <a:cs typeface="Nunito"/>
              <a:sym typeface="Nunito"/>
            </a:endParaRPr>
          </a:p>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Embedded servers like Tomcat, Jetty, or Undertow.</a:t>
            </a:r>
            <a:endParaRPr sz="1600">
              <a:solidFill>
                <a:srgbClr val="3A3A3A"/>
              </a:solidFill>
              <a:highlight>
                <a:srgbClr val="FFFFFF"/>
              </a:highlight>
              <a:latin typeface="Nunito"/>
              <a:ea typeface="Nunito"/>
              <a:cs typeface="Nunito"/>
              <a:sym typeface="Nunito"/>
            </a:endParaRPr>
          </a:p>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XML configuration is not needed.</a:t>
            </a:r>
            <a:endParaRPr sz="1600">
              <a:solidFill>
                <a:srgbClr val="3A3A3A"/>
              </a:solidFill>
              <a:highlight>
                <a:srgbClr val="FFFFFF"/>
              </a:highlight>
              <a:latin typeface="Nunito"/>
              <a:ea typeface="Nunito"/>
              <a:cs typeface="Nunito"/>
              <a:sym typeface="Nunito"/>
            </a:endParaRPr>
          </a:p>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Ease of starting the application.</a:t>
            </a:r>
            <a:endParaRPr sz="1600">
              <a:solidFill>
                <a:srgbClr val="3A3A3A"/>
              </a:solidFill>
              <a:highlight>
                <a:srgbClr val="FFFFFF"/>
              </a:highlight>
              <a:latin typeface="Nunito"/>
              <a:ea typeface="Nunito"/>
              <a:cs typeface="Nunito"/>
              <a:sym typeface="Nunito"/>
            </a:endParaRPr>
          </a:p>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Simple setup and management with less source code saves time building the application.</a:t>
            </a:r>
            <a:endParaRPr sz="1600">
              <a:solidFill>
                <a:srgbClr val="3A3A3A"/>
              </a:solidFill>
              <a:highlight>
                <a:srgbClr val="FFFFFF"/>
              </a:highlight>
              <a:latin typeface="Nunito"/>
              <a:ea typeface="Nunito"/>
              <a:cs typeface="Nunito"/>
              <a:sym typeface="Nunito"/>
            </a:endParaRPr>
          </a:p>
          <a:p>
            <a:pPr indent="-330200" lvl="0" marL="876300" rtl="0" algn="l">
              <a:spcBef>
                <a:spcPts val="0"/>
              </a:spcBef>
              <a:spcAft>
                <a:spcPts val="0"/>
              </a:spcAft>
              <a:buClr>
                <a:srgbClr val="3A3A3A"/>
              </a:buClr>
              <a:buSzPts val="1600"/>
              <a:buFont typeface="Nunito"/>
              <a:buChar char="●"/>
            </a:pPr>
            <a:r>
              <a:rPr lang="en" sz="1600">
                <a:solidFill>
                  <a:srgbClr val="3A3A3A"/>
                </a:solidFill>
                <a:highlight>
                  <a:srgbClr val="FFFFFF"/>
                </a:highlight>
                <a:latin typeface="Nunito"/>
                <a:ea typeface="Nunito"/>
                <a:cs typeface="Nunito"/>
                <a:sym typeface="Nunito"/>
              </a:rPr>
              <a:t>A large community for training helps solve problems during development.</a:t>
            </a:r>
            <a:endParaRPr sz="1600">
              <a:latin typeface="Nunito"/>
              <a:ea typeface="Nunito"/>
              <a:cs typeface="Nunito"/>
              <a:sym typeface="Nunit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9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List the features of spring boots.</a:t>
            </a:r>
            <a:endParaRPr/>
          </a:p>
        </p:txBody>
      </p:sp>
      <p:sp>
        <p:nvSpPr>
          <p:cNvPr id="630" name="Google Shape;630;p96"/>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Admin features:</a:t>
            </a:r>
            <a:r>
              <a:rPr lang="en" sz="1400">
                <a:solidFill>
                  <a:srgbClr val="3A3A3A"/>
                </a:solidFill>
                <a:highlight>
                  <a:srgbClr val="FFFFFF"/>
                </a:highlight>
                <a:latin typeface="Nunito"/>
                <a:ea typeface="Nunito"/>
                <a:cs typeface="Nunito"/>
                <a:sym typeface="Nunito"/>
              </a:rPr>
              <a:t> The facility enables application-wide admin-related features to remotely manage applications.</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Application events and listeners:</a:t>
            </a:r>
            <a:r>
              <a:rPr lang="en" sz="1400">
                <a:solidFill>
                  <a:srgbClr val="3A3A3A"/>
                </a:solidFill>
                <a:highlight>
                  <a:srgbClr val="FFFFFF"/>
                </a:highlight>
                <a:latin typeface="Nunito"/>
                <a:ea typeface="Nunito"/>
                <a:cs typeface="Nunito"/>
                <a:sym typeface="Nunito"/>
              </a:rPr>
              <a:t> Events create a factory file to add listeners referred by the ApplicationListener key.</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Externalized configuration:</a:t>
            </a:r>
            <a:r>
              <a:rPr lang="en" sz="1400">
                <a:solidFill>
                  <a:srgbClr val="3A3A3A"/>
                </a:solidFill>
                <a:highlight>
                  <a:srgbClr val="FFFFFF"/>
                </a:highlight>
                <a:latin typeface="Nunito"/>
                <a:ea typeface="Nunito"/>
                <a:cs typeface="Nunito"/>
                <a:sym typeface="Nunito"/>
              </a:rPr>
              <a:t> Use the YAML file to externalize configuration in order to use the same application in different environments.</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Properties files:</a:t>
            </a:r>
            <a:r>
              <a:rPr lang="en" sz="1400">
                <a:solidFill>
                  <a:srgbClr val="3A3A3A"/>
                </a:solidFill>
                <a:highlight>
                  <a:srgbClr val="FFFFFF"/>
                </a:highlight>
                <a:latin typeface="Nunito"/>
                <a:ea typeface="Nunito"/>
                <a:cs typeface="Nunito"/>
                <a:sym typeface="Nunito"/>
              </a:rPr>
              <a:t> Use of properties file that set server-port=8082 and organizes other application properties.</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YAML support:</a:t>
            </a:r>
            <a:r>
              <a:rPr lang="en" sz="1400">
                <a:solidFill>
                  <a:srgbClr val="3A3A3A"/>
                </a:solidFill>
                <a:highlight>
                  <a:srgbClr val="FFFFFF"/>
                </a:highlight>
                <a:latin typeface="Nunito"/>
                <a:ea typeface="Nunito"/>
                <a:cs typeface="Nunito"/>
                <a:sym typeface="Nunito"/>
              </a:rPr>
              <a:t> SpringApplication class alternative to properties supports YAML superset of JSON.</a:t>
            </a:r>
            <a:endParaRPr sz="1400">
              <a:latin typeface="Nunito"/>
              <a:ea typeface="Nunito"/>
              <a:cs typeface="Nunito"/>
              <a:sym typeface="Nunito"/>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7"/>
          <p:cNvSpPr txBox="1"/>
          <p:nvPr>
            <p:ph idx="1" type="body"/>
          </p:nvPr>
        </p:nvSpPr>
        <p:spPr>
          <a:xfrm>
            <a:off x="772925" y="1347750"/>
            <a:ext cx="7505700" cy="2448000"/>
          </a:xfrm>
          <a:prstGeom prst="rect">
            <a:avLst/>
          </a:prstGeom>
        </p:spPr>
        <p:txBody>
          <a:bodyPr anchorCtr="0" anchor="t" bIns="91425" lIns="91425" spcFirstLastPara="1" rIns="91425" wrap="square" tIns="91425">
            <a:noAutofit/>
          </a:bodyPr>
          <a:lstStyle/>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Type-safe configuration:</a:t>
            </a:r>
            <a:r>
              <a:rPr lang="en" sz="1400">
                <a:solidFill>
                  <a:srgbClr val="3A3A3A"/>
                </a:solidFill>
                <a:highlight>
                  <a:srgbClr val="FFFFFF"/>
                </a:highlight>
                <a:latin typeface="Nunito"/>
                <a:ea typeface="Nunito"/>
                <a:cs typeface="Nunito"/>
                <a:sym typeface="Nunito"/>
              </a:rPr>
              <a:t> Use annotation to validate the configuration of the application.</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Security:</a:t>
            </a:r>
            <a:r>
              <a:rPr lang="en" sz="1400">
                <a:solidFill>
                  <a:srgbClr val="3A3A3A"/>
                </a:solidFill>
                <a:highlight>
                  <a:srgbClr val="FFFFFF"/>
                </a:highlight>
                <a:latin typeface="Nunito"/>
                <a:ea typeface="Nunito"/>
                <a:cs typeface="Nunito"/>
                <a:sym typeface="Nunito"/>
              </a:rPr>
              <a:t> Spring-based applications are secured by authentication at all HTTP endpoints.</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Web Development:</a:t>
            </a:r>
            <a:r>
              <a:rPr lang="en" sz="1400">
                <a:solidFill>
                  <a:srgbClr val="3A3A3A"/>
                </a:solidFill>
                <a:highlight>
                  <a:srgbClr val="FFFFFF"/>
                </a:highlight>
                <a:latin typeface="Nunito"/>
                <a:ea typeface="Nunito"/>
                <a:cs typeface="Nunito"/>
                <a:sym typeface="Nunito"/>
              </a:rPr>
              <a:t> Creation of HTTP server and Spring boot starter web module using an embedded server like Jetty, Tomcat, or Undertow to quickly start and run the application.</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Arial"/>
              <a:buChar char="●"/>
            </a:pPr>
            <a:r>
              <a:rPr b="1" lang="en" sz="1400">
                <a:solidFill>
                  <a:srgbClr val="3A3A3A"/>
                </a:solidFill>
                <a:highlight>
                  <a:srgbClr val="FFFFFF"/>
                </a:highlight>
                <a:latin typeface="Nunito"/>
                <a:ea typeface="Nunito"/>
                <a:cs typeface="Nunito"/>
                <a:sym typeface="Nunito"/>
              </a:rPr>
              <a:t>Logging:</a:t>
            </a:r>
            <a:r>
              <a:rPr lang="en" sz="1400">
                <a:solidFill>
                  <a:srgbClr val="3A3A3A"/>
                </a:solidFill>
                <a:highlight>
                  <a:srgbClr val="FFFFFF"/>
                </a:highlight>
                <a:latin typeface="Nunito"/>
                <a:ea typeface="Nunito"/>
                <a:cs typeface="Nunito"/>
                <a:sym typeface="Nunito"/>
              </a:rPr>
              <a:t> All internal logging is captured by common logging managed by default.</a:t>
            </a:r>
            <a:endParaRPr sz="1400">
              <a:latin typeface="Nunito"/>
              <a:ea typeface="Nunito"/>
              <a:cs typeface="Nunito"/>
              <a:sym typeface="Nunit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9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Describe Spring boot components.</a:t>
            </a:r>
            <a:endParaRPr/>
          </a:p>
        </p:txBody>
      </p:sp>
      <p:sp>
        <p:nvSpPr>
          <p:cNvPr id="641" name="Google Shape;641;p9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3A3A3A"/>
                </a:solidFill>
                <a:highlight>
                  <a:srgbClr val="FFFFFF"/>
                </a:highlight>
                <a:latin typeface="Nunito"/>
                <a:ea typeface="Nunito"/>
                <a:cs typeface="Nunito"/>
                <a:sym typeface="Nunito"/>
              </a:rPr>
              <a:t>The framework is composed of the following four major components:</a:t>
            </a:r>
            <a:endParaRPr sz="1200">
              <a:solidFill>
                <a:srgbClr val="3A3A3A"/>
              </a:solidFill>
              <a:highlight>
                <a:srgbClr val="FFFFFF"/>
              </a:highlight>
              <a:latin typeface="Nunito"/>
              <a:ea typeface="Nunito"/>
              <a:cs typeface="Nunito"/>
              <a:sym typeface="Nunito"/>
            </a:endParaRPr>
          </a:p>
          <a:p>
            <a:pPr indent="-304800" lvl="0" marL="876300" rtl="0" algn="l">
              <a:spcBef>
                <a:spcPts val="1200"/>
              </a:spcBef>
              <a:spcAft>
                <a:spcPts val="0"/>
              </a:spcAft>
              <a:buClr>
                <a:srgbClr val="3A3A3A"/>
              </a:buClr>
              <a:buSzPts val="1200"/>
              <a:buFont typeface="Arial"/>
              <a:buChar char="●"/>
            </a:pPr>
            <a:r>
              <a:rPr b="1" lang="en" sz="1200">
                <a:solidFill>
                  <a:srgbClr val="3A3A3A"/>
                </a:solidFill>
                <a:highlight>
                  <a:srgbClr val="FFFFFF"/>
                </a:highlight>
                <a:latin typeface="Nunito"/>
                <a:ea typeface="Nunito"/>
                <a:cs typeface="Nunito"/>
                <a:sym typeface="Nunito"/>
              </a:rPr>
              <a:t>Starter POMs:</a:t>
            </a:r>
            <a:r>
              <a:rPr lang="en" sz="1200">
                <a:solidFill>
                  <a:srgbClr val="3A3A3A"/>
                </a:solidFill>
                <a:highlight>
                  <a:srgbClr val="FFFFFF"/>
                </a:highlight>
                <a:latin typeface="Nunito"/>
                <a:ea typeface="Nunito"/>
                <a:cs typeface="Nunito"/>
                <a:sym typeface="Nunito"/>
              </a:rPr>
              <a:t> Organizes related or common dependencies into single dependencies. Project build dependencies are simplified by Spring Boot Starter, </a:t>
            </a:r>
            <a:r>
              <a:rPr b="1" lang="en" sz="1200">
                <a:solidFill>
                  <a:srgbClr val="3A3A3A"/>
                </a:solidFill>
                <a:highlight>
                  <a:srgbClr val="FFFFFF"/>
                </a:highlight>
                <a:latin typeface="Nunito"/>
                <a:ea typeface="Nunito"/>
                <a:cs typeface="Nunito"/>
                <a:sym typeface="Nunito"/>
              </a:rPr>
              <a:t>for example</a:t>
            </a:r>
            <a:r>
              <a:rPr lang="en" sz="1200">
                <a:solidFill>
                  <a:srgbClr val="3A3A3A"/>
                </a:solidFill>
                <a:highlight>
                  <a:srgbClr val="FFFFFF"/>
                </a:highlight>
                <a:latin typeface="Nunito"/>
                <a:ea typeface="Nunito"/>
                <a:cs typeface="Nunito"/>
                <a:sym typeface="Nunito"/>
              </a:rPr>
              <a:t> – a group of database-related jar files like spring JDBC, Spring ORM, and Spring Transaction is required to add records to a database.</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Arial"/>
              <a:buChar char="●"/>
            </a:pPr>
            <a:r>
              <a:rPr b="1" lang="en" sz="1200">
                <a:solidFill>
                  <a:srgbClr val="3A3A3A"/>
                </a:solidFill>
                <a:highlight>
                  <a:srgbClr val="FFFFFF"/>
                </a:highlight>
                <a:latin typeface="Nunito"/>
                <a:ea typeface="Nunito"/>
                <a:cs typeface="Nunito"/>
                <a:sym typeface="Nunito"/>
              </a:rPr>
              <a:t>Auto Configurator:</a:t>
            </a:r>
            <a:r>
              <a:rPr lang="en" sz="1200">
                <a:solidFill>
                  <a:srgbClr val="3A3A3A"/>
                </a:solidFill>
                <a:highlight>
                  <a:srgbClr val="FFFFFF"/>
                </a:highlight>
                <a:latin typeface="Nunito"/>
                <a:ea typeface="Nunito"/>
                <a:cs typeface="Nunito"/>
                <a:sym typeface="Nunito"/>
              </a:rPr>
              <a:t> Spring configuration has been reduced due to Auto Configurator</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Arial"/>
              <a:buChar char="●"/>
            </a:pPr>
            <a:r>
              <a:rPr b="1" lang="en" sz="1200">
                <a:solidFill>
                  <a:srgbClr val="3A3A3A"/>
                </a:solidFill>
                <a:highlight>
                  <a:srgbClr val="FFFFFF"/>
                </a:highlight>
                <a:latin typeface="Nunito"/>
                <a:ea typeface="Nunito"/>
                <a:cs typeface="Nunito"/>
                <a:sym typeface="Nunito"/>
              </a:rPr>
              <a:t>Command Line Interface (CLI):</a:t>
            </a:r>
            <a:r>
              <a:rPr lang="en" sz="1200">
                <a:solidFill>
                  <a:srgbClr val="3A3A3A"/>
                </a:solidFill>
                <a:highlight>
                  <a:srgbClr val="FFFFFF"/>
                </a:highlight>
                <a:latin typeface="Nunito"/>
                <a:ea typeface="Nunito"/>
                <a:cs typeface="Nunito"/>
                <a:sym typeface="Nunito"/>
              </a:rPr>
              <a:t> Software developed by Spring Boot can run and be tested from the command prompt.</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Arial"/>
              <a:buChar char="●"/>
            </a:pPr>
            <a:r>
              <a:rPr b="1" lang="en" sz="1200">
                <a:solidFill>
                  <a:srgbClr val="3A3A3A"/>
                </a:solidFill>
                <a:highlight>
                  <a:srgbClr val="FFFFFF"/>
                </a:highlight>
                <a:latin typeface="Nunito"/>
                <a:ea typeface="Nunito"/>
                <a:cs typeface="Nunito"/>
                <a:sym typeface="Nunito"/>
              </a:rPr>
              <a:t>Actuators:</a:t>
            </a:r>
            <a:r>
              <a:rPr lang="en" sz="1200">
                <a:solidFill>
                  <a:srgbClr val="3A3A3A"/>
                </a:solidFill>
                <a:highlight>
                  <a:srgbClr val="FFFFFF"/>
                </a:highlight>
                <a:latin typeface="Nunito"/>
                <a:ea typeface="Nunito"/>
                <a:cs typeface="Nunito"/>
                <a:sym typeface="Nunito"/>
              </a:rPr>
              <a:t> Offer management endpoints and metrics for spring boot applications.</a:t>
            </a:r>
            <a:endParaRPr sz="1200">
              <a:solidFill>
                <a:srgbClr val="3A3A3A"/>
              </a:solidFill>
              <a:highlight>
                <a:srgbClr val="FFFFFF"/>
              </a:highlight>
              <a:latin typeface="Nunito"/>
              <a:ea typeface="Nunito"/>
              <a:cs typeface="Nunito"/>
              <a:sym typeface="Nunito"/>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9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Explain Spring boot starters.</a:t>
            </a:r>
            <a:endParaRPr/>
          </a:p>
        </p:txBody>
      </p:sp>
      <p:sp>
        <p:nvSpPr>
          <p:cNvPr id="647" name="Google Shape;647;p9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3A3A3A"/>
                </a:solidFill>
                <a:highlight>
                  <a:srgbClr val="FFFFFF"/>
                </a:highlight>
                <a:latin typeface="Nunito"/>
                <a:ea typeface="Nunito"/>
                <a:cs typeface="Nunito"/>
                <a:sym typeface="Nunito"/>
              </a:rPr>
              <a:t>Added under pom.xml ‘s &lt;dependencies&gt; section, Spring boot Starters are dependency descriptors that organize dependencies of 50+ Starters under a single name.</a:t>
            </a:r>
            <a:endParaRPr sz="1400">
              <a:solidFill>
                <a:srgbClr val="3A3A3A"/>
              </a:solidFill>
              <a:highlight>
                <a:srgbClr val="FFFFFF"/>
              </a:highlight>
              <a:latin typeface="Nunito"/>
              <a:ea typeface="Nunito"/>
              <a:cs typeface="Nunito"/>
              <a:sym typeface="Nunito"/>
            </a:endParaRPr>
          </a:p>
          <a:p>
            <a:pPr indent="0" lvl="0" marL="0" rtl="0" algn="l">
              <a:spcBef>
                <a:spcPts val="1200"/>
              </a:spcBef>
              <a:spcAft>
                <a:spcPts val="0"/>
              </a:spcAft>
              <a:buNone/>
            </a:pPr>
            <a:r>
              <a:rPr b="1" lang="en" sz="1400">
                <a:solidFill>
                  <a:srgbClr val="3A3A3A"/>
                </a:solidFill>
                <a:highlight>
                  <a:srgbClr val="FFFFFF"/>
                </a:highlight>
                <a:latin typeface="Nunito"/>
                <a:ea typeface="Nunito"/>
                <a:cs typeface="Nunito"/>
                <a:sym typeface="Nunito"/>
              </a:rPr>
              <a:t>The benefits of Spring Boot Starters are as listed below:</a:t>
            </a:r>
            <a:endParaRPr b="1" sz="1400">
              <a:solidFill>
                <a:srgbClr val="3A3A3A"/>
              </a:solidFill>
              <a:highlight>
                <a:srgbClr val="FFFFFF"/>
              </a:highlight>
              <a:latin typeface="Nunito"/>
              <a:ea typeface="Nunito"/>
              <a:cs typeface="Nunito"/>
              <a:sym typeface="Nunito"/>
            </a:endParaRPr>
          </a:p>
          <a:p>
            <a:pPr indent="-317500" lvl="0" marL="876300" rtl="0" algn="l">
              <a:spcBef>
                <a:spcPts val="170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Reduced configuration time, thereby increasing productivity for developers.</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Less number of added dependencies makes ease managing the Page Object Model (POM).</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Dependency configurations are well supported, tested, and ready for production.</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No need to remember the version and name of the dependencies.</a:t>
            </a:r>
            <a:endParaRPr sz="1400">
              <a:solidFill>
                <a:srgbClr val="3A3A3A"/>
              </a:solidFill>
              <a:highlight>
                <a:srgbClr val="FFFFFF"/>
              </a:highlight>
              <a:latin typeface="Nunito"/>
              <a:ea typeface="Nunito"/>
              <a:cs typeface="Nunito"/>
              <a:sym typeface="Nunito"/>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0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List popularly used Spring boot starters.</a:t>
            </a:r>
            <a:endParaRPr/>
          </a:p>
        </p:txBody>
      </p:sp>
      <p:sp>
        <p:nvSpPr>
          <p:cNvPr id="653" name="Google Shape;653;p10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54" name="Google Shape;654;p100"/>
          <p:cNvPicPr preferRelativeResize="0"/>
          <p:nvPr/>
        </p:nvPicPr>
        <p:blipFill>
          <a:blip r:embed="rId3">
            <a:alphaModFix/>
          </a:blip>
          <a:stretch>
            <a:fillRect/>
          </a:stretch>
        </p:blipFill>
        <p:spPr>
          <a:xfrm>
            <a:off x="819350" y="1573425"/>
            <a:ext cx="7717801" cy="323267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0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system pre-requisites are needed for developing a spring boot 2 application?</a:t>
            </a:r>
            <a:endParaRPr/>
          </a:p>
        </p:txBody>
      </p:sp>
      <p:sp>
        <p:nvSpPr>
          <p:cNvPr id="660" name="Google Shape;660;p10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3A3A3A"/>
                </a:solidFill>
                <a:highlight>
                  <a:srgbClr val="FFFFFF"/>
                </a:highlight>
                <a:latin typeface="Nunito"/>
                <a:ea typeface="Nunito"/>
                <a:cs typeface="Nunito"/>
                <a:sym typeface="Nunito"/>
              </a:rPr>
              <a:t>The system requirement for Spring Boot version 2.1.13 application development needs</a:t>
            </a:r>
            <a:endParaRPr sz="1400">
              <a:solidFill>
                <a:srgbClr val="3A3A3A"/>
              </a:solidFill>
              <a:highlight>
                <a:srgbClr val="FFFFFF"/>
              </a:highlight>
              <a:latin typeface="Nunito"/>
              <a:ea typeface="Nunito"/>
              <a:cs typeface="Nunito"/>
              <a:sym typeface="Nunito"/>
            </a:endParaRPr>
          </a:p>
          <a:p>
            <a:pPr indent="-317500" lvl="0" marL="876300" rtl="0" algn="l">
              <a:spcBef>
                <a:spcPts val="170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Java 8 (compatible up to Java 12).</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Spring Framework 5.2.14 or above</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Build Tools like Gradle 4.4 and higher or Maven 3.3 and higher.</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Embedded servlet containers such as Tomcat 9.0 with servlet version 4 or Jetty 9.4 with servlet version 3.1 or Undertow 2.0 with servlet version 4.0.</a:t>
            </a:r>
            <a:endParaRPr sz="1400">
              <a:solidFill>
                <a:srgbClr val="3A3A3A"/>
              </a:solidFill>
              <a:highlight>
                <a:srgbClr val="FFFFFF"/>
              </a:highlight>
              <a:latin typeface="Nunito"/>
              <a:ea typeface="Nunito"/>
              <a:cs typeface="Nunito"/>
              <a:sym typeface="Nunito"/>
            </a:endParaRPr>
          </a:p>
          <a:p>
            <a:pPr indent="-317500" lvl="0" marL="876300" rtl="0" algn="l">
              <a:spcBef>
                <a:spcPts val="0"/>
              </a:spcBef>
              <a:spcAft>
                <a:spcPts val="0"/>
              </a:spcAft>
              <a:buClr>
                <a:srgbClr val="3A3A3A"/>
              </a:buClr>
              <a:buSzPts val="1400"/>
              <a:buFont typeface="Nunito"/>
              <a:buChar char="●"/>
            </a:pPr>
            <a:r>
              <a:rPr lang="en" sz="1400">
                <a:solidFill>
                  <a:srgbClr val="3A3A3A"/>
                </a:solidFill>
                <a:highlight>
                  <a:srgbClr val="FFFFFF"/>
                </a:highlight>
                <a:latin typeface="Nunito"/>
                <a:ea typeface="Nunito"/>
                <a:cs typeface="Nunito"/>
                <a:sym typeface="Nunito"/>
              </a:rPr>
              <a:t>Followed by Spring Boot CLI (command line interface)</a:t>
            </a:r>
            <a:endParaRPr sz="1400">
              <a:latin typeface="Nunito"/>
              <a:ea typeface="Nunito"/>
              <a:cs typeface="Nunito"/>
              <a:sym typeface="Nunito"/>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0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Describe Thymeleaf and its use.</a:t>
            </a:r>
            <a:endParaRPr/>
          </a:p>
        </p:txBody>
      </p:sp>
      <p:sp>
        <p:nvSpPr>
          <p:cNvPr id="666" name="Google Shape;666;p10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3A3A3A"/>
                </a:solidFill>
                <a:highlight>
                  <a:srgbClr val="FFFFFF"/>
                </a:highlight>
                <a:latin typeface="Nunito"/>
                <a:ea typeface="Nunito"/>
                <a:cs typeface="Nunito"/>
                <a:sym typeface="Nunito"/>
              </a:rPr>
              <a:t>The server-side template engine developed in Java</a:t>
            </a:r>
            <a:r>
              <a:rPr lang="en" sz="1400">
                <a:solidFill>
                  <a:srgbClr val="3A3A3A"/>
                </a:solidFill>
                <a:highlight>
                  <a:srgbClr val="FFFFFF"/>
                </a:highlight>
                <a:latin typeface="Nunito"/>
                <a:ea typeface="Nunito"/>
                <a:cs typeface="Nunito"/>
                <a:sym typeface="Nunito"/>
              </a:rPr>
              <a:t>, Thymeleaf is used along with Spring Boot for standalone and web environments. </a:t>
            </a:r>
            <a:r>
              <a:rPr b="1" lang="en" sz="1400">
                <a:solidFill>
                  <a:srgbClr val="3A3A3A"/>
                </a:solidFill>
                <a:highlight>
                  <a:srgbClr val="FFFFFF"/>
                </a:highlight>
                <a:latin typeface="Nunito"/>
                <a:ea typeface="Nunito"/>
                <a:cs typeface="Nunito"/>
                <a:sym typeface="Nunito"/>
              </a:rPr>
              <a:t>The template is capable of processing plain text, HTML, JavaScript, CSS, XML, and Raw. Thymeleaf provides an elegant, maintainable way of creating templates.</a:t>
            </a:r>
            <a:endParaRPr b="1" sz="1400">
              <a:solidFill>
                <a:srgbClr val="3A3A3A"/>
              </a:solidFill>
              <a:highlight>
                <a:srgbClr val="FFFFFF"/>
              </a:highlight>
              <a:latin typeface="Nunito"/>
              <a:ea typeface="Nunito"/>
              <a:cs typeface="Nunito"/>
              <a:sym typeface="Nunito"/>
            </a:endParaRPr>
          </a:p>
          <a:p>
            <a:pPr indent="0" lvl="0" marL="0" rtl="0" algn="l">
              <a:spcBef>
                <a:spcPts val="1700"/>
              </a:spcBef>
              <a:spcAft>
                <a:spcPts val="1700"/>
              </a:spcAft>
              <a:buNone/>
            </a:pPr>
            <a:r>
              <a:rPr lang="en" sz="1400">
                <a:solidFill>
                  <a:srgbClr val="3A3A3A"/>
                </a:solidFill>
                <a:highlight>
                  <a:srgbClr val="FFFFFF"/>
                </a:highlight>
                <a:latin typeface="Nunito"/>
                <a:ea typeface="Nunito"/>
                <a:cs typeface="Nunito"/>
                <a:sym typeface="Nunito"/>
              </a:rPr>
              <a:t>Thymeleaf fully integrates with the Spring framework, </a:t>
            </a:r>
            <a:r>
              <a:rPr b="1" lang="en" sz="1400">
                <a:solidFill>
                  <a:srgbClr val="3A3A3A"/>
                </a:solidFill>
                <a:highlight>
                  <a:srgbClr val="FFFFFF"/>
                </a:highlight>
                <a:latin typeface="Nunito"/>
                <a:ea typeface="Nunito"/>
                <a:cs typeface="Nunito"/>
                <a:sym typeface="Nunito"/>
              </a:rPr>
              <a:t>providing a well-formed way of creating templates.</a:t>
            </a:r>
            <a:r>
              <a:rPr lang="en" sz="1400">
                <a:solidFill>
                  <a:srgbClr val="3A3A3A"/>
                </a:solidFill>
                <a:highlight>
                  <a:srgbClr val="FFFFFF"/>
                </a:highlight>
                <a:latin typeface="Nunito"/>
                <a:ea typeface="Nunito"/>
                <a:cs typeface="Nunito"/>
                <a:sym typeface="Nunito"/>
              </a:rPr>
              <a:t> Many reputed organizations like HCL Technologies, Nokia Networks, University of Cambridge, JP Morgan, Canada Life, Deutsche Bank, etc. use Thymeleaf template in their web applications.</a:t>
            </a:r>
            <a:endParaRPr sz="1400">
              <a:latin typeface="Nunito"/>
              <a:ea typeface="Nunito"/>
              <a:cs typeface="Nunito"/>
              <a:sym typeface="Nunito"/>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0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Explain the need for Spring boot DevTools.</a:t>
            </a:r>
            <a:endParaRPr/>
          </a:p>
        </p:txBody>
      </p:sp>
      <p:sp>
        <p:nvSpPr>
          <p:cNvPr id="672" name="Google Shape;672;p103"/>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3A3A3A"/>
                </a:solidFill>
                <a:highlight>
                  <a:srgbClr val="FFFFFF"/>
                </a:highlight>
                <a:latin typeface="Nunito"/>
                <a:ea typeface="Nunito"/>
                <a:cs typeface="Nunito"/>
                <a:sym typeface="Nunito"/>
              </a:rPr>
              <a:t>Spring Boot Developer Tool is utilized to improve development time while working with the Spring Boot application.</a:t>
            </a:r>
            <a:endParaRPr sz="1000">
              <a:solidFill>
                <a:srgbClr val="3A3A3A"/>
              </a:solidFill>
              <a:highlight>
                <a:srgbClr val="FFFFFF"/>
              </a:highlight>
              <a:latin typeface="Nunito"/>
              <a:ea typeface="Nunito"/>
              <a:cs typeface="Nunito"/>
              <a:sym typeface="Nunito"/>
            </a:endParaRPr>
          </a:p>
          <a:p>
            <a:pPr indent="-292100" lvl="0" marL="876300" rtl="0" algn="l">
              <a:spcBef>
                <a:spcPts val="1700"/>
              </a:spcBef>
              <a:spcAft>
                <a:spcPts val="0"/>
              </a:spcAft>
              <a:buClr>
                <a:srgbClr val="3A3A3A"/>
              </a:buClr>
              <a:buSzPts val="1000"/>
              <a:buFont typeface="Arial"/>
              <a:buChar char="●"/>
            </a:pPr>
            <a:r>
              <a:rPr b="1" lang="en" sz="1000">
                <a:solidFill>
                  <a:srgbClr val="3A3A3A"/>
                </a:solidFill>
                <a:highlight>
                  <a:srgbClr val="FFFFFF"/>
                </a:highlight>
                <a:latin typeface="Nunito"/>
                <a:ea typeface="Nunito"/>
                <a:cs typeface="Nunito"/>
                <a:sym typeface="Nunito"/>
              </a:rPr>
              <a:t>Automatic Restart of an application:</a:t>
            </a:r>
            <a:r>
              <a:rPr lang="en" sz="1000">
                <a:solidFill>
                  <a:srgbClr val="3A3A3A"/>
                </a:solidFill>
                <a:highlight>
                  <a:srgbClr val="FFFFFF"/>
                </a:highlight>
                <a:latin typeface="Nunito"/>
                <a:ea typeface="Nunito"/>
                <a:cs typeface="Nunito"/>
                <a:sym typeface="Nunito"/>
              </a:rPr>
              <a:t> With DevTools, a developer can make changes in the properties file or Java source code for updates and restarts the application.</a:t>
            </a:r>
            <a:endParaRPr sz="1000">
              <a:solidFill>
                <a:srgbClr val="3A3A3A"/>
              </a:solidFill>
              <a:highlight>
                <a:srgbClr val="FFFFFF"/>
              </a:highlight>
              <a:latin typeface="Nunito"/>
              <a:ea typeface="Nunito"/>
              <a:cs typeface="Nunito"/>
              <a:sym typeface="Nunito"/>
            </a:endParaRPr>
          </a:p>
          <a:p>
            <a:pPr indent="-292100" lvl="0" marL="876300" rtl="0" algn="l">
              <a:spcBef>
                <a:spcPts val="0"/>
              </a:spcBef>
              <a:spcAft>
                <a:spcPts val="0"/>
              </a:spcAft>
              <a:buClr>
                <a:srgbClr val="3A3A3A"/>
              </a:buClr>
              <a:buSzPts val="1000"/>
              <a:buFont typeface="Arial"/>
              <a:buChar char="●"/>
            </a:pPr>
            <a:r>
              <a:rPr b="1" lang="en" sz="1000">
                <a:solidFill>
                  <a:srgbClr val="3A3A3A"/>
                </a:solidFill>
                <a:highlight>
                  <a:srgbClr val="FFFFFF"/>
                </a:highlight>
                <a:latin typeface="Nunito"/>
                <a:ea typeface="Nunito"/>
                <a:cs typeface="Nunito"/>
                <a:sym typeface="Nunito"/>
              </a:rPr>
              <a:t>Template Cache disabled automatically:</a:t>
            </a:r>
            <a:r>
              <a:rPr lang="en" sz="1000">
                <a:solidFill>
                  <a:srgbClr val="3A3A3A"/>
                </a:solidFill>
                <a:highlight>
                  <a:srgbClr val="FFFFFF"/>
                </a:highlight>
                <a:latin typeface="Nunito"/>
                <a:ea typeface="Nunito"/>
                <a:cs typeface="Nunito"/>
                <a:sym typeface="Nunito"/>
              </a:rPr>
              <a:t> Spring Boot offers various template options like Groovy, FreeMarker and Thymeleaf configured to cache the results of parsing automatically. Due to this, it becomes difficult to make changes in templates while running the application.</a:t>
            </a:r>
            <a:endParaRPr sz="1000">
              <a:solidFill>
                <a:srgbClr val="3A3A3A"/>
              </a:solidFill>
              <a:highlight>
                <a:srgbClr val="FFFFFF"/>
              </a:highlight>
              <a:latin typeface="Nunito"/>
              <a:ea typeface="Nunito"/>
              <a:cs typeface="Nunito"/>
              <a:sym typeface="Nunito"/>
            </a:endParaRPr>
          </a:p>
          <a:p>
            <a:pPr indent="-292100" lvl="0" marL="876300" rtl="0" algn="l">
              <a:spcBef>
                <a:spcPts val="0"/>
              </a:spcBef>
              <a:spcAft>
                <a:spcPts val="0"/>
              </a:spcAft>
              <a:buClr>
                <a:srgbClr val="3A3A3A"/>
              </a:buClr>
              <a:buSzPts val="1000"/>
              <a:buFont typeface="Arial"/>
              <a:buChar char="●"/>
            </a:pPr>
            <a:r>
              <a:rPr b="1" lang="en" sz="1000">
                <a:solidFill>
                  <a:srgbClr val="3A3A3A"/>
                </a:solidFill>
                <a:highlight>
                  <a:srgbClr val="FFFFFF"/>
                </a:highlight>
                <a:latin typeface="Nunito"/>
                <a:ea typeface="Nunito"/>
                <a:cs typeface="Nunito"/>
                <a:sym typeface="Nunito"/>
              </a:rPr>
              <a:t>DevTools automatically disables</a:t>
            </a:r>
            <a:r>
              <a:rPr lang="en" sz="1000">
                <a:solidFill>
                  <a:srgbClr val="3A3A3A"/>
                </a:solidFill>
                <a:highlight>
                  <a:srgbClr val="FFFFFF"/>
                </a:highlight>
                <a:latin typeface="Nunito"/>
                <a:ea typeface="Nunito"/>
                <a:cs typeface="Nunito"/>
                <a:sym typeface="Nunito"/>
              </a:rPr>
              <a:t> all template caching. The changes will reflect only after browser refresh.</a:t>
            </a:r>
            <a:endParaRPr sz="1000">
              <a:solidFill>
                <a:srgbClr val="3A3A3A"/>
              </a:solidFill>
              <a:highlight>
                <a:srgbClr val="FFFFFF"/>
              </a:highlight>
              <a:latin typeface="Nunito"/>
              <a:ea typeface="Nunito"/>
              <a:cs typeface="Nunito"/>
              <a:sym typeface="Nunito"/>
            </a:endParaRPr>
          </a:p>
          <a:p>
            <a:pPr indent="-292100" lvl="0" marL="876300" rtl="0" algn="l">
              <a:spcBef>
                <a:spcPts val="0"/>
              </a:spcBef>
              <a:spcAft>
                <a:spcPts val="0"/>
              </a:spcAft>
              <a:buClr>
                <a:srgbClr val="3A3A3A"/>
              </a:buClr>
              <a:buSzPts val="1000"/>
              <a:buFont typeface="Arial"/>
              <a:buChar char="●"/>
            </a:pPr>
            <a:r>
              <a:rPr b="1" lang="en" sz="1000">
                <a:solidFill>
                  <a:srgbClr val="3A3A3A"/>
                </a:solidFill>
                <a:highlight>
                  <a:srgbClr val="FFFFFF"/>
                </a:highlight>
                <a:latin typeface="Nunito"/>
                <a:ea typeface="Nunito"/>
                <a:cs typeface="Nunito"/>
                <a:sym typeface="Nunito"/>
              </a:rPr>
              <a:t>Automatic browser refresh:</a:t>
            </a:r>
            <a:r>
              <a:rPr lang="en" sz="1000">
                <a:solidFill>
                  <a:srgbClr val="3A3A3A"/>
                </a:solidFill>
                <a:highlight>
                  <a:srgbClr val="FFFFFF"/>
                </a:highlight>
                <a:latin typeface="Nunito"/>
                <a:ea typeface="Nunito"/>
                <a:cs typeface="Nunito"/>
                <a:sym typeface="Nunito"/>
              </a:rPr>
              <a:t> With DevTools embedded with an application, ‘LiveReload’ server is enabled, making your browser automatically refresh whenever changes in CSS stylesheets, JavaScript, Template engine, etc. are done.</a:t>
            </a:r>
            <a:endParaRPr sz="1000">
              <a:solidFill>
                <a:srgbClr val="3A3A3A"/>
              </a:solidFill>
              <a:highlight>
                <a:srgbClr val="FFFFFF"/>
              </a:highlight>
              <a:latin typeface="Nunito"/>
              <a:ea typeface="Nunito"/>
              <a:cs typeface="Nunito"/>
              <a:sym typeface="Nunito"/>
            </a:endParaRPr>
          </a:p>
          <a:p>
            <a:pPr indent="-292100" lvl="0" marL="876300" rtl="0" algn="l">
              <a:spcBef>
                <a:spcPts val="0"/>
              </a:spcBef>
              <a:spcAft>
                <a:spcPts val="0"/>
              </a:spcAft>
              <a:buClr>
                <a:srgbClr val="3A3A3A"/>
              </a:buClr>
              <a:buSzPts val="1000"/>
              <a:buFont typeface="Arial"/>
              <a:buChar char="●"/>
            </a:pPr>
            <a:r>
              <a:rPr b="1" lang="en" sz="1000">
                <a:solidFill>
                  <a:srgbClr val="3A3A3A"/>
                </a:solidFill>
                <a:highlight>
                  <a:srgbClr val="FFFFFF"/>
                </a:highlight>
                <a:latin typeface="Nunito"/>
                <a:ea typeface="Nunito"/>
                <a:cs typeface="Nunito"/>
                <a:sym typeface="Nunito"/>
              </a:rPr>
              <a:t>H2 database console:</a:t>
            </a:r>
            <a:r>
              <a:rPr lang="en" sz="1000">
                <a:solidFill>
                  <a:srgbClr val="3A3A3A"/>
                </a:solidFill>
                <a:highlight>
                  <a:srgbClr val="FFFFFF"/>
                </a:highlight>
                <a:latin typeface="Nunito"/>
                <a:ea typeface="Nunito"/>
                <a:cs typeface="Nunito"/>
                <a:sym typeface="Nunito"/>
              </a:rPr>
              <a:t> Adding H2 database dependency to the build, DevTools will enable the H2 console automatically</a:t>
            </a:r>
            <a:endParaRPr sz="1000">
              <a:latin typeface="Nunito"/>
              <a:ea typeface="Nunito"/>
              <a:cs typeface="Nunito"/>
              <a:sym typeface="Nunito"/>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0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steps to use JDBC for spring boot application connect with the database.</a:t>
            </a:r>
            <a:endParaRPr/>
          </a:p>
        </p:txBody>
      </p:sp>
      <p:sp>
        <p:nvSpPr>
          <p:cNvPr id="678" name="Google Shape;678;p10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AutoNum type="arabicPeriod"/>
            </a:pPr>
            <a:r>
              <a:rPr b="1" lang="en" sz="1200">
                <a:solidFill>
                  <a:srgbClr val="3A3A3A"/>
                </a:solidFill>
                <a:highlight>
                  <a:srgbClr val="FFFFFF"/>
                </a:highlight>
                <a:latin typeface="Arial"/>
                <a:ea typeface="Arial"/>
                <a:cs typeface="Arial"/>
                <a:sym typeface="Arial"/>
              </a:rPr>
              <a:t>Creating a Database</a:t>
            </a:r>
            <a:endParaRPr b="1"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AutoNum type="arabicPeriod"/>
            </a:pPr>
            <a:r>
              <a:rPr b="1" lang="en" sz="1200">
                <a:solidFill>
                  <a:srgbClr val="3A3A3A"/>
                </a:solidFill>
                <a:highlight>
                  <a:srgbClr val="FFFFFF"/>
                </a:highlight>
                <a:latin typeface="Arial"/>
                <a:ea typeface="Arial"/>
                <a:cs typeface="Arial"/>
                <a:sym typeface="Arial"/>
              </a:rPr>
              <a:t>Creating Spring Boot Project</a:t>
            </a:r>
            <a:br>
              <a:rPr b="1" lang="en" sz="1200">
                <a:solidFill>
                  <a:srgbClr val="3A3A3A"/>
                </a:solidFill>
                <a:highlight>
                  <a:srgbClr val="FFFFFF"/>
                </a:highlight>
                <a:latin typeface="Arial"/>
                <a:ea typeface="Arial"/>
                <a:cs typeface="Arial"/>
                <a:sym typeface="Arial"/>
              </a:rPr>
            </a:br>
            <a:r>
              <a:rPr b="1" lang="en" sz="1200">
                <a:solidFill>
                  <a:srgbClr val="3A3A3A"/>
                </a:solidFill>
                <a:highlight>
                  <a:srgbClr val="FFFFFF"/>
                </a:highlight>
                <a:latin typeface="Arial"/>
                <a:ea typeface="Arial"/>
                <a:cs typeface="Arial"/>
                <a:sym typeface="Arial"/>
              </a:rPr>
              <a:t>s</a:t>
            </a:r>
            <a:r>
              <a:rPr b="1" lang="en" sz="1200">
                <a:solidFill>
                  <a:srgbClr val="3A3A3A"/>
                </a:solidFill>
                <a:highlight>
                  <a:srgbClr val="FFFFFF"/>
                </a:highlight>
                <a:latin typeface="Arial"/>
                <a:ea typeface="Arial"/>
                <a:cs typeface="Arial"/>
                <a:sym typeface="Arial"/>
              </a:rPr>
              <a:t>pring-boot-starter-jdbc</a:t>
            </a:r>
            <a:br>
              <a:rPr b="1" lang="en" sz="1200">
                <a:solidFill>
                  <a:srgbClr val="3A3A3A"/>
                </a:solidFill>
                <a:highlight>
                  <a:srgbClr val="FFFFFF"/>
                </a:highlight>
                <a:latin typeface="Arial"/>
                <a:ea typeface="Arial"/>
                <a:cs typeface="Arial"/>
                <a:sym typeface="Arial"/>
              </a:rPr>
            </a:br>
            <a:r>
              <a:rPr b="1" lang="en" sz="1200">
                <a:solidFill>
                  <a:srgbClr val="3A3A3A"/>
                </a:solidFill>
                <a:highlight>
                  <a:srgbClr val="FFFFFF"/>
                </a:highlight>
                <a:latin typeface="Arial"/>
                <a:ea typeface="Arial"/>
                <a:cs typeface="Arial"/>
                <a:sym typeface="Arial"/>
              </a:rPr>
              <a:t>mysql-connector-java</a:t>
            </a:r>
            <a:endParaRPr b="1"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AutoNum type="arabicPeriod"/>
            </a:pPr>
            <a:r>
              <a:rPr b="1" lang="en" sz="1200">
                <a:solidFill>
                  <a:srgbClr val="3A3A3A"/>
                </a:solidFill>
                <a:highlight>
                  <a:srgbClr val="FFFFFF"/>
                </a:highlight>
                <a:latin typeface="Arial"/>
                <a:ea typeface="Arial"/>
                <a:cs typeface="Arial"/>
                <a:sym typeface="Arial"/>
              </a:rPr>
              <a:t>Database Connection properties configuration</a:t>
            </a:r>
            <a:br>
              <a:rPr b="1" lang="en" sz="1200">
                <a:solidFill>
                  <a:srgbClr val="3A3A3A"/>
                </a:solidFill>
                <a:highlight>
                  <a:srgbClr val="FFFFFF"/>
                </a:highlight>
                <a:latin typeface="Arial"/>
                <a:ea typeface="Arial"/>
                <a:cs typeface="Arial"/>
                <a:sym typeface="Arial"/>
              </a:rPr>
            </a:br>
            <a:r>
              <a:rPr lang="en" sz="1200">
                <a:solidFill>
                  <a:srgbClr val="3A3A3A"/>
                </a:solidFill>
                <a:latin typeface="Arial"/>
                <a:ea typeface="Arial"/>
                <a:cs typeface="Arial"/>
                <a:sym typeface="Arial"/>
              </a:rPr>
              <a:t>spring.datasource.url=jdbc:mysql://localhost:3306/library</a:t>
            </a:r>
            <a:br>
              <a:rPr lang="en" sz="1200">
                <a:solidFill>
                  <a:srgbClr val="3A3A3A"/>
                </a:solidFill>
                <a:latin typeface="Arial"/>
                <a:ea typeface="Arial"/>
                <a:cs typeface="Arial"/>
                <a:sym typeface="Arial"/>
              </a:rPr>
            </a:br>
            <a:r>
              <a:rPr lang="en" sz="1200">
                <a:solidFill>
                  <a:srgbClr val="3A3A3A"/>
                </a:solidFill>
                <a:latin typeface="Arial"/>
                <a:ea typeface="Arial"/>
                <a:cs typeface="Arial"/>
                <a:sym typeface="Arial"/>
              </a:rPr>
              <a:t>spring.datasource.username=root</a:t>
            </a:r>
            <a:br>
              <a:rPr lang="en" sz="1200">
                <a:solidFill>
                  <a:srgbClr val="3A3A3A"/>
                </a:solidFill>
                <a:latin typeface="Arial"/>
                <a:ea typeface="Arial"/>
                <a:cs typeface="Arial"/>
                <a:sym typeface="Arial"/>
              </a:rPr>
            </a:br>
            <a:r>
              <a:rPr lang="en" sz="1200">
                <a:solidFill>
                  <a:srgbClr val="3A3A3A"/>
                </a:solidFill>
                <a:latin typeface="Arial"/>
                <a:ea typeface="Arial"/>
                <a:cs typeface="Arial"/>
                <a:sym typeface="Arial"/>
              </a:rPr>
              <a:t>spring.datasource.password=password</a:t>
            </a:r>
            <a:endParaRPr sz="1200">
              <a:solidFill>
                <a:srgbClr val="3A3A3A"/>
              </a:solidFill>
              <a:latin typeface="Arial"/>
              <a:ea typeface="Arial"/>
              <a:cs typeface="Arial"/>
              <a:sym typeface="Arial"/>
            </a:endParaRPr>
          </a:p>
          <a:p>
            <a:pPr indent="-304800" lvl="0" marL="457200" rtl="0" algn="l">
              <a:spcBef>
                <a:spcPts val="0"/>
              </a:spcBef>
              <a:spcAft>
                <a:spcPts val="0"/>
              </a:spcAft>
              <a:buClr>
                <a:srgbClr val="3A3A3A"/>
              </a:buClr>
              <a:buSzPts val="1200"/>
              <a:buFont typeface="Arial"/>
              <a:buAutoNum type="arabicPeriod"/>
            </a:pPr>
            <a:r>
              <a:rPr b="1" lang="en" sz="1200">
                <a:solidFill>
                  <a:srgbClr val="3A3A3A"/>
                </a:solidFill>
                <a:highlight>
                  <a:srgbClr val="FFFFFF"/>
                </a:highlight>
                <a:latin typeface="Arial"/>
                <a:ea typeface="Arial"/>
                <a:cs typeface="Arial"/>
                <a:sym typeface="Arial"/>
              </a:rPr>
              <a:t>Create Java Model Class</a:t>
            </a:r>
            <a:endParaRPr b="1"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AutoNum type="arabicPeriod"/>
            </a:pPr>
            <a:r>
              <a:rPr b="1" lang="en" sz="1200">
                <a:solidFill>
                  <a:srgbClr val="3A3A3A"/>
                </a:solidFill>
                <a:highlight>
                  <a:srgbClr val="FFFFFF"/>
                </a:highlight>
                <a:latin typeface="Arial"/>
                <a:ea typeface="Arial"/>
                <a:cs typeface="Arial"/>
                <a:sym typeface="Arial"/>
              </a:rPr>
              <a:t>Creation of Spring Boot JDBC application.</a:t>
            </a:r>
            <a:endParaRPr b="1"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AutoNum type="arabicPeriod"/>
            </a:pPr>
            <a:r>
              <a:rPr b="1" lang="en" sz="1200">
                <a:solidFill>
                  <a:srgbClr val="3A3A3A"/>
                </a:solidFill>
                <a:highlight>
                  <a:srgbClr val="FFFFFF"/>
                </a:highlight>
                <a:latin typeface="Arial"/>
                <a:ea typeface="Arial"/>
                <a:cs typeface="Arial"/>
                <a:sym typeface="Arial"/>
              </a:rPr>
              <a:t>Execute as Java application</a:t>
            </a:r>
            <a:endParaRPr b="1" sz="1200">
              <a:solidFill>
                <a:srgbClr val="3A3A3A"/>
              </a:solidFill>
              <a:highlight>
                <a:srgbClr val="FFFFFF"/>
              </a:highlight>
              <a:latin typeface="Arial"/>
              <a:ea typeface="Arial"/>
              <a:cs typeface="Arial"/>
              <a:sym typeface="Arial"/>
            </a:endParaRPr>
          </a:p>
          <a:p>
            <a:pPr indent="-304800" lvl="0" marL="457200" rtl="0" algn="l">
              <a:spcBef>
                <a:spcPts val="0"/>
              </a:spcBef>
              <a:spcAft>
                <a:spcPts val="0"/>
              </a:spcAft>
              <a:buClr>
                <a:srgbClr val="3A3A3A"/>
              </a:buClr>
              <a:buSzPts val="1200"/>
              <a:buFont typeface="Arial"/>
              <a:buAutoNum type="arabicPeriod"/>
            </a:pPr>
            <a:r>
              <a:rPr b="1" lang="en" sz="1200">
                <a:solidFill>
                  <a:srgbClr val="3A3A3A"/>
                </a:solidFill>
                <a:highlight>
                  <a:srgbClr val="FFFFFF"/>
                </a:highlight>
                <a:latin typeface="Arial"/>
                <a:ea typeface="Arial"/>
                <a:cs typeface="Arial"/>
                <a:sym typeface="Arial"/>
              </a:rPr>
              <a:t>Verify (localhost: 8080/Insert), to find the Data entry operation successful.</a:t>
            </a:r>
            <a:endParaRPr b="1" sz="1200">
              <a:solidFill>
                <a:srgbClr val="3A3A3A"/>
              </a:solidFill>
              <a:highlight>
                <a:srgbClr val="FFFFFF"/>
              </a:highlight>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0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Explain @RestController annotation in Spring Boot.</a:t>
            </a:r>
            <a:endParaRPr/>
          </a:p>
        </p:txBody>
      </p:sp>
      <p:sp>
        <p:nvSpPr>
          <p:cNvPr id="684" name="Google Shape;684;p10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3A3A3A"/>
                </a:solidFill>
                <a:highlight>
                  <a:srgbClr val="FFFFFF"/>
                </a:highlight>
                <a:latin typeface="Nunito"/>
                <a:ea typeface="Nunito"/>
                <a:cs typeface="Nunito"/>
                <a:sym typeface="Nunito"/>
              </a:rPr>
              <a:t>@RestController annotation gives information on routing by mapping any HTTP request to the corresponding Spring method. In order to implement this annotation, import org.springframework.web.annotation package in the spring application.</a:t>
            </a:r>
            <a:endParaRPr sz="1600">
              <a:solidFill>
                <a:srgbClr val="3A3A3A"/>
              </a:solidFill>
              <a:highlight>
                <a:srgbClr val="FFFFFF"/>
              </a:highlight>
              <a:latin typeface="Nunito"/>
              <a:ea typeface="Nunito"/>
              <a:cs typeface="Nunito"/>
              <a:sym typeface="Nunito"/>
            </a:endParaRPr>
          </a:p>
          <a:p>
            <a:pPr indent="0" lvl="0" marL="0" rtl="0" algn="l">
              <a:spcBef>
                <a:spcPts val="1700"/>
              </a:spcBef>
              <a:spcAft>
                <a:spcPts val="1700"/>
              </a:spcAft>
              <a:buNone/>
            </a:pPr>
            <a:r>
              <a:rPr lang="en" sz="1600">
                <a:solidFill>
                  <a:srgbClr val="3A3A3A"/>
                </a:solidFill>
                <a:highlight>
                  <a:srgbClr val="FFFFFF"/>
                </a:highlight>
                <a:latin typeface="Nunito"/>
                <a:ea typeface="Nunito"/>
                <a:cs typeface="Nunito"/>
                <a:sym typeface="Nunito"/>
              </a:rPr>
              <a:t>All REST API methods in the Spring framework such as GET, POST, PUT, and Delete requests, are handled by @RestController annotation and are useful in creating </a:t>
            </a:r>
            <a:r>
              <a:rPr lang="en" sz="1600">
                <a:solidFill>
                  <a:srgbClr val="ED0000"/>
                </a:solidFill>
                <a:highlight>
                  <a:srgbClr val="FFFFFF"/>
                </a:highlight>
                <a:uFill>
                  <a:noFill/>
                </a:uFill>
                <a:latin typeface="Nunito"/>
                <a:ea typeface="Nunito"/>
                <a:cs typeface="Nunito"/>
                <a:sym typeface="Nunito"/>
                <a:hlinkClick r:id="rId3">
                  <a:extLst>
                    <a:ext uri="{A12FA001-AC4F-418D-AE19-62706E023703}">
                      <ahyp:hlinkClr val="tx"/>
                    </a:ext>
                  </a:extLst>
                </a:hlinkClick>
              </a:rPr>
              <a:t>RESTful web services</a:t>
            </a:r>
            <a:r>
              <a:rPr lang="en" sz="1600">
                <a:solidFill>
                  <a:srgbClr val="3A3A3A"/>
                </a:solidFill>
                <a:highlight>
                  <a:srgbClr val="FFFFFF"/>
                </a:highlight>
                <a:latin typeface="Nunito"/>
                <a:ea typeface="Nunito"/>
                <a:cs typeface="Nunito"/>
                <a:sym typeface="Nunito"/>
              </a:rPr>
              <a:t>.</a:t>
            </a:r>
            <a:endParaRPr sz="1600">
              <a:latin typeface="Nunito"/>
              <a:ea typeface="Nunito"/>
              <a:cs typeface="Nunito"/>
              <a:sym typeface="Nunito"/>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0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Describe @RequestMapping annotation in Spring Boot.</a:t>
            </a:r>
            <a:endParaRPr/>
          </a:p>
        </p:txBody>
      </p:sp>
      <p:sp>
        <p:nvSpPr>
          <p:cNvPr id="690" name="Google Shape;690;p10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800">
                <a:solidFill>
                  <a:srgbClr val="3A3A3A"/>
                </a:solidFill>
                <a:highlight>
                  <a:srgbClr val="FFFFFF"/>
                </a:highlight>
                <a:latin typeface="Nunito"/>
                <a:ea typeface="Nunito"/>
                <a:cs typeface="Nunito"/>
                <a:sym typeface="Nunito"/>
              </a:rPr>
              <a:t>@RequestMapping annotation is used for the controller from both – class level and/or method level.</a:t>
            </a:r>
            <a:r>
              <a:rPr lang="en" sz="1800">
                <a:solidFill>
                  <a:srgbClr val="3A3A3A"/>
                </a:solidFill>
                <a:highlight>
                  <a:srgbClr val="FFFFFF"/>
                </a:highlight>
                <a:latin typeface="Nunito"/>
                <a:ea typeface="Nunito"/>
                <a:cs typeface="Nunito"/>
                <a:sym typeface="Nunito"/>
              </a:rPr>
              <a:t> The annotation </a:t>
            </a:r>
            <a:r>
              <a:rPr b="1" lang="en" sz="1800">
                <a:solidFill>
                  <a:srgbClr val="3A3A3A"/>
                </a:solidFill>
                <a:highlight>
                  <a:srgbClr val="FFFFFF"/>
                </a:highlight>
                <a:latin typeface="Nunito"/>
                <a:ea typeface="Nunito"/>
                <a:cs typeface="Nunito"/>
                <a:sym typeface="Nunito"/>
              </a:rPr>
              <a:t>maps a specific pattern or request path onto a controller</a:t>
            </a:r>
            <a:r>
              <a:rPr lang="en" sz="1800">
                <a:solidFill>
                  <a:srgbClr val="3A3A3A"/>
                </a:solidFill>
                <a:highlight>
                  <a:srgbClr val="FFFFFF"/>
                </a:highlight>
                <a:latin typeface="Nunito"/>
                <a:ea typeface="Nunito"/>
                <a:cs typeface="Nunito"/>
                <a:sym typeface="Nunito"/>
              </a:rPr>
              <a:t>. In addition, more mappings specific to handler methods are applied by method-level annotation.</a:t>
            </a:r>
            <a:endParaRPr sz="1800">
              <a:latin typeface="Nunito"/>
              <a:ea typeface="Nunito"/>
              <a:cs typeface="Nunito"/>
              <a:sym typeface="Nunito"/>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10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Explain auto-configuration in spring boot and list the steps to disable auto-configuration?</a:t>
            </a:r>
            <a:endParaRPr/>
          </a:p>
        </p:txBody>
      </p:sp>
      <p:sp>
        <p:nvSpPr>
          <p:cNvPr id="696" name="Google Shape;696;p10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A3A3A"/>
                </a:solidFill>
                <a:highlight>
                  <a:srgbClr val="FFFFFF"/>
                </a:highlight>
                <a:latin typeface="Nunito"/>
                <a:ea typeface="Nunito"/>
                <a:cs typeface="Nunito"/>
                <a:sym typeface="Nunito"/>
              </a:rPr>
              <a:t>Auto-configuration in spring boot is used for</a:t>
            </a:r>
            <a:endParaRPr sz="1200">
              <a:solidFill>
                <a:srgbClr val="3A3A3A"/>
              </a:solidFill>
              <a:highlight>
                <a:srgbClr val="FFFFFF"/>
              </a:highlight>
              <a:latin typeface="Nunito"/>
              <a:ea typeface="Nunito"/>
              <a:cs typeface="Nunito"/>
              <a:sym typeface="Nunito"/>
            </a:endParaRPr>
          </a:p>
          <a:p>
            <a:pPr indent="-304800" lvl="0" marL="876300" rtl="0" algn="l">
              <a:spcBef>
                <a:spcPts val="170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Checking dependencies</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Verify the presence of certain classes in the classpath</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Presence of bean</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Char char="●"/>
            </a:pPr>
            <a:r>
              <a:rPr lang="en" sz="1200">
                <a:solidFill>
                  <a:srgbClr val="3A3A3A"/>
                </a:solidFill>
                <a:highlight>
                  <a:srgbClr val="FFFFFF"/>
                </a:highlight>
                <a:latin typeface="Nunito"/>
                <a:ea typeface="Nunito"/>
                <a:cs typeface="Nunito"/>
                <a:sym typeface="Nunito"/>
              </a:rPr>
              <a:t>Activation of some property</a:t>
            </a:r>
            <a:endParaRPr sz="1200">
              <a:solidFill>
                <a:srgbClr val="3A3A3A"/>
              </a:solidFill>
              <a:highlight>
                <a:srgbClr val="FFFFFF"/>
              </a:highlight>
              <a:latin typeface="Nunito"/>
              <a:ea typeface="Nunito"/>
              <a:cs typeface="Nunito"/>
              <a:sym typeface="Nunito"/>
            </a:endParaRPr>
          </a:p>
          <a:p>
            <a:pPr indent="0" lvl="0" marL="0" rtl="0" algn="l">
              <a:spcBef>
                <a:spcPts val="1800"/>
              </a:spcBef>
              <a:spcAft>
                <a:spcPts val="0"/>
              </a:spcAft>
              <a:buNone/>
            </a:pPr>
            <a:r>
              <a:rPr b="1" lang="en" sz="1200">
                <a:solidFill>
                  <a:srgbClr val="3A3A3A"/>
                </a:solidFill>
                <a:highlight>
                  <a:srgbClr val="FFFFFF"/>
                </a:highlight>
                <a:latin typeface="Nunito"/>
                <a:ea typeface="Nunito"/>
                <a:cs typeface="Nunito"/>
                <a:sym typeface="Nunito"/>
              </a:rPr>
              <a:t>Auto-configuration can be disabled in the following ways:</a:t>
            </a:r>
            <a:endParaRPr b="1" sz="1200">
              <a:solidFill>
                <a:srgbClr val="3A3A3A"/>
              </a:solidFill>
              <a:highlight>
                <a:srgbClr val="FFFFFF"/>
              </a:highlight>
              <a:latin typeface="Nunito"/>
              <a:ea typeface="Nunito"/>
              <a:cs typeface="Nunito"/>
              <a:sym typeface="Nunito"/>
            </a:endParaRPr>
          </a:p>
          <a:p>
            <a:pPr indent="-304800" lvl="0" marL="876300" rtl="0" algn="l">
              <a:spcBef>
                <a:spcPts val="1700"/>
              </a:spcBef>
              <a:spcAft>
                <a:spcPts val="0"/>
              </a:spcAft>
              <a:buClr>
                <a:srgbClr val="3A3A3A"/>
              </a:buClr>
              <a:buSzPts val="1200"/>
              <a:buFont typeface="Nunito"/>
              <a:buAutoNum type="arabicPeriod"/>
            </a:pPr>
            <a:r>
              <a:rPr lang="en" sz="1200">
                <a:solidFill>
                  <a:srgbClr val="3A3A3A"/>
                </a:solidFill>
                <a:highlight>
                  <a:srgbClr val="FFFFFF"/>
                </a:highlight>
                <a:latin typeface="Nunito"/>
                <a:ea typeface="Nunito"/>
                <a:cs typeface="Nunito"/>
                <a:sym typeface="Nunito"/>
              </a:rPr>
              <a:t>Using Annotation</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AutoNum type="arabicPeriod"/>
            </a:pPr>
            <a:r>
              <a:rPr lang="en" sz="1200">
                <a:solidFill>
                  <a:srgbClr val="3A3A3A"/>
                </a:solidFill>
                <a:highlight>
                  <a:srgbClr val="FFFFFF"/>
                </a:highlight>
                <a:latin typeface="Nunito"/>
                <a:ea typeface="Nunito"/>
                <a:cs typeface="Nunito"/>
                <a:sym typeface="Nunito"/>
              </a:rPr>
              <a:t>Using the property file</a:t>
            </a:r>
            <a:endParaRPr sz="1200">
              <a:solidFill>
                <a:srgbClr val="3A3A3A"/>
              </a:solidFill>
              <a:highlight>
                <a:srgbClr val="FFFFFF"/>
              </a:highlight>
              <a:latin typeface="Nunito"/>
              <a:ea typeface="Nunito"/>
              <a:cs typeface="Nunito"/>
              <a:sym typeface="Nunito"/>
            </a:endParaRPr>
          </a:p>
          <a:p>
            <a:pPr indent="-304800" lvl="0" marL="876300" rtl="0" algn="l">
              <a:spcBef>
                <a:spcPts val="0"/>
              </a:spcBef>
              <a:spcAft>
                <a:spcPts val="0"/>
              </a:spcAft>
              <a:buClr>
                <a:srgbClr val="3A3A3A"/>
              </a:buClr>
              <a:buSzPts val="1200"/>
              <a:buFont typeface="Nunito"/>
              <a:buAutoNum type="arabicPeriod"/>
            </a:pPr>
            <a:r>
              <a:rPr lang="en" sz="1200">
                <a:solidFill>
                  <a:srgbClr val="3A3A3A"/>
                </a:solidFill>
                <a:highlight>
                  <a:srgbClr val="FFFFFF"/>
                </a:highlight>
                <a:latin typeface="Nunito"/>
                <a:ea typeface="Nunito"/>
                <a:cs typeface="Nunito"/>
                <a:sym typeface="Nunito"/>
              </a:rPr>
              <a:t>Using exclude attribute of @EnableAutoConfiguration</a:t>
            </a:r>
            <a:endParaRPr sz="1200">
              <a:latin typeface="Nunito"/>
              <a:ea typeface="Nunito"/>
              <a:cs typeface="Nunito"/>
              <a:sym typeface="Nunito"/>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108"/>
          <p:cNvSpPr txBox="1"/>
          <p:nvPr>
            <p:ph type="title"/>
          </p:nvPr>
        </p:nvSpPr>
        <p:spPr>
          <a:xfrm>
            <a:off x="819150" y="5408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the advantages and ways to load the YAML file instead of the properties file in the Spring Boot application.</a:t>
            </a:r>
            <a:endParaRPr/>
          </a:p>
        </p:txBody>
      </p:sp>
      <p:sp>
        <p:nvSpPr>
          <p:cNvPr id="702" name="Google Shape;702;p108"/>
          <p:cNvSpPr txBox="1"/>
          <p:nvPr>
            <p:ph idx="1" type="body"/>
          </p:nvPr>
        </p:nvSpPr>
        <p:spPr>
          <a:xfrm>
            <a:off x="819150" y="1997900"/>
            <a:ext cx="7505700" cy="2440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200">
                <a:solidFill>
                  <a:srgbClr val="3A3A3A"/>
                </a:solidFill>
                <a:highlight>
                  <a:srgbClr val="FFFFFF"/>
                </a:highlight>
                <a:latin typeface="Nunito"/>
                <a:ea typeface="Nunito"/>
                <a:cs typeface="Nunito"/>
                <a:sym typeface="Nunito"/>
              </a:rPr>
              <a:t>YAML stands for “</a:t>
            </a:r>
            <a:r>
              <a:rPr lang="en" sz="1200">
                <a:solidFill>
                  <a:srgbClr val="3A3A3A"/>
                </a:solidFill>
                <a:highlight>
                  <a:srgbClr val="FFFFFF"/>
                </a:highlight>
                <a:latin typeface="Nunito"/>
                <a:ea typeface="Nunito"/>
                <a:cs typeface="Nunito"/>
                <a:sym typeface="Nunito"/>
              </a:rPr>
              <a:t>YAML </a:t>
            </a:r>
            <a:r>
              <a:rPr lang="en" sz="1200">
                <a:solidFill>
                  <a:srgbClr val="3A3A3A"/>
                </a:solidFill>
                <a:highlight>
                  <a:srgbClr val="FFFFFF"/>
                </a:highlight>
                <a:latin typeface="Nunito"/>
                <a:ea typeface="Nunito"/>
                <a:cs typeface="Nunito"/>
                <a:sym typeface="Nunito"/>
              </a:rPr>
              <a:t>Ain’t Markup language” and has the following properties:</a:t>
            </a:r>
            <a:endParaRPr sz="1200">
              <a:solidFill>
                <a:srgbClr val="3A3A3A"/>
              </a:solidFill>
              <a:highlight>
                <a:srgbClr val="FFFFFF"/>
              </a:highlight>
              <a:latin typeface="Nunito"/>
              <a:ea typeface="Nunito"/>
              <a:cs typeface="Nunito"/>
              <a:sym typeface="Nunito"/>
            </a:endParaRPr>
          </a:p>
          <a:p>
            <a:pPr indent="-299085" lvl="0" marL="876300" rtl="0" algn="l">
              <a:spcBef>
                <a:spcPts val="1700"/>
              </a:spcBef>
              <a:spcAft>
                <a:spcPts val="0"/>
              </a:spcAft>
              <a:buClr>
                <a:srgbClr val="3A3A3A"/>
              </a:buClr>
              <a:buSzPct val="100000"/>
              <a:buFont typeface="Nunito"/>
              <a:buChar char="●"/>
            </a:pPr>
            <a:r>
              <a:rPr lang="en" sz="1200">
                <a:solidFill>
                  <a:srgbClr val="3A3A3A"/>
                </a:solidFill>
                <a:highlight>
                  <a:srgbClr val="FFFFFF"/>
                </a:highlight>
                <a:latin typeface="Nunito"/>
                <a:ea typeface="Nunito"/>
                <a:cs typeface="Nunito"/>
                <a:sym typeface="Nunito"/>
              </a:rPr>
              <a:t>Human-friendly, provide more clarity</a:t>
            </a:r>
            <a:endParaRPr sz="1200">
              <a:solidFill>
                <a:srgbClr val="3A3A3A"/>
              </a:solidFill>
              <a:highlight>
                <a:srgbClr val="FFFFFF"/>
              </a:highlight>
              <a:latin typeface="Nunito"/>
              <a:ea typeface="Nunito"/>
              <a:cs typeface="Nunito"/>
              <a:sym typeface="Nunito"/>
            </a:endParaRPr>
          </a:p>
          <a:p>
            <a:pPr indent="-299085" lvl="0" marL="876300" rtl="0" algn="l">
              <a:spcBef>
                <a:spcPts val="0"/>
              </a:spcBef>
              <a:spcAft>
                <a:spcPts val="0"/>
              </a:spcAft>
              <a:buClr>
                <a:srgbClr val="3A3A3A"/>
              </a:buClr>
              <a:buSzPct val="100000"/>
              <a:buFont typeface="Nunito"/>
              <a:buChar char="●"/>
            </a:pPr>
            <a:r>
              <a:rPr lang="en" sz="1200">
                <a:solidFill>
                  <a:srgbClr val="3A3A3A"/>
                </a:solidFill>
                <a:highlight>
                  <a:srgbClr val="FFFFFF"/>
                </a:highlight>
                <a:latin typeface="Nunito"/>
                <a:ea typeface="Nunito"/>
                <a:cs typeface="Nunito"/>
                <a:sym typeface="Nunito"/>
              </a:rPr>
              <a:t>Suitable for hierarchical data configuration</a:t>
            </a:r>
            <a:endParaRPr sz="1200">
              <a:solidFill>
                <a:srgbClr val="3A3A3A"/>
              </a:solidFill>
              <a:highlight>
                <a:srgbClr val="FFFFFF"/>
              </a:highlight>
              <a:latin typeface="Nunito"/>
              <a:ea typeface="Nunito"/>
              <a:cs typeface="Nunito"/>
              <a:sym typeface="Nunito"/>
            </a:endParaRPr>
          </a:p>
          <a:p>
            <a:pPr indent="-299085" lvl="0" marL="876300" rtl="0" algn="l">
              <a:spcBef>
                <a:spcPts val="0"/>
              </a:spcBef>
              <a:spcAft>
                <a:spcPts val="0"/>
              </a:spcAft>
              <a:buClr>
                <a:srgbClr val="3A3A3A"/>
              </a:buClr>
              <a:buSzPct val="100000"/>
              <a:buFont typeface="Nunito"/>
              <a:buChar char="●"/>
            </a:pPr>
            <a:r>
              <a:rPr lang="en" sz="1200">
                <a:solidFill>
                  <a:srgbClr val="3A3A3A"/>
                </a:solidFill>
                <a:highlight>
                  <a:srgbClr val="FFFFFF"/>
                </a:highlight>
                <a:latin typeface="Nunito"/>
                <a:ea typeface="Nunito"/>
                <a:cs typeface="Nunito"/>
                <a:sym typeface="Nunito"/>
              </a:rPr>
              <a:t>Support for enhancing maps, lists, and scalar types.</a:t>
            </a:r>
            <a:endParaRPr sz="1200">
              <a:solidFill>
                <a:srgbClr val="3A3A3A"/>
              </a:solidFill>
              <a:highlight>
                <a:srgbClr val="FFFFFF"/>
              </a:highlight>
              <a:latin typeface="Nunito"/>
              <a:ea typeface="Nunito"/>
              <a:cs typeface="Nunito"/>
              <a:sym typeface="Nunito"/>
            </a:endParaRPr>
          </a:p>
          <a:p>
            <a:pPr indent="0" lvl="0" marL="0" rtl="0" algn="l">
              <a:spcBef>
                <a:spcPts val="1800"/>
              </a:spcBef>
              <a:spcAft>
                <a:spcPts val="0"/>
              </a:spcAft>
              <a:buNone/>
            </a:pPr>
            <a:r>
              <a:rPr lang="en" sz="1200">
                <a:solidFill>
                  <a:srgbClr val="3A3A3A"/>
                </a:solidFill>
                <a:highlight>
                  <a:srgbClr val="FFFFFF"/>
                </a:highlight>
                <a:latin typeface="Nunito"/>
                <a:ea typeface="Nunito"/>
                <a:cs typeface="Nunito"/>
                <a:sym typeface="Nunito"/>
              </a:rPr>
              <a:t>There are two classes from the spring framework that extend YamlProcessor, that are used to load YAML documents.</a:t>
            </a:r>
            <a:endParaRPr sz="1200">
              <a:solidFill>
                <a:srgbClr val="3A3A3A"/>
              </a:solidFill>
              <a:highlight>
                <a:srgbClr val="FFFFFF"/>
              </a:highlight>
              <a:latin typeface="Nunito"/>
              <a:ea typeface="Nunito"/>
              <a:cs typeface="Nunito"/>
              <a:sym typeface="Nunito"/>
            </a:endParaRPr>
          </a:p>
          <a:p>
            <a:pPr indent="0" lvl="0" marL="0" rtl="0" algn="l">
              <a:spcBef>
                <a:spcPts val="1700"/>
              </a:spcBef>
              <a:spcAft>
                <a:spcPts val="0"/>
              </a:spcAft>
              <a:buNone/>
            </a:pPr>
            <a:r>
              <a:rPr b="1" lang="en" sz="1200">
                <a:solidFill>
                  <a:srgbClr val="3A3A3A"/>
                </a:solidFill>
                <a:highlight>
                  <a:srgbClr val="FFFFFF"/>
                </a:highlight>
                <a:latin typeface="Nunito"/>
                <a:ea typeface="Nunito"/>
                <a:cs typeface="Nunito"/>
                <a:sym typeface="Nunito"/>
              </a:rPr>
              <a:t>YamlPropertiesFactoryBean class</a:t>
            </a:r>
            <a:r>
              <a:rPr lang="en" sz="1200">
                <a:solidFill>
                  <a:srgbClr val="3A3A3A"/>
                </a:solidFill>
                <a:highlight>
                  <a:srgbClr val="FFFFFF"/>
                </a:highlight>
                <a:latin typeface="Nunito"/>
                <a:ea typeface="Nunito"/>
                <a:cs typeface="Nunito"/>
                <a:sym typeface="Nunito"/>
              </a:rPr>
              <a:t> can load YAML as properties</a:t>
            </a:r>
            <a:endParaRPr sz="1200">
              <a:solidFill>
                <a:srgbClr val="3A3A3A"/>
              </a:solidFill>
              <a:highlight>
                <a:srgbClr val="FFFFFF"/>
              </a:highlight>
              <a:latin typeface="Nunito"/>
              <a:ea typeface="Nunito"/>
              <a:cs typeface="Nunito"/>
              <a:sym typeface="Nunito"/>
            </a:endParaRPr>
          </a:p>
          <a:p>
            <a:pPr indent="0" lvl="0" marL="0" rtl="0" algn="l">
              <a:spcBef>
                <a:spcPts val="1700"/>
              </a:spcBef>
              <a:spcAft>
                <a:spcPts val="1700"/>
              </a:spcAft>
              <a:buNone/>
            </a:pPr>
            <a:r>
              <a:rPr b="1" lang="en" sz="1200">
                <a:solidFill>
                  <a:srgbClr val="3A3A3A"/>
                </a:solidFill>
                <a:highlight>
                  <a:srgbClr val="FFFFFF"/>
                </a:highlight>
                <a:latin typeface="Nunito"/>
                <a:ea typeface="Nunito"/>
                <a:cs typeface="Nunito"/>
                <a:sym typeface="Nunito"/>
              </a:rPr>
              <a:t>YamlMapFactoryBean class</a:t>
            </a:r>
            <a:r>
              <a:rPr lang="en" sz="1200">
                <a:solidFill>
                  <a:srgbClr val="3A3A3A"/>
                </a:solidFill>
                <a:highlight>
                  <a:srgbClr val="FFFFFF"/>
                </a:highlight>
                <a:latin typeface="Nunito"/>
                <a:ea typeface="Nunito"/>
                <a:cs typeface="Nunito"/>
                <a:sym typeface="Nunito"/>
              </a:rPr>
              <a:t> will load YAML as Map</a:t>
            </a:r>
            <a:endParaRPr>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