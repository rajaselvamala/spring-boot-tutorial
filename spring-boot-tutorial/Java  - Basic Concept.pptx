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
      <p:font typeface="Nuni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Nunito-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Nunito-italic.fntdata"/><Relationship Id="rId14" Type="http://schemas.openxmlformats.org/officeDocument/2006/relationships/slide" Target="slides/slide9.xml"/><Relationship Id="rId36" Type="http://schemas.openxmlformats.org/officeDocument/2006/relationships/font" Target="fonts/Nuni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Nuni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4b5ad3f97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4b5ad3f97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4b5ad3f97c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4b5ad3f97c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4b5ad3f97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4b5ad3f97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4b5ad3f97c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4b5ad3f97c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4b5ad3f97c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4b5ad3f97c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4b5ad3f97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4b5ad3f97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4b5ad3f97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4b5ad3f97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4b5ad3f97c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4b5ad3f97c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4b5ad3f97c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4b5ad3f97c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b5ad3f97c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4b5ad3f97c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4b5ad3f97c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4b5ad3f97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4b5ad3f97c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4b5ad3f97c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c07596e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4c07596e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4c07596ef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4c07596ef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4c07596ef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4c07596ef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4c07596ef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4c07596ef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4c07596ef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4c07596ef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d00157a0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d00157a0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00157a06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d00157a06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d00157a06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d00157a06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d00157a06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d00157a06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d00157a06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d00157a06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d00157a06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d00157a06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d00157a06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d00157a06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interviewbit.com/blog/features-of-java/" TargetMode="External"/><Relationship Id="rId4" Type="http://schemas.openxmlformats.org/officeDocument/2006/relationships/hyperlink" Target="https://www.interviewbit.com/online-java-compil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interviewbit.com/oops-interview-questio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Java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Java a platform independent language?</a:t>
            </a:r>
            <a:endParaRPr/>
          </a:p>
        </p:txBody>
      </p:sp>
      <p:sp>
        <p:nvSpPr>
          <p:cNvPr id="134" name="Google Shape;134;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400">
                <a:solidFill>
                  <a:srgbClr val="008CFF"/>
                </a:solidFill>
                <a:highlight>
                  <a:srgbClr val="FFFFFF"/>
                </a:highlight>
                <a:uFill>
                  <a:noFill/>
                </a:uFill>
                <a:latin typeface="Nunito"/>
                <a:ea typeface="Nunito"/>
                <a:cs typeface="Nunito"/>
                <a:sym typeface="Nunito"/>
                <a:hlinkClick r:id="rId3">
                  <a:extLst>
                    <a:ext uri="{A12FA001-AC4F-418D-AE19-62706E023703}">
                      <ahyp:hlinkClr val="tx"/>
                    </a:ext>
                  </a:extLst>
                </a:hlinkClick>
              </a:rPr>
              <a:t>Java language</a:t>
            </a:r>
            <a:r>
              <a:rPr lang="en" sz="1400">
                <a:solidFill>
                  <a:srgbClr val="373E3F"/>
                </a:solidFill>
                <a:highlight>
                  <a:srgbClr val="FFFFFF"/>
                </a:highlight>
                <a:latin typeface="Nunito"/>
                <a:ea typeface="Nunito"/>
                <a:cs typeface="Nunito"/>
                <a:sym typeface="Nunito"/>
              </a:rPr>
              <a:t> was developed in such a way that it does not depend on any hardware or software due to the fact that the </a:t>
            </a:r>
            <a:r>
              <a:rPr lang="en" sz="1400">
                <a:solidFill>
                  <a:srgbClr val="008CFF"/>
                </a:solidFill>
                <a:highlight>
                  <a:srgbClr val="FFFFFF"/>
                </a:highlight>
                <a:uFill>
                  <a:noFill/>
                </a:uFill>
                <a:latin typeface="Nunito"/>
                <a:ea typeface="Nunito"/>
                <a:cs typeface="Nunito"/>
                <a:sym typeface="Nunito"/>
                <a:hlinkClick r:id="rId4">
                  <a:extLst>
                    <a:ext uri="{A12FA001-AC4F-418D-AE19-62706E023703}">
                      <ahyp:hlinkClr val="tx"/>
                    </a:ext>
                  </a:extLst>
                </a:hlinkClick>
              </a:rPr>
              <a:t>compiler</a:t>
            </a:r>
            <a:r>
              <a:rPr lang="en" sz="1400">
                <a:solidFill>
                  <a:srgbClr val="373E3F"/>
                </a:solidFill>
                <a:highlight>
                  <a:srgbClr val="FFFFFF"/>
                </a:highlight>
                <a:latin typeface="Nunito"/>
                <a:ea typeface="Nunito"/>
                <a:cs typeface="Nunito"/>
                <a:sym typeface="Nunito"/>
              </a:rPr>
              <a:t> compiles the code and then converts it to platform-independent byte code which can be run on multiple systems.</a:t>
            </a:r>
            <a:endParaRPr sz="1400">
              <a:solidFill>
                <a:srgbClr val="373E3F"/>
              </a:solidFill>
              <a:highlight>
                <a:srgbClr val="FFFFFF"/>
              </a:highlight>
              <a:latin typeface="Nunito"/>
              <a:ea typeface="Nunito"/>
              <a:cs typeface="Nunito"/>
              <a:sym typeface="Nunito"/>
            </a:endParaRPr>
          </a:p>
          <a:p>
            <a:pPr indent="-317500" lvl="0" marL="457200" rtl="0" algn="l">
              <a:lnSpc>
                <a:spcPct val="150000"/>
              </a:lnSpc>
              <a:spcBef>
                <a:spcPts val="2400"/>
              </a:spcBef>
              <a:spcAft>
                <a:spcPts val="0"/>
              </a:spcAft>
              <a:buClr>
                <a:srgbClr val="515151"/>
              </a:buClr>
              <a:buSzPts val="1400"/>
              <a:buFont typeface="Nunito"/>
              <a:buChar char="●"/>
            </a:pPr>
            <a:r>
              <a:rPr lang="en" sz="1400">
                <a:solidFill>
                  <a:srgbClr val="515151"/>
                </a:solidFill>
                <a:highlight>
                  <a:srgbClr val="FFFFFF"/>
                </a:highlight>
                <a:latin typeface="Nunito"/>
                <a:ea typeface="Nunito"/>
                <a:cs typeface="Nunito"/>
                <a:sym typeface="Nunito"/>
              </a:rPr>
              <a:t>The only condition to run that byte code is for the machine to have a runtime environment (JRE) installed in it</a:t>
            </a:r>
            <a:endParaRPr sz="1400">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Java not a pure object oriented language?</a:t>
            </a:r>
            <a:endParaRPr/>
          </a:p>
        </p:txBody>
      </p:sp>
      <p:sp>
        <p:nvSpPr>
          <p:cNvPr id="140" name="Google Shape;140;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2400"/>
              </a:spcAft>
              <a:buNone/>
            </a:pPr>
            <a:r>
              <a:rPr lang="en" sz="1800">
                <a:solidFill>
                  <a:srgbClr val="373E3F"/>
                </a:solidFill>
                <a:highlight>
                  <a:srgbClr val="FFFFFF"/>
                </a:highlight>
                <a:latin typeface="Nunito"/>
                <a:ea typeface="Nunito"/>
                <a:cs typeface="Nunito"/>
                <a:sym typeface="Nunito"/>
              </a:rPr>
              <a:t>Java supports primitive data types - byte, boolean, char, short, int, float, long, and double and hence it is not a pure </a:t>
            </a:r>
            <a:r>
              <a:rPr lang="en" sz="1800">
                <a:solidFill>
                  <a:srgbClr val="008CFF"/>
                </a:solidFill>
                <a:highlight>
                  <a:srgbClr val="FFFFFF"/>
                </a:highlight>
                <a:uFill>
                  <a:noFill/>
                </a:uFill>
                <a:latin typeface="Nunito"/>
                <a:ea typeface="Nunito"/>
                <a:cs typeface="Nunito"/>
                <a:sym typeface="Nunito"/>
                <a:hlinkClick r:id="rId3">
                  <a:extLst>
                    <a:ext uri="{A12FA001-AC4F-418D-AE19-62706E023703}">
                      <ahyp:hlinkClr val="tx"/>
                    </a:ext>
                  </a:extLst>
                </a:hlinkClick>
              </a:rPr>
              <a:t>object oriented language</a:t>
            </a:r>
            <a:r>
              <a:rPr lang="en" sz="1800">
                <a:solidFill>
                  <a:srgbClr val="373E3F"/>
                </a:solidFill>
                <a:highlight>
                  <a:srgbClr val="FFFFFF"/>
                </a:highlight>
                <a:latin typeface="Nunito"/>
                <a:ea typeface="Nunito"/>
                <a:cs typeface="Nunito"/>
                <a:sym typeface="Nunito"/>
              </a:rPr>
              <a:t>.</a:t>
            </a:r>
            <a:endParaRPr sz="180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 between Heap and Stack Memory in java. And how java utilizes this.</a:t>
            </a:r>
            <a:endParaRPr/>
          </a:p>
        </p:txBody>
      </p:sp>
      <p:sp>
        <p:nvSpPr>
          <p:cNvPr id="146" name="Google Shape;146;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0"/>
              </a:spcBef>
              <a:spcAft>
                <a:spcPts val="0"/>
              </a:spcAft>
              <a:buNone/>
            </a:pPr>
            <a:r>
              <a:rPr lang="en" sz="1200">
                <a:solidFill>
                  <a:srgbClr val="373E3F"/>
                </a:solidFill>
                <a:highlight>
                  <a:srgbClr val="FFFFFF"/>
                </a:highlight>
                <a:latin typeface="Roboto"/>
                <a:ea typeface="Roboto"/>
                <a:cs typeface="Roboto"/>
                <a:sym typeface="Roboto"/>
              </a:rPr>
              <a:t>Stack memory is the portion of memory that was assigned to every individual program. And it was fixed. On the other hand, Heap memory is the portion that was not allocated to the java program but it will be available for use by the java program when it is required, mostly during the runtime of the program.</a:t>
            </a:r>
            <a:endParaRPr sz="1200">
              <a:solidFill>
                <a:srgbClr val="373E3F"/>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lang="en" sz="1200">
                <a:solidFill>
                  <a:srgbClr val="373E3F"/>
                </a:solidFill>
                <a:highlight>
                  <a:srgbClr val="FFFFFF"/>
                </a:highlight>
                <a:latin typeface="Roboto"/>
                <a:ea typeface="Roboto"/>
                <a:cs typeface="Roboto"/>
                <a:sym typeface="Roboto"/>
              </a:rPr>
              <a:t>Java Utilizes this memory as - </a:t>
            </a:r>
            <a:endParaRPr sz="1200">
              <a:solidFill>
                <a:srgbClr val="373E3F"/>
              </a:solidFill>
              <a:highlight>
                <a:srgbClr val="FFFFFF"/>
              </a:highlight>
              <a:latin typeface="Roboto"/>
              <a:ea typeface="Roboto"/>
              <a:cs typeface="Roboto"/>
              <a:sym typeface="Roboto"/>
            </a:endParaRPr>
          </a:p>
          <a:p>
            <a:pPr indent="-293370" lvl="0" marL="457200" rtl="0" algn="l">
              <a:lnSpc>
                <a:spcPct val="150000"/>
              </a:lnSpc>
              <a:spcBef>
                <a:spcPts val="2400"/>
              </a:spcBef>
              <a:spcAft>
                <a:spcPts val="0"/>
              </a:spcAft>
              <a:buClr>
                <a:srgbClr val="515151"/>
              </a:buClr>
              <a:buSzPct val="100000"/>
              <a:buFont typeface="Roboto"/>
              <a:buChar char="●"/>
            </a:pPr>
            <a:r>
              <a:rPr lang="en" sz="1200">
                <a:solidFill>
                  <a:srgbClr val="515151"/>
                </a:solidFill>
                <a:highlight>
                  <a:srgbClr val="FFFFFF"/>
                </a:highlight>
                <a:latin typeface="Roboto"/>
                <a:ea typeface="Roboto"/>
                <a:cs typeface="Roboto"/>
                <a:sym typeface="Roboto"/>
              </a:rPr>
              <a:t>When we write a java program then all the variables, methods, etc are stored in the stack memory.</a:t>
            </a:r>
            <a:endParaRPr sz="1200">
              <a:solidFill>
                <a:srgbClr val="515151"/>
              </a:solidFill>
              <a:highlight>
                <a:srgbClr val="FFFFFF"/>
              </a:highlight>
              <a:latin typeface="Roboto"/>
              <a:ea typeface="Roboto"/>
              <a:cs typeface="Roboto"/>
              <a:sym typeface="Roboto"/>
            </a:endParaRPr>
          </a:p>
          <a:p>
            <a:pPr indent="-293370" lvl="0" marL="457200" rtl="0" algn="l">
              <a:lnSpc>
                <a:spcPct val="150000"/>
              </a:lnSpc>
              <a:spcBef>
                <a:spcPts val="0"/>
              </a:spcBef>
              <a:spcAft>
                <a:spcPts val="0"/>
              </a:spcAft>
              <a:buClr>
                <a:srgbClr val="515151"/>
              </a:buClr>
              <a:buSzPct val="100000"/>
              <a:buFont typeface="Roboto"/>
              <a:buChar char="●"/>
            </a:pPr>
            <a:r>
              <a:rPr lang="en" sz="1200">
                <a:solidFill>
                  <a:srgbClr val="515151"/>
                </a:solidFill>
                <a:highlight>
                  <a:srgbClr val="FFFFFF"/>
                </a:highlight>
                <a:latin typeface="Roboto"/>
                <a:ea typeface="Roboto"/>
                <a:cs typeface="Roboto"/>
                <a:sym typeface="Roboto"/>
              </a:rPr>
              <a:t>And when we create any object in the java program then that object was created in the heap memory. And it was referenced from the stack memory.</a:t>
            </a:r>
            <a:endParaRPr sz="1200">
              <a:solidFill>
                <a:srgbClr val="515151"/>
              </a:solidFill>
              <a:highlight>
                <a:srgbClr val="FFFFFF"/>
              </a:highlight>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Consider the below java program:</a:t>
            </a:r>
            <a:endParaRPr/>
          </a:p>
        </p:txBody>
      </p:sp>
      <p:pic>
        <p:nvPicPr>
          <p:cNvPr id="152" name="Google Shape;152;p17"/>
          <p:cNvPicPr preferRelativeResize="0"/>
          <p:nvPr/>
        </p:nvPicPr>
        <p:blipFill>
          <a:blip r:embed="rId3">
            <a:alphaModFix/>
          </a:blip>
          <a:stretch>
            <a:fillRect/>
          </a:stretch>
        </p:blipFill>
        <p:spPr>
          <a:xfrm>
            <a:off x="4608595" y="1564100"/>
            <a:ext cx="3574323" cy="3035600"/>
          </a:xfrm>
          <a:prstGeom prst="rect">
            <a:avLst/>
          </a:prstGeom>
          <a:noFill/>
          <a:ln>
            <a:noFill/>
          </a:ln>
        </p:spPr>
      </p:pic>
      <p:pic>
        <p:nvPicPr>
          <p:cNvPr id="153" name="Google Shape;153;p17"/>
          <p:cNvPicPr preferRelativeResize="0"/>
          <p:nvPr/>
        </p:nvPicPr>
        <p:blipFill>
          <a:blip r:embed="rId4">
            <a:alphaModFix/>
          </a:blip>
          <a:stretch>
            <a:fillRect/>
          </a:stretch>
        </p:blipFill>
        <p:spPr>
          <a:xfrm>
            <a:off x="685800" y="1647800"/>
            <a:ext cx="3819525" cy="2921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java be said to be the complete object-oriented programming language?</a:t>
            </a:r>
            <a:endParaRPr/>
          </a:p>
        </p:txBody>
      </p:sp>
      <p:sp>
        <p:nvSpPr>
          <p:cNvPr id="159" name="Google Shape;159;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lnSpc>
                <a:spcPct val="150000"/>
              </a:lnSpc>
              <a:spcBef>
                <a:spcPts val="0"/>
              </a:spcBef>
              <a:spcAft>
                <a:spcPts val="0"/>
              </a:spcAft>
              <a:buNone/>
            </a:pPr>
            <a:r>
              <a:rPr lang="en" sz="1200">
                <a:solidFill>
                  <a:srgbClr val="373E3F"/>
                </a:solidFill>
                <a:highlight>
                  <a:srgbClr val="FFFFFF"/>
                </a:highlight>
                <a:latin typeface="Nunito"/>
                <a:ea typeface="Nunito"/>
                <a:cs typeface="Nunito"/>
                <a:sym typeface="Nunito"/>
              </a:rPr>
              <a:t>It is not wrong if we claim that java is the complete object-oriented programming language. Because Everything in Java is under the classes. And we can access that by creating the objects.</a:t>
            </a:r>
            <a:endParaRPr sz="1200">
              <a:solidFill>
                <a:srgbClr val="373E3F"/>
              </a:solidFill>
              <a:highlight>
                <a:srgbClr val="FFFFFF"/>
              </a:highlight>
              <a:latin typeface="Nunito"/>
              <a:ea typeface="Nunito"/>
              <a:cs typeface="Nunito"/>
              <a:sym typeface="Nunito"/>
            </a:endParaRPr>
          </a:p>
          <a:p>
            <a:pPr indent="0" lvl="0" marL="0" rtl="0" algn="l">
              <a:lnSpc>
                <a:spcPct val="150000"/>
              </a:lnSpc>
              <a:spcBef>
                <a:spcPts val="2400"/>
              </a:spcBef>
              <a:spcAft>
                <a:spcPts val="0"/>
              </a:spcAft>
              <a:buNone/>
            </a:pPr>
            <a:r>
              <a:rPr lang="en" sz="1200">
                <a:solidFill>
                  <a:srgbClr val="373E3F"/>
                </a:solidFill>
                <a:highlight>
                  <a:srgbClr val="FFFFFF"/>
                </a:highlight>
                <a:latin typeface="Nunito"/>
                <a:ea typeface="Nunito"/>
                <a:cs typeface="Nunito"/>
                <a:sym typeface="Nunito"/>
              </a:rPr>
              <a:t>But also if we say that java is not a completely object-oriented programming language because it has the support of primitive data types like int, float, char, boolean, double, etc.</a:t>
            </a:r>
            <a:endParaRPr sz="1200">
              <a:solidFill>
                <a:srgbClr val="373E3F"/>
              </a:solidFill>
              <a:highlight>
                <a:srgbClr val="FFFFFF"/>
              </a:highlight>
              <a:latin typeface="Nunito"/>
              <a:ea typeface="Nunito"/>
              <a:cs typeface="Nunito"/>
              <a:sym typeface="Nunito"/>
            </a:endParaRPr>
          </a:p>
          <a:p>
            <a:pPr indent="0" lvl="0" marL="0" rtl="0" algn="l">
              <a:lnSpc>
                <a:spcPct val="150000"/>
              </a:lnSpc>
              <a:spcBef>
                <a:spcPts val="2400"/>
              </a:spcBef>
              <a:spcAft>
                <a:spcPts val="2400"/>
              </a:spcAft>
              <a:buNone/>
            </a:pPr>
            <a:r>
              <a:rPr lang="en" sz="1200">
                <a:solidFill>
                  <a:srgbClr val="373E3F"/>
                </a:solidFill>
                <a:highlight>
                  <a:srgbClr val="FFFFFF"/>
                </a:highlight>
                <a:latin typeface="Nunito"/>
                <a:ea typeface="Nunito"/>
                <a:cs typeface="Nunito"/>
                <a:sym typeface="Nunito"/>
              </a:rPr>
              <a:t>Now for the question: Is java a completely object-oriented programming language? We can say that - Java is not a pure object-oriented programming language, because it has direct access to primitive data types. And these primitive data types don't directly belong to the Integer classes.</a:t>
            </a:r>
            <a:endParaRPr>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is Java different from C++?</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rgbClr val="515151"/>
              </a:buClr>
              <a:buSzPts val="1200"/>
              <a:buFont typeface="Roboto"/>
              <a:buChar char="●"/>
            </a:pPr>
            <a:r>
              <a:rPr lang="en" sz="1200">
                <a:solidFill>
                  <a:srgbClr val="515151"/>
                </a:solidFill>
                <a:highlight>
                  <a:srgbClr val="FFFFFF"/>
                </a:highlight>
                <a:latin typeface="Roboto"/>
                <a:ea typeface="Roboto"/>
                <a:cs typeface="Roboto"/>
                <a:sym typeface="Roboto"/>
              </a:rPr>
              <a:t>C++ is only a  compiled language, whereas Java is compiled as well as an interpreted language.</a:t>
            </a:r>
            <a:endParaRPr sz="1200">
              <a:solidFill>
                <a:srgbClr val="515151"/>
              </a:solidFill>
              <a:highlight>
                <a:srgbClr val="FFFFFF"/>
              </a:highlight>
              <a:latin typeface="Roboto"/>
              <a:ea typeface="Roboto"/>
              <a:cs typeface="Roboto"/>
              <a:sym typeface="Roboto"/>
            </a:endParaRPr>
          </a:p>
          <a:p>
            <a:pPr indent="-304800" lvl="0" marL="457200" rtl="0" algn="l">
              <a:lnSpc>
                <a:spcPct val="150000"/>
              </a:lnSpc>
              <a:spcBef>
                <a:spcPts val="0"/>
              </a:spcBef>
              <a:spcAft>
                <a:spcPts val="0"/>
              </a:spcAft>
              <a:buClr>
                <a:srgbClr val="515151"/>
              </a:buClr>
              <a:buSzPts val="1200"/>
              <a:buFont typeface="Roboto"/>
              <a:buChar char="●"/>
            </a:pPr>
            <a:r>
              <a:rPr lang="en" sz="1200">
                <a:solidFill>
                  <a:srgbClr val="515151"/>
                </a:solidFill>
                <a:highlight>
                  <a:srgbClr val="FFFFFF"/>
                </a:highlight>
                <a:latin typeface="Roboto"/>
                <a:ea typeface="Roboto"/>
                <a:cs typeface="Roboto"/>
                <a:sym typeface="Roboto"/>
              </a:rPr>
              <a:t>Java programs are machine-independent whereas a c++ program can run only in the machine in which it is compiled. </a:t>
            </a:r>
            <a:endParaRPr sz="1200">
              <a:solidFill>
                <a:srgbClr val="515151"/>
              </a:solidFill>
              <a:highlight>
                <a:srgbClr val="FFFFFF"/>
              </a:highlight>
              <a:latin typeface="Roboto"/>
              <a:ea typeface="Roboto"/>
              <a:cs typeface="Roboto"/>
              <a:sym typeface="Roboto"/>
            </a:endParaRPr>
          </a:p>
          <a:p>
            <a:pPr indent="-304800" lvl="0" marL="457200" rtl="0" algn="l">
              <a:lnSpc>
                <a:spcPct val="150000"/>
              </a:lnSpc>
              <a:spcBef>
                <a:spcPts val="0"/>
              </a:spcBef>
              <a:spcAft>
                <a:spcPts val="0"/>
              </a:spcAft>
              <a:buClr>
                <a:srgbClr val="515151"/>
              </a:buClr>
              <a:buSzPts val="1200"/>
              <a:buFont typeface="Roboto"/>
              <a:buChar char="●"/>
            </a:pPr>
            <a:r>
              <a:rPr lang="en" sz="1200">
                <a:solidFill>
                  <a:srgbClr val="515151"/>
                </a:solidFill>
                <a:highlight>
                  <a:srgbClr val="FFFFFF"/>
                </a:highlight>
                <a:latin typeface="Roboto"/>
                <a:ea typeface="Roboto"/>
                <a:cs typeface="Roboto"/>
                <a:sym typeface="Roboto"/>
              </a:rPr>
              <a:t>C++ allows users to use pointers in the program. Whereas java doesn’t allow it. Java internally uses pointers. </a:t>
            </a:r>
            <a:endParaRPr sz="1200">
              <a:solidFill>
                <a:srgbClr val="515151"/>
              </a:solidFill>
              <a:highlight>
                <a:srgbClr val="FFFFFF"/>
              </a:highlight>
              <a:latin typeface="Roboto"/>
              <a:ea typeface="Roboto"/>
              <a:cs typeface="Roboto"/>
              <a:sym typeface="Roboto"/>
            </a:endParaRPr>
          </a:p>
          <a:p>
            <a:pPr indent="-304800" lvl="0" marL="457200" rtl="0" algn="l">
              <a:lnSpc>
                <a:spcPct val="150000"/>
              </a:lnSpc>
              <a:spcBef>
                <a:spcPts val="0"/>
              </a:spcBef>
              <a:spcAft>
                <a:spcPts val="0"/>
              </a:spcAft>
              <a:buClr>
                <a:srgbClr val="515151"/>
              </a:buClr>
              <a:buSzPts val="1200"/>
              <a:buFont typeface="Roboto"/>
              <a:buChar char="●"/>
            </a:pPr>
            <a:r>
              <a:rPr lang="en" sz="1200">
                <a:solidFill>
                  <a:srgbClr val="515151"/>
                </a:solidFill>
                <a:highlight>
                  <a:srgbClr val="FFFFFF"/>
                </a:highlight>
                <a:latin typeface="Roboto"/>
                <a:ea typeface="Roboto"/>
                <a:cs typeface="Roboto"/>
                <a:sym typeface="Roboto"/>
              </a:rPr>
              <a:t>C++ supports the concept of Multiple inheritances whereas Java doesn't support this. And it is due to avoiding the complexity of name ambiguity that causes the diamond problem.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Exception?</a:t>
            </a:r>
            <a:endParaRPr/>
          </a:p>
        </p:txBody>
      </p:sp>
      <p:sp>
        <p:nvSpPr>
          <p:cNvPr id="171" name="Google Shape;17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latin typeface="Nunito"/>
                <a:ea typeface="Nunito"/>
                <a:cs typeface="Nunito"/>
                <a:sym typeface="Nunito"/>
              </a:rPr>
              <a:t>An exception is an unexpected or abnormal condition that interrupts the normal execution of a program.</a:t>
            </a:r>
            <a:endParaRPr b="1" sz="1400">
              <a:solidFill>
                <a:srgbClr val="374151"/>
              </a:solidFill>
              <a:highlight>
                <a:srgbClr val="F7F7F8"/>
              </a:highlight>
              <a:latin typeface="Nunito"/>
              <a:ea typeface="Nunito"/>
              <a:cs typeface="Nunito"/>
              <a:sym typeface="Nunito"/>
            </a:endParaRPr>
          </a:p>
          <a:p>
            <a:pPr indent="0" lvl="0" marL="0" rtl="0" algn="l">
              <a:spcBef>
                <a:spcPts val="1200"/>
              </a:spcBef>
              <a:spcAft>
                <a:spcPts val="1200"/>
              </a:spcAft>
              <a:buNone/>
            </a:pPr>
            <a:r>
              <a:rPr lang="en" sz="1400">
                <a:solidFill>
                  <a:srgbClr val="374151"/>
                </a:solidFill>
                <a:highlight>
                  <a:srgbClr val="F7F7F8"/>
                </a:highlight>
                <a:latin typeface="Nunito"/>
                <a:ea typeface="Nunito"/>
                <a:cs typeface="Nunito"/>
                <a:sym typeface="Nunito"/>
              </a:rPr>
              <a:t>In computer programming, an exception is an event or condition that interrupts the normal flow of a program's execution. It occurs when an unexpected or exceptional situation arises that the program cannot handle or recover from automatically. Exceptions are commonly used to handle errors, exceptional cases, or other unusual conditions that may occur during the execution of a program.</a:t>
            </a:r>
            <a:endParaRPr sz="1400">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Exception Handling</a:t>
            </a:r>
            <a:endParaRPr/>
          </a:p>
        </p:txBody>
      </p:sp>
      <p:sp>
        <p:nvSpPr>
          <p:cNvPr id="177" name="Google Shape;177;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latin typeface="Nunito"/>
                <a:ea typeface="Nunito"/>
                <a:cs typeface="Nunito"/>
                <a:sym typeface="Nunito"/>
              </a:rPr>
              <a:t>Exception handling refers to the process of managing and responding to exceptions that occur during the execution of a program. It involves detecting when an exception occurs, transferring control to an appropriate exception handler, and taking necessary actions to handle the exception. </a:t>
            </a:r>
            <a:r>
              <a:rPr b="1" lang="en" sz="1600">
                <a:latin typeface="Nunito"/>
                <a:ea typeface="Nunito"/>
                <a:cs typeface="Nunito"/>
                <a:sym typeface="Nunito"/>
              </a:rPr>
              <a:t>Exception handling helps to prevent program crashes and allows for graceful recovery or alternative behaviors when exceptional situations arise.</a:t>
            </a:r>
            <a:endParaRPr b="1" sz="1600">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for </a:t>
            </a:r>
            <a:r>
              <a:rPr lang="en"/>
              <a:t>Exception</a:t>
            </a:r>
            <a:r>
              <a:rPr lang="en"/>
              <a:t> Handling</a:t>
            </a:r>
            <a:endParaRPr/>
          </a:p>
        </p:txBody>
      </p:sp>
      <p:sp>
        <p:nvSpPr>
          <p:cNvPr id="183" name="Google Shape;183;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22"/>
          <p:cNvPicPr preferRelativeResize="0"/>
          <p:nvPr/>
        </p:nvPicPr>
        <p:blipFill>
          <a:blip r:embed="rId3">
            <a:alphaModFix/>
          </a:blip>
          <a:stretch>
            <a:fillRect/>
          </a:stretch>
        </p:blipFill>
        <p:spPr>
          <a:xfrm>
            <a:off x="819151" y="1990725"/>
            <a:ext cx="6579000" cy="244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Error Handling?</a:t>
            </a:r>
            <a:endParaRPr/>
          </a:p>
        </p:txBody>
      </p:sp>
      <p:sp>
        <p:nvSpPr>
          <p:cNvPr id="190" name="Google Shape;190;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Error handling refers to the process of managing and responding to errors that occur during program execution to prevent crashes and unexpected behaviors.</a:t>
            </a:r>
            <a:endParaRPr b="1"/>
          </a:p>
          <a:p>
            <a:pPr indent="0" lvl="0" marL="0" rtl="0" algn="l">
              <a:spcBef>
                <a:spcPts val="1200"/>
              </a:spcBef>
              <a:spcAft>
                <a:spcPts val="1200"/>
              </a:spcAft>
              <a:buNone/>
            </a:pPr>
            <a:r>
              <a:rPr lang="en" sz="1200">
                <a:solidFill>
                  <a:srgbClr val="374151"/>
                </a:solidFill>
                <a:highlight>
                  <a:srgbClr val="F7F7F8"/>
                </a:highlight>
                <a:latin typeface="Roboto"/>
                <a:ea typeface="Roboto"/>
                <a:cs typeface="Roboto"/>
                <a:sym typeface="Roboto"/>
              </a:rPr>
              <a:t>In programming, error handling typically involves using constructs like try-catch blocks, error codes, error objects, assertions, or other mechanisms provided by the programming language or framework. The goal of error handling is to gracefully handle errors, provide meaningful error messages or logging, and take appropriate actions to ensure the program's stability and reliability.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different between Error Handling and Exception Handling?</a:t>
            </a:r>
            <a:endParaRPr/>
          </a:p>
        </p:txBody>
      </p:sp>
      <p:sp>
        <p:nvSpPr>
          <p:cNvPr id="196" name="Google Shape;196;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20000"/>
          </a:bodyPr>
          <a:lstStyle/>
          <a:p>
            <a:pPr indent="0" lvl="0" marL="457200" rtl="0" algn="l">
              <a:spcBef>
                <a:spcPts val="1500"/>
              </a:spcBef>
              <a:spcAft>
                <a:spcPts val="0"/>
              </a:spcAft>
              <a:buNone/>
            </a:pPr>
            <a:r>
              <a:rPr b="1" lang="en" sz="1200">
                <a:solidFill>
                  <a:srgbClr val="374151"/>
                </a:solidFill>
                <a:highlight>
                  <a:srgbClr val="F7F7F8"/>
                </a:highlight>
                <a:latin typeface="Nunito"/>
                <a:ea typeface="Nunito"/>
                <a:cs typeface="Nunito"/>
                <a:sym typeface="Nunito"/>
              </a:rPr>
              <a:t>Exception handling is used to manage and recover from unexpected conditions during the execution of a Java program, while error handling deals with critical and unrecoverable issues that may lead to program termination.</a:t>
            </a:r>
            <a:endParaRPr b="1" sz="1200">
              <a:solidFill>
                <a:srgbClr val="374151"/>
              </a:solidFill>
              <a:highlight>
                <a:srgbClr val="F7F7F8"/>
              </a:highlight>
              <a:latin typeface="Nunito"/>
              <a:ea typeface="Nunito"/>
              <a:cs typeface="Nunito"/>
              <a:sym typeface="Nunito"/>
            </a:endParaRPr>
          </a:p>
          <a:p>
            <a:pPr indent="-299085" lvl="0" marL="457200" rtl="0" algn="l">
              <a:spcBef>
                <a:spcPts val="150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Exceptions</a:t>
            </a:r>
            <a:r>
              <a:rPr lang="en" sz="1200">
                <a:solidFill>
                  <a:srgbClr val="374151"/>
                </a:solidFill>
                <a:highlight>
                  <a:srgbClr val="F7F7F8"/>
                </a:highlight>
                <a:latin typeface="Nunito"/>
                <a:ea typeface="Nunito"/>
                <a:cs typeface="Nunito"/>
                <a:sym typeface="Nunito"/>
              </a:rPr>
              <a:t>: Exceptions in Java represent unexpected or exceptional conditions that occur during the normal execution of a program. Exceptions are typically recoverable and can be caught and handled using try-catch blocks. They are intended to address situations where the program can reasonably recover and continue running.</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299085" lvl="0" marL="457200" rtl="0" algn="l">
              <a:spcBef>
                <a:spcPts val="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Errors</a:t>
            </a:r>
            <a:r>
              <a:rPr lang="en" sz="1200">
                <a:solidFill>
                  <a:srgbClr val="374151"/>
                </a:solidFill>
                <a:highlight>
                  <a:srgbClr val="F7F7F8"/>
                </a:highlight>
                <a:latin typeface="Nunito"/>
                <a:ea typeface="Nunito"/>
                <a:cs typeface="Nunito"/>
                <a:sym typeface="Nunito"/>
              </a:rPr>
              <a:t>: Errors, on the other hand, represent severe and typically unrecoverable problems that usually arise from the environment or the Java runtime system itself. Errors indicate serious issues such as OutOfMemoryError, StackOverflowError, or other critical conditions that are not intended to be caught and recovered from. Errors are usually fatal and typically lead to program termination.</a:t>
            </a:r>
            <a:endParaRPr>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for Error Handling</a:t>
            </a:r>
            <a:endParaRPr/>
          </a:p>
        </p:txBody>
      </p:sp>
      <p:sp>
        <p:nvSpPr>
          <p:cNvPr id="202" name="Google Shape;202;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200">
              <a:solidFill>
                <a:srgbClr val="374151"/>
              </a:solidFill>
              <a:highlight>
                <a:srgbClr val="F7F7F8"/>
              </a:highlight>
              <a:latin typeface="Nunito"/>
              <a:ea typeface="Nunito"/>
              <a:cs typeface="Nunito"/>
              <a:sym typeface="Nunito"/>
            </a:endParaRPr>
          </a:p>
          <a:p>
            <a:pPr indent="0" lvl="0" marL="0" rtl="0" algn="l">
              <a:spcBef>
                <a:spcPts val="1200"/>
              </a:spcBef>
              <a:spcAft>
                <a:spcPts val="0"/>
              </a:spcAft>
              <a:buNone/>
            </a:pPr>
            <a:r>
              <a:t/>
            </a:r>
            <a:endParaRPr sz="1200">
              <a:solidFill>
                <a:srgbClr val="374151"/>
              </a:solidFill>
              <a:highlight>
                <a:srgbClr val="F7F7F8"/>
              </a:highlight>
              <a:latin typeface="Nunito"/>
              <a:ea typeface="Nunito"/>
              <a:cs typeface="Nunito"/>
              <a:sym typeface="Nunito"/>
            </a:endParaRPr>
          </a:p>
          <a:p>
            <a:pPr indent="0" lvl="0" marL="0" rtl="0" algn="l">
              <a:spcBef>
                <a:spcPts val="1200"/>
              </a:spcBef>
              <a:spcAft>
                <a:spcPts val="0"/>
              </a:spcAft>
              <a:buNone/>
            </a:pPr>
            <a:r>
              <a:t/>
            </a:r>
            <a:endParaRPr sz="1200">
              <a:solidFill>
                <a:srgbClr val="374151"/>
              </a:solidFill>
              <a:highlight>
                <a:srgbClr val="F7F7F8"/>
              </a:highlight>
              <a:latin typeface="Nunito"/>
              <a:ea typeface="Nunito"/>
              <a:cs typeface="Nunito"/>
              <a:sym typeface="Nunito"/>
            </a:endParaRPr>
          </a:p>
          <a:p>
            <a:pPr indent="0" lvl="0" marL="0" rtl="0" algn="l">
              <a:spcBef>
                <a:spcPts val="1200"/>
              </a:spcBef>
              <a:spcAft>
                <a:spcPts val="0"/>
              </a:spcAft>
              <a:buNone/>
            </a:pPr>
            <a:r>
              <a:t/>
            </a:r>
            <a:endParaRPr sz="1200">
              <a:solidFill>
                <a:srgbClr val="374151"/>
              </a:solidFill>
              <a:highlight>
                <a:srgbClr val="F7F7F8"/>
              </a:highlight>
              <a:latin typeface="Nunito"/>
              <a:ea typeface="Nunito"/>
              <a:cs typeface="Nunito"/>
              <a:sym typeface="Nunito"/>
            </a:endParaRPr>
          </a:p>
          <a:p>
            <a:pPr indent="0" lvl="0" marL="0" rtl="0" algn="l">
              <a:spcBef>
                <a:spcPts val="1200"/>
              </a:spcBef>
              <a:spcAft>
                <a:spcPts val="1200"/>
              </a:spcAft>
              <a:buNone/>
            </a:pPr>
            <a:r>
              <a:rPr lang="en" sz="1200">
                <a:solidFill>
                  <a:srgbClr val="374151"/>
                </a:solidFill>
                <a:highlight>
                  <a:srgbClr val="F7F7F8"/>
                </a:highlight>
                <a:latin typeface="Nunito"/>
                <a:ea typeface="Nunito"/>
                <a:cs typeface="Nunito"/>
                <a:sym typeface="Nunito"/>
              </a:rPr>
              <a:t>In this example, the code that may produce an error is enclosed within the try block. If an error occurs, such as an OutOfMemoryError, it is caught by the catch block that specifies the type of error to handle (in this case, Error). Within the catch block, you can write code to handle the error, such as logging the error message, performing necessary cleanup operations, or taking other appropriate actions.</a:t>
            </a:r>
            <a:endParaRPr>
              <a:latin typeface="Nunito"/>
              <a:ea typeface="Nunito"/>
              <a:cs typeface="Nunito"/>
              <a:sym typeface="Nunito"/>
            </a:endParaRPr>
          </a:p>
        </p:txBody>
      </p:sp>
      <p:pic>
        <p:nvPicPr>
          <p:cNvPr id="203" name="Google Shape;203;p25"/>
          <p:cNvPicPr preferRelativeResize="0"/>
          <p:nvPr/>
        </p:nvPicPr>
        <p:blipFill>
          <a:blip r:embed="rId3">
            <a:alphaModFix/>
          </a:blip>
          <a:stretch>
            <a:fillRect/>
          </a:stretch>
        </p:blipFill>
        <p:spPr>
          <a:xfrm>
            <a:off x="917350" y="1737475"/>
            <a:ext cx="6348500" cy="1680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Custom Exception</a:t>
            </a:r>
            <a:endParaRPr/>
          </a:p>
        </p:txBody>
      </p:sp>
      <p:sp>
        <p:nvSpPr>
          <p:cNvPr id="209" name="Google Shape;209;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74151"/>
                </a:solidFill>
                <a:highlight>
                  <a:srgbClr val="F7F7F8"/>
                </a:highlight>
                <a:latin typeface="Roboto"/>
                <a:ea typeface="Roboto"/>
                <a:cs typeface="Roboto"/>
                <a:sym typeface="Roboto"/>
              </a:rPr>
              <a:t>Custom exception refers to a user-defined exception class that extends the standard Exception or one of its subclasses.</a:t>
            </a:r>
            <a:r>
              <a:rPr lang="en" sz="1200">
                <a:solidFill>
                  <a:srgbClr val="374151"/>
                </a:solidFill>
                <a:highlight>
                  <a:srgbClr val="F7F7F8"/>
                </a:highlight>
                <a:latin typeface="Roboto"/>
                <a:ea typeface="Roboto"/>
                <a:cs typeface="Roboto"/>
                <a:sym typeface="Roboto"/>
              </a:rPr>
              <a:t> By creating custom exceptions, developers can handle specific exceptional scenarios that are not covered by the built-in exceptions provided by Java.</a:t>
            </a:r>
            <a:endParaRPr sz="1200">
              <a:solidFill>
                <a:srgbClr val="374151"/>
              </a:solidFill>
              <a:highlight>
                <a:srgbClr val="F7F7F8"/>
              </a:highlight>
              <a:latin typeface="Roboto"/>
              <a:ea typeface="Roboto"/>
              <a:cs typeface="Roboto"/>
              <a:sym typeface="Roboto"/>
            </a:endParaRPr>
          </a:p>
          <a:p>
            <a:pPr indent="0" lvl="0" marL="0" rtl="0" algn="l">
              <a:spcBef>
                <a:spcPts val="1200"/>
              </a:spcBef>
              <a:spcAft>
                <a:spcPts val="1200"/>
              </a:spcAft>
              <a:buNone/>
            </a:pPr>
            <a:r>
              <a:rPr lang="en" sz="1200">
                <a:solidFill>
                  <a:srgbClr val="374151"/>
                </a:solidFill>
                <a:highlight>
                  <a:srgbClr val="F7F7F8"/>
                </a:highlight>
                <a:latin typeface="Roboto"/>
                <a:ea typeface="Roboto"/>
                <a:cs typeface="Roboto"/>
                <a:sym typeface="Roboto"/>
              </a:rPr>
              <a:t>To create a custom exception in Java, you typically define a new class that extends the Exception or one of its subclasses, such as RuntimeException. This custom exception class can have additional fields, methods, and constructors to suit the specific needs of the exceptional situation it represents.</a:t>
            </a:r>
            <a:endParaRPr sz="1200">
              <a:solidFill>
                <a:srgbClr val="374151"/>
              </a:solidFill>
              <a:highlight>
                <a:srgbClr val="F7F7F8"/>
              </a:highlight>
              <a:latin typeface="Roboto"/>
              <a:ea typeface="Roboto"/>
              <a:cs typeface="Roboto"/>
              <a:sym typeface="Roboto"/>
            </a:endParaRPr>
          </a:p>
        </p:txBody>
      </p:sp>
      <p:pic>
        <p:nvPicPr>
          <p:cNvPr id="210" name="Google Shape;210;p26"/>
          <p:cNvPicPr preferRelativeResize="0"/>
          <p:nvPr/>
        </p:nvPicPr>
        <p:blipFill>
          <a:blip r:embed="rId3">
            <a:alphaModFix/>
          </a:blip>
          <a:stretch>
            <a:fillRect/>
          </a:stretch>
        </p:blipFill>
        <p:spPr>
          <a:xfrm>
            <a:off x="2230338" y="3524925"/>
            <a:ext cx="4562475" cy="1371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Exception Propagation</a:t>
            </a:r>
            <a:endParaRPr/>
          </a:p>
        </p:txBody>
      </p:sp>
      <p:sp>
        <p:nvSpPr>
          <p:cNvPr id="216" name="Google Shape;216;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74151"/>
                </a:solidFill>
                <a:highlight>
                  <a:srgbClr val="F7F7F8"/>
                </a:highlight>
                <a:latin typeface="Roboto"/>
                <a:ea typeface="Roboto"/>
                <a:cs typeface="Roboto"/>
                <a:sym typeface="Roboto"/>
              </a:rPr>
              <a:t>Exception propagation refers to the process by which an exception is passed from one method to another or from one level of the call stack to another during program execution.</a:t>
            </a:r>
            <a:endParaRPr b="1" sz="1200">
              <a:solidFill>
                <a:srgbClr val="374151"/>
              </a:solidFill>
              <a:highlight>
                <a:srgbClr val="F7F7F8"/>
              </a:highlight>
              <a:latin typeface="Roboto"/>
              <a:ea typeface="Roboto"/>
              <a:cs typeface="Roboto"/>
              <a:sym typeface="Roboto"/>
            </a:endParaRPr>
          </a:p>
          <a:p>
            <a:pPr indent="0" lvl="0" marL="0" rtl="0" algn="l">
              <a:spcBef>
                <a:spcPts val="1500"/>
              </a:spcBef>
              <a:spcAft>
                <a:spcPts val="1500"/>
              </a:spcAft>
              <a:buNone/>
            </a:pPr>
            <a:r>
              <a:rPr lang="en" sz="1200">
                <a:solidFill>
                  <a:srgbClr val="374151"/>
                </a:solidFill>
                <a:highlight>
                  <a:srgbClr val="F7F7F8"/>
                </a:highlight>
                <a:latin typeface="Roboto"/>
                <a:ea typeface="Roboto"/>
                <a:cs typeface="Roboto"/>
                <a:sym typeface="Roboto"/>
              </a:rPr>
              <a:t>When an exception occurs within a method, it is typically thrown using the </a:t>
            </a:r>
            <a:r>
              <a:rPr lang="en" sz="1050">
                <a:solidFill>
                  <a:srgbClr val="188038"/>
                </a:solidFill>
                <a:highlight>
                  <a:srgbClr val="F7F7F8"/>
                </a:highlight>
                <a:latin typeface="Courier New"/>
                <a:ea typeface="Courier New"/>
                <a:cs typeface="Courier New"/>
                <a:sym typeface="Courier New"/>
              </a:rPr>
              <a:t>throw</a:t>
            </a:r>
            <a:r>
              <a:rPr lang="en" sz="1200">
                <a:solidFill>
                  <a:srgbClr val="374151"/>
                </a:solidFill>
                <a:highlight>
                  <a:srgbClr val="F7F7F8"/>
                </a:highlight>
                <a:latin typeface="Roboto"/>
                <a:ea typeface="Roboto"/>
                <a:cs typeface="Roboto"/>
                <a:sym typeface="Roboto"/>
              </a:rPr>
              <a:t> keyword. The thrown exception is then propagated up the call stack, searching for an appropriate exception handler that can catch and handle the exception. If an exception is not caught within a method, it will be propagated to the calling method, and the process continues until either an exception handler is found or the exception reaches the top level of the call stack.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checked and unchecked exceptions in terms of propagation</a:t>
            </a:r>
            <a:endParaRPr/>
          </a:p>
        </p:txBody>
      </p:sp>
      <p:sp>
        <p:nvSpPr>
          <p:cNvPr id="222" name="Google Shape;222;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sz="1200">
                <a:solidFill>
                  <a:srgbClr val="374151"/>
                </a:solidFill>
                <a:highlight>
                  <a:srgbClr val="F7F7F8"/>
                </a:highlight>
                <a:latin typeface="Roboto"/>
                <a:ea typeface="Roboto"/>
                <a:cs typeface="Roboto"/>
                <a:sym typeface="Roboto"/>
              </a:rPr>
              <a:t>Exceptions are classified as checked exceptions and unchecked exceptions, and they differ in terms of how they propagate through method calls:</a:t>
            </a:r>
            <a:endParaRPr sz="1200">
              <a:solidFill>
                <a:srgbClr val="374151"/>
              </a:solidFill>
              <a:highlight>
                <a:srgbClr val="F7F7F8"/>
              </a:highlight>
              <a:latin typeface="Roboto"/>
              <a:ea typeface="Roboto"/>
              <a:cs typeface="Roboto"/>
              <a:sym typeface="Roboto"/>
            </a:endParaRPr>
          </a:p>
          <a:p>
            <a:pPr indent="-287655" lvl="0" marL="457200" rtl="0" algn="l">
              <a:spcBef>
                <a:spcPts val="1500"/>
              </a:spcBef>
              <a:spcAft>
                <a:spcPts val="0"/>
              </a:spcAft>
              <a:buClr>
                <a:srgbClr val="374151"/>
              </a:buClr>
              <a:buSzPct val="100000"/>
              <a:buFont typeface="Roboto"/>
              <a:buAutoNum type="arabicPeriod"/>
            </a:pPr>
            <a:r>
              <a:rPr b="1" lang="en" sz="1200">
                <a:solidFill>
                  <a:srgbClr val="374151"/>
                </a:solidFill>
                <a:highlight>
                  <a:srgbClr val="F7F7F8"/>
                </a:highlight>
                <a:latin typeface="Roboto"/>
                <a:ea typeface="Roboto"/>
                <a:cs typeface="Roboto"/>
                <a:sym typeface="Roboto"/>
              </a:rPr>
              <a:t>Checked Exceptions: Checked exceptions are exceptions that must be declared or caught.</a:t>
            </a:r>
            <a:r>
              <a:rPr lang="en" sz="1200">
                <a:solidFill>
                  <a:srgbClr val="374151"/>
                </a:solidFill>
                <a:highlight>
                  <a:srgbClr val="F7F7F8"/>
                </a:highlight>
                <a:latin typeface="Roboto"/>
                <a:ea typeface="Roboto"/>
                <a:cs typeface="Roboto"/>
                <a:sym typeface="Roboto"/>
              </a:rPr>
              <a:t> These exceptions are typically anticipated and expected to occur in certain situations. When a method throws a checked exception, any calling method is required to either handle the exception using a try-catch block or declare the exception in its own method signature using the </a:t>
            </a:r>
            <a:r>
              <a:rPr lang="en" sz="1050">
                <a:solidFill>
                  <a:srgbClr val="188038"/>
                </a:solidFill>
                <a:highlight>
                  <a:srgbClr val="F7F7F8"/>
                </a:highlight>
                <a:latin typeface="Courier New"/>
                <a:ea typeface="Courier New"/>
                <a:cs typeface="Courier New"/>
                <a:sym typeface="Courier New"/>
              </a:rPr>
              <a:t>throws</a:t>
            </a:r>
            <a:r>
              <a:rPr lang="en" sz="1200">
                <a:solidFill>
                  <a:srgbClr val="374151"/>
                </a:solidFill>
                <a:highlight>
                  <a:srgbClr val="F7F7F8"/>
                </a:highlight>
                <a:latin typeface="Roboto"/>
                <a:ea typeface="Roboto"/>
                <a:cs typeface="Roboto"/>
                <a:sym typeface="Roboto"/>
              </a:rPr>
              <a:t> keyword. This ensures that checked exceptions are explicitly acknowledged and dealt with by the calling code. Examples of checked exceptions include </a:t>
            </a:r>
            <a:r>
              <a:rPr lang="en" sz="1050">
                <a:solidFill>
                  <a:srgbClr val="188038"/>
                </a:solidFill>
                <a:highlight>
                  <a:srgbClr val="F7F7F8"/>
                </a:highlight>
                <a:latin typeface="Courier New"/>
                <a:ea typeface="Courier New"/>
                <a:cs typeface="Courier New"/>
                <a:sym typeface="Courier New"/>
              </a:rPr>
              <a:t>IOException</a:t>
            </a:r>
            <a:r>
              <a:rPr lang="en" sz="1200">
                <a:solidFill>
                  <a:srgbClr val="374151"/>
                </a:solidFill>
                <a:highlight>
                  <a:srgbClr val="F7F7F8"/>
                </a:highlight>
                <a:latin typeface="Roboto"/>
                <a:ea typeface="Roboto"/>
                <a:cs typeface="Roboto"/>
                <a:sym typeface="Roboto"/>
              </a:rPr>
              <a:t>, </a:t>
            </a:r>
            <a:r>
              <a:rPr lang="en" sz="1050">
                <a:solidFill>
                  <a:srgbClr val="188038"/>
                </a:solidFill>
                <a:highlight>
                  <a:srgbClr val="F7F7F8"/>
                </a:highlight>
                <a:latin typeface="Courier New"/>
                <a:ea typeface="Courier New"/>
                <a:cs typeface="Courier New"/>
                <a:sym typeface="Courier New"/>
              </a:rPr>
              <a:t>SQLException</a:t>
            </a:r>
            <a:r>
              <a:rPr lang="en" sz="1200">
                <a:solidFill>
                  <a:srgbClr val="374151"/>
                </a:solidFill>
                <a:highlight>
                  <a:srgbClr val="F7F7F8"/>
                </a:highlight>
                <a:latin typeface="Roboto"/>
                <a:ea typeface="Roboto"/>
                <a:cs typeface="Roboto"/>
                <a:sym typeface="Roboto"/>
              </a:rPr>
              <a:t>, and </a:t>
            </a:r>
            <a:r>
              <a:rPr lang="en" sz="1050">
                <a:solidFill>
                  <a:srgbClr val="188038"/>
                </a:solidFill>
                <a:highlight>
                  <a:srgbClr val="F7F7F8"/>
                </a:highlight>
                <a:latin typeface="Courier New"/>
                <a:ea typeface="Courier New"/>
                <a:cs typeface="Courier New"/>
                <a:sym typeface="Courier New"/>
              </a:rPr>
              <a:t>ClassNotFoundException</a:t>
            </a:r>
            <a:r>
              <a:rPr lang="en" sz="1200">
                <a:solidFill>
                  <a:srgbClr val="374151"/>
                </a:solidFill>
                <a:highlight>
                  <a:srgbClr val="F7F7F8"/>
                </a:highlight>
                <a:latin typeface="Roboto"/>
                <a:ea typeface="Roboto"/>
                <a:cs typeface="Roboto"/>
                <a:sym typeface="Roboto"/>
              </a:rPr>
              <a:t>.</a:t>
            </a:r>
            <a:endParaRPr sz="1200">
              <a:solidFill>
                <a:srgbClr val="374151"/>
              </a:solidFill>
              <a:highlight>
                <a:srgbClr val="F7F7F8"/>
              </a:highlight>
              <a:latin typeface="Roboto"/>
              <a:ea typeface="Roboto"/>
              <a:cs typeface="Roboto"/>
              <a:sym typeface="Roboto"/>
            </a:endParaRPr>
          </a:p>
          <a:p>
            <a:pPr indent="-287655" lvl="0" marL="457200" rtl="0" algn="l">
              <a:spcBef>
                <a:spcPts val="0"/>
              </a:spcBef>
              <a:spcAft>
                <a:spcPts val="0"/>
              </a:spcAft>
              <a:buClr>
                <a:srgbClr val="374151"/>
              </a:buClr>
              <a:buSzPct val="100000"/>
              <a:buFont typeface="Roboto"/>
              <a:buAutoNum type="arabicPeriod"/>
            </a:pPr>
            <a:r>
              <a:rPr b="1" lang="en" sz="1200">
                <a:solidFill>
                  <a:srgbClr val="374151"/>
                </a:solidFill>
                <a:highlight>
                  <a:srgbClr val="F7F7F8"/>
                </a:highlight>
                <a:latin typeface="Roboto"/>
                <a:ea typeface="Roboto"/>
                <a:cs typeface="Roboto"/>
                <a:sym typeface="Roboto"/>
              </a:rPr>
              <a:t>Unchecked Exceptions: Unchecked exceptions, also known as runtime exceptions, do not require explicit handling or declaration.</a:t>
            </a:r>
            <a:r>
              <a:rPr lang="en" sz="1200">
                <a:solidFill>
                  <a:srgbClr val="374151"/>
                </a:solidFill>
                <a:highlight>
                  <a:srgbClr val="F7F7F8"/>
                </a:highlight>
                <a:latin typeface="Roboto"/>
                <a:ea typeface="Roboto"/>
                <a:cs typeface="Roboto"/>
                <a:sym typeface="Roboto"/>
              </a:rPr>
              <a:t> These exceptions are usually caused by programming errors, such as invalid method arguments, null references, or arithmetic overflows. Unchecked exceptions are not checked by the compiler during compilation, so the calling code is not required to catch or declare them. If an unchecked exception is not caught and handled, it will propagate up the call stack until it reaches an appropriate exception handler or causes the program to terminate. Examples of unchecked exceptions include </a:t>
            </a:r>
            <a:r>
              <a:rPr lang="en" sz="1050">
                <a:solidFill>
                  <a:srgbClr val="188038"/>
                </a:solidFill>
                <a:highlight>
                  <a:srgbClr val="F7F7F8"/>
                </a:highlight>
                <a:latin typeface="Courier New"/>
                <a:ea typeface="Courier New"/>
                <a:cs typeface="Courier New"/>
                <a:sym typeface="Courier New"/>
              </a:rPr>
              <a:t>NullPointerException</a:t>
            </a:r>
            <a:r>
              <a:rPr lang="en" sz="1200">
                <a:solidFill>
                  <a:srgbClr val="374151"/>
                </a:solidFill>
                <a:highlight>
                  <a:srgbClr val="F7F7F8"/>
                </a:highlight>
                <a:latin typeface="Roboto"/>
                <a:ea typeface="Roboto"/>
                <a:cs typeface="Roboto"/>
                <a:sym typeface="Roboto"/>
              </a:rPr>
              <a:t>, </a:t>
            </a:r>
            <a:r>
              <a:rPr lang="en" sz="1050">
                <a:solidFill>
                  <a:srgbClr val="188038"/>
                </a:solidFill>
                <a:highlight>
                  <a:srgbClr val="F7F7F8"/>
                </a:highlight>
                <a:latin typeface="Courier New"/>
                <a:ea typeface="Courier New"/>
                <a:cs typeface="Courier New"/>
                <a:sym typeface="Courier New"/>
              </a:rPr>
              <a:t>ArrayIndexOutOfBoundsException</a:t>
            </a:r>
            <a:r>
              <a:rPr lang="en" sz="1200">
                <a:solidFill>
                  <a:srgbClr val="374151"/>
                </a:solidFill>
                <a:highlight>
                  <a:srgbClr val="F7F7F8"/>
                </a:highlight>
                <a:latin typeface="Roboto"/>
                <a:ea typeface="Roboto"/>
                <a:cs typeface="Roboto"/>
                <a:sym typeface="Roboto"/>
              </a:rPr>
              <a:t>, and </a:t>
            </a:r>
            <a:r>
              <a:rPr lang="en" sz="1050">
                <a:solidFill>
                  <a:srgbClr val="188038"/>
                </a:solidFill>
                <a:highlight>
                  <a:srgbClr val="F7F7F8"/>
                </a:highlight>
                <a:latin typeface="Courier New"/>
                <a:ea typeface="Courier New"/>
                <a:cs typeface="Courier New"/>
                <a:sym typeface="Courier New"/>
              </a:rPr>
              <a:t>IllegalArgumentException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throw</a:t>
            </a:r>
            <a:endParaRPr/>
          </a:p>
        </p:txBody>
      </p:sp>
      <p:sp>
        <p:nvSpPr>
          <p:cNvPr id="228" name="Google Shape;228;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74151"/>
                </a:solidFill>
                <a:highlight>
                  <a:srgbClr val="F7F7F8"/>
                </a:highlight>
                <a:latin typeface="Roboto"/>
                <a:ea typeface="Roboto"/>
                <a:cs typeface="Roboto"/>
                <a:sym typeface="Roboto"/>
              </a:rPr>
              <a:t>The </a:t>
            </a:r>
            <a:r>
              <a:rPr b="1" lang="en" sz="1050">
                <a:solidFill>
                  <a:srgbClr val="188038"/>
                </a:solidFill>
                <a:highlight>
                  <a:srgbClr val="F7F7F8"/>
                </a:highlight>
                <a:latin typeface="Courier New"/>
                <a:ea typeface="Courier New"/>
                <a:cs typeface="Courier New"/>
                <a:sym typeface="Courier New"/>
              </a:rPr>
              <a:t>throw</a:t>
            </a:r>
            <a:r>
              <a:rPr b="1" lang="en" sz="1200">
                <a:solidFill>
                  <a:srgbClr val="374151"/>
                </a:solidFill>
                <a:highlight>
                  <a:srgbClr val="F7F7F8"/>
                </a:highlight>
                <a:latin typeface="Roboto"/>
                <a:ea typeface="Roboto"/>
                <a:cs typeface="Roboto"/>
                <a:sym typeface="Roboto"/>
              </a:rPr>
              <a:t> keyword is used to explicitly throw an exception.</a:t>
            </a:r>
            <a:r>
              <a:rPr lang="en" sz="1200">
                <a:solidFill>
                  <a:srgbClr val="374151"/>
                </a:solidFill>
                <a:highlight>
                  <a:srgbClr val="F7F7F8"/>
                </a:highlight>
                <a:latin typeface="Roboto"/>
                <a:ea typeface="Roboto"/>
                <a:cs typeface="Roboto"/>
                <a:sym typeface="Roboto"/>
              </a:rPr>
              <a:t> When an exceptional condition occurs in a program and the developer wants to indicate that condition by throwing an exception, the </a:t>
            </a:r>
            <a:r>
              <a:rPr lang="en" sz="1050">
                <a:solidFill>
                  <a:srgbClr val="188038"/>
                </a:solidFill>
                <a:highlight>
                  <a:srgbClr val="F7F7F8"/>
                </a:highlight>
                <a:latin typeface="Courier New"/>
                <a:ea typeface="Courier New"/>
                <a:cs typeface="Courier New"/>
                <a:sym typeface="Courier New"/>
              </a:rPr>
              <a:t>throw</a:t>
            </a:r>
            <a:r>
              <a:rPr lang="en" sz="1200">
                <a:solidFill>
                  <a:srgbClr val="374151"/>
                </a:solidFill>
                <a:highlight>
                  <a:srgbClr val="F7F7F8"/>
                </a:highlight>
                <a:latin typeface="Roboto"/>
                <a:ea typeface="Roboto"/>
                <a:cs typeface="Roboto"/>
                <a:sym typeface="Roboto"/>
              </a:rPr>
              <a:t> keyword is used to do so.</a:t>
            </a:r>
            <a:endParaRPr sz="1200">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rPr lang="en" sz="1200">
                <a:solidFill>
                  <a:srgbClr val="374151"/>
                </a:solidFill>
                <a:highlight>
                  <a:srgbClr val="F7F7F8"/>
                </a:highlight>
                <a:latin typeface="Roboto"/>
                <a:ea typeface="Roboto"/>
                <a:cs typeface="Roboto"/>
                <a:sym typeface="Roboto"/>
              </a:rPr>
              <a:t>The general syntax for using </a:t>
            </a:r>
            <a:r>
              <a:rPr lang="en" sz="1050">
                <a:solidFill>
                  <a:srgbClr val="188038"/>
                </a:solidFill>
                <a:highlight>
                  <a:srgbClr val="F7F7F8"/>
                </a:highlight>
                <a:latin typeface="Courier New"/>
                <a:ea typeface="Courier New"/>
                <a:cs typeface="Courier New"/>
                <a:sym typeface="Courier New"/>
              </a:rPr>
              <a:t>throw</a:t>
            </a:r>
            <a:r>
              <a:rPr lang="en" sz="1200">
                <a:solidFill>
                  <a:srgbClr val="374151"/>
                </a:solidFill>
                <a:highlight>
                  <a:srgbClr val="F7F7F8"/>
                </a:highlight>
                <a:latin typeface="Roboto"/>
                <a:ea typeface="Roboto"/>
                <a:cs typeface="Roboto"/>
                <a:sym typeface="Roboto"/>
              </a:rPr>
              <a:t> is as follows:</a:t>
            </a:r>
            <a:endParaRPr sz="1200">
              <a:solidFill>
                <a:srgbClr val="374151"/>
              </a:solidFill>
              <a:highlight>
                <a:srgbClr val="F7F7F8"/>
              </a:highlight>
              <a:latin typeface="Roboto"/>
              <a:ea typeface="Roboto"/>
              <a:cs typeface="Roboto"/>
              <a:sym typeface="Roboto"/>
            </a:endParaRPr>
          </a:p>
          <a:p>
            <a:pPr indent="0" lvl="0" marL="0" rtl="0" algn="l">
              <a:spcBef>
                <a:spcPts val="1500"/>
              </a:spcBef>
              <a:spcAft>
                <a:spcPts val="1200"/>
              </a:spcAft>
              <a:buNone/>
            </a:pPr>
            <a:r>
              <a:t/>
            </a:r>
            <a:endParaRPr/>
          </a:p>
        </p:txBody>
      </p:sp>
      <p:pic>
        <p:nvPicPr>
          <p:cNvPr id="229" name="Google Shape;229;p29"/>
          <p:cNvPicPr preferRelativeResize="0"/>
          <p:nvPr/>
        </p:nvPicPr>
        <p:blipFill>
          <a:blip r:embed="rId3">
            <a:alphaModFix/>
          </a:blip>
          <a:stretch>
            <a:fillRect/>
          </a:stretch>
        </p:blipFill>
        <p:spPr>
          <a:xfrm>
            <a:off x="1700200" y="3151713"/>
            <a:ext cx="5743575" cy="1438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Specify the exceptions that a method may throw</a:t>
            </a:r>
            <a:endParaRPr/>
          </a:p>
        </p:txBody>
      </p:sp>
      <p:sp>
        <p:nvSpPr>
          <p:cNvPr id="235" name="Google Shape;235;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374151"/>
                </a:solidFill>
                <a:highlight>
                  <a:srgbClr val="F7F7F8"/>
                </a:highlight>
                <a:latin typeface="Roboto"/>
                <a:ea typeface="Roboto"/>
                <a:cs typeface="Roboto"/>
                <a:sym typeface="Roboto"/>
              </a:rPr>
              <a:t>Sp</a:t>
            </a:r>
            <a:r>
              <a:rPr lang="en" sz="1200">
                <a:solidFill>
                  <a:srgbClr val="374151"/>
                </a:solidFill>
                <a:highlight>
                  <a:srgbClr val="F7F7F8"/>
                </a:highlight>
                <a:latin typeface="Roboto"/>
                <a:ea typeface="Roboto"/>
                <a:cs typeface="Roboto"/>
                <a:sym typeface="Roboto"/>
              </a:rPr>
              <a:t>e</a:t>
            </a:r>
            <a:r>
              <a:rPr lang="en" sz="1200">
                <a:solidFill>
                  <a:srgbClr val="374151"/>
                </a:solidFill>
                <a:highlight>
                  <a:srgbClr val="F7F7F8"/>
                </a:highlight>
                <a:latin typeface="Roboto"/>
                <a:ea typeface="Roboto"/>
                <a:cs typeface="Roboto"/>
                <a:sym typeface="Roboto"/>
              </a:rPr>
              <a:t>cify the exceptions that a method may throw by including them in the method's signature using the </a:t>
            </a:r>
            <a:r>
              <a:rPr lang="en" sz="1050">
                <a:solidFill>
                  <a:srgbClr val="188038"/>
                </a:solidFill>
                <a:highlight>
                  <a:srgbClr val="F7F7F8"/>
                </a:highlight>
                <a:latin typeface="Courier New"/>
                <a:ea typeface="Courier New"/>
                <a:cs typeface="Courier New"/>
                <a:sym typeface="Courier New"/>
              </a:rPr>
              <a:t>throws</a:t>
            </a:r>
            <a:r>
              <a:rPr lang="en" sz="1200">
                <a:solidFill>
                  <a:srgbClr val="374151"/>
                </a:solidFill>
                <a:highlight>
                  <a:srgbClr val="F7F7F8"/>
                </a:highlight>
                <a:latin typeface="Roboto"/>
                <a:ea typeface="Roboto"/>
                <a:cs typeface="Roboto"/>
                <a:sym typeface="Roboto"/>
              </a:rPr>
              <a:t> keyword. This informs callers of the method about the exceptions they need to handle or declare in their own code.</a:t>
            </a:r>
            <a:endParaRPr sz="1200">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rPr lang="en" sz="1200">
                <a:solidFill>
                  <a:srgbClr val="374151"/>
                </a:solidFill>
                <a:highlight>
                  <a:srgbClr val="F7F7F8"/>
                </a:highlight>
                <a:latin typeface="Roboto"/>
                <a:ea typeface="Roboto"/>
                <a:cs typeface="Roboto"/>
                <a:sym typeface="Roboto"/>
              </a:rPr>
              <a:t>The syntax for specifying thrown exceptions in a method declaration is as follows:</a:t>
            </a:r>
            <a:endParaRPr sz="1200">
              <a:solidFill>
                <a:srgbClr val="374151"/>
              </a:solidFill>
              <a:highlight>
                <a:srgbClr val="F7F7F8"/>
              </a:highlight>
              <a:latin typeface="Roboto"/>
              <a:ea typeface="Roboto"/>
              <a:cs typeface="Roboto"/>
              <a:sym typeface="Roboto"/>
            </a:endParaRPr>
          </a:p>
          <a:p>
            <a:pPr indent="0" lvl="0" marL="0" rtl="0" algn="l">
              <a:spcBef>
                <a:spcPts val="1500"/>
              </a:spcBef>
              <a:spcAft>
                <a:spcPts val="1200"/>
              </a:spcAft>
              <a:buNone/>
            </a:pPr>
            <a:r>
              <a:t/>
            </a:r>
            <a:endParaRPr/>
          </a:p>
        </p:txBody>
      </p:sp>
      <p:pic>
        <p:nvPicPr>
          <p:cNvPr id="236" name="Google Shape;236;p30"/>
          <p:cNvPicPr preferRelativeResize="0"/>
          <p:nvPr/>
        </p:nvPicPr>
        <p:blipFill>
          <a:blip r:embed="rId3">
            <a:alphaModFix/>
          </a:blip>
          <a:stretch>
            <a:fillRect/>
          </a:stretch>
        </p:blipFill>
        <p:spPr>
          <a:xfrm>
            <a:off x="923075" y="3386750"/>
            <a:ext cx="6076950" cy="895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a:t>
            </a:r>
            <a:r>
              <a:rPr lang="en"/>
              <a:t>hat is OOPS?</a:t>
            </a:r>
            <a:endParaRPr/>
          </a:p>
        </p:txBody>
      </p:sp>
      <p:sp>
        <p:nvSpPr>
          <p:cNvPr id="242" name="Google Shape;242;p3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Object-Oriented Programming is a methodology or paradigm to design a program using classes and objects.</a:t>
            </a:r>
            <a:r>
              <a:rPr lang="en"/>
              <a:t> </a:t>
            </a:r>
            <a:endParaRPr/>
          </a:p>
          <a:p>
            <a:pPr indent="0" lvl="0" marL="0" rtl="0" algn="l">
              <a:spcBef>
                <a:spcPts val="1200"/>
              </a:spcBef>
              <a:spcAft>
                <a:spcPts val="0"/>
              </a:spcAft>
              <a:buNone/>
            </a:pPr>
            <a:r>
              <a:rPr lang="en"/>
              <a:t>It simplifies software development and maintenance by providing some concepts: Object. Class.</a:t>
            </a:r>
            <a:endParaRPr/>
          </a:p>
          <a:p>
            <a:pPr indent="0" lvl="0" marL="0" rtl="0" algn="l">
              <a:spcBef>
                <a:spcPts val="1200"/>
              </a:spcBef>
              <a:spcAft>
                <a:spcPts val="1200"/>
              </a:spcAft>
              <a:buNone/>
            </a:pPr>
            <a:r>
              <a:rPr b="1" lang="en"/>
              <a:t>Object-Oriented Programming System is the programming technique to write programs based on the real-world objects.</a:t>
            </a:r>
            <a:r>
              <a:rPr lang="en"/>
              <a:t> The states and behaviors of an object are represented as the member variables and methods. In OOPS programming programs are organized around objects and data rather than actions and logic.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the Class?</a:t>
            </a:r>
            <a:endParaRPr/>
          </a:p>
        </p:txBody>
      </p:sp>
      <p:sp>
        <p:nvSpPr>
          <p:cNvPr id="248" name="Google Shape;248;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class is a group of objects which have common properties. It is a template or blueprint from which objects are created. In short, </a:t>
            </a:r>
            <a:r>
              <a:rPr b="1" lang="en"/>
              <a:t>a class is the specification or template of an object.</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Abstraction?</a:t>
            </a:r>
            <a:endParaRPr/>
          </a:p>
        </p:txBody>
      </p:sp>
      <p:sp>
        <p:nvSpPr>
          <p:cNvPr id="254" name="Google Shape;254;p3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Abstraction in Java refers to </a:t>
            </a:r>
            <a:r>
              <a:rPr b="1" lang="en"/>
              <a:t>hiding the implementation details of a code and exposing only the necessary information to the user.</a:t>
            </a:r>
            <a:r>
              <a:rPr lang="en"/>
              <a:t> It provides the ability to simplify complex systems by ignoring irrelevant details and reducing complexity.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Encapsulation?</a:t>
            </a:r>
            <a:endParaRPr/>
          </a:p>
        </p:txBody>
      </p:sp>
      <p:sp>
        <p:nvSpPr>
          <p:cNvPr id="260" name="Google Shape;260;p3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Encapsulation refers to combining data and associated functions as a single unit.</a:t>
            </a:r>
            <a:r>
              <a:rPr lang="en"/>
              <a:t> In OOP, data and functions operating on that data are combined together to form a single unit, which is referred to as a class.</a:t>
            </a:r>
            <a:endParaRPr/>
          </a:p>
          <a:p>
            <a:pPr indent="0" lvl="0" marL="0" rtl="0" algn="l">
              <a:spcBef>
                <a:spcPts val="1200"/>
              </a:spcBef>
              <a:spcAft>
                <a:spcPts val="0"/>
              </a:spcAft>
              <a:buNone/>
            </a:pPr>
            <a:r>
              <a:rPr b="1" lang="en"/>
              <a:t>Encapsulation is the technique whereby the object's state is hidden from the outer world and a set of public methods for accessing this state are exposed.</a:t>
            </a:r>
            <a:r>
              <a:rPr lang="en"/>
              <a:t> When each object keeps its state private inside a class, we can say that encapsulation was achieved. This is why encapsulation is also referenced as the data-hiding mechanism.</a:t>
            </a:r>
            <a:endParaRPr/>
          </a:p>
          <a:p>
            <a:pPr indent="0" lvl="0" marL="0" rtl="0" algn="l">
              <a:spcBef>
                <a:spcPts val="1200"/>
              </a:spcBef>
              <a:spcAft>
                <a:spcPts val="0"/>
              </a:spcAft>
              <a:buNone/>
            </a:pPr>
            <a:r>
              <a:rPr lang="en"/>
              <a:t>Encapsulation has a number of important advantages such as loosely coupled, reusable, secure, and easy to test code.</a:t>
            </a:r>
            <a:endParaRPr/>
          </a:p>
          <a:p>
            <a:pPr indent="0" lvl="0" marL="0" rtl="0" algn="l">
              <a:spcBef>
                <a:spcPts val="1200"/>
              </a:spcBef>
              <a:spcAft>
                <a:spcPts val="1200"/>
              </a:spcAft>
              <a:buNone/>
            </a:pPr>
            <a:r>
              <a:rPr lang="en"/>
              <a:t>In Java, encapsulation is implemented via the </a:t>
            </a:r>
            <a:r>
              <a:rPr b="1" lang="en"/>
              <a:t>access modifiers</a:t>
            </a:r>
            <a:r>
              <a:rPr lang="en"/>
              <a:t> - </a:t>
            </a:r>
            <a:r>
              <a:rPr b="1" lang="en"/>
              <a:t>public, private, and protected</a:t>
            </a:r>
            <a:r>
              <a:rPr lang="en"/>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Inheritance?</a:t>
            </a:r>
            <a:endParaRPr/>
          </a:p>
        </p:txBody>
      </p:sp>
      <p:sp>
        <p:nvSpPr>
          <p:cNvPr id="266" name="Google Shape;266;p3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The Inheritance is a process of obtaining the data members and methods from one class to another class, plus can have its own is known as inheritance.</a:t>
            </a:r>
            <a:r>
              <a:rPr lang="en"/>
              <a:t> It is one of the fundamental features of object-oriented programming.</a:t>
            </a:r>
            <a:endParaRPr/>
          </a:p>
          <a:p>
            <a:pPr indent="0" lvl="0" marL="0" rtl="0" algn="l">
              <a:spcBef>
                <a:spcPts val="1200"/>
              </a:spcBef>
              <a:spcAft>
                <a:spcPts val="0"/>
              </a:spcAft>
              <a:buNone/>
            </a:pPr>
            <a:r>
              <a:rPr b="1" lang="en"/>
              <a:t>Super Class:</a:t>
            </a:r>
            <a:r>
              <a:rPr lang="en"/>
              <a:t> The class whose features are inherited is known as a </a:t>
            </a:r>
            <a:r>
              <a:rPr b="1" lang="en"/>
              <a:t>superclass</a:t>
            </a:r>
            <a:r>
              <a:rPr lang="en"/>
              <a:t> (or a </a:t>
            </a:r>
            <a:r>
              <a:rPr b="1" lang="en"/>
              <a:t>base class</a:t>
            </a:r>
            <a:r>
              <a:rPr lang="en"/>
              <a:t> or a </a:t>
            </a:r>
            <a:r>
              <a:rPr b="1" lang="en"/>
              <a:t>parent class</a:t>
            </a:r>
            <a:r>
              <a:rPr lang="en"/>
              <a:t>).</a:t>
            </a:r>
            <a:endParaRPr/>
          </a:p>
          <a:p>
            <a:pPr indent="0" lvl="0" marL="0" rtl="0" algn="l">
              <a:spcBef>
                <a:spcPts val="1200"/>
              </a:spcBef>
              <a:spcAft>
                <a:spcPts val="0"/>
              </a:spcAft>
              <a:buNone/>
            </a:pPr>
            <a:r>
              <a:rPr b="1" lang="en"/>
              <a:t>Sub Class:</a:t>
            </a:r>
            <a:r>
              <a:rPr lang="en"/>
              <a:t> The class that inherits the other class is known as a subclass(or a </a:t>
            </a:r>
            <a:r>
              <a:rPr b="1" lang="en"/>
              <a:t>derived class</a:t>
            </a:r>
            <a:r>
              <a:rPr lang="en"/>
              <a:t>, </a:t>
            </a:r>
            <a:r>
              <a:rPr b="1" lang="en"/>
              <a:t>extended class</a:t>
            </a:r>
            <a:r>
              <a:rPr lang="en"/>
              <a:t>, or </a:t>
            </a:r>
            <a:r>
              <a:rPr b="1" lang="en"/>
              <a:t>child class</a:t>
            </a:r>
            <a:r>
              <a:rPr lang="en"/>
              <a:t>). The subclass can add its own fields and methods in addition to the superclass fields and methods.</a:t>
            </a:r>
            <a:endParaRPr/>
          </a:p>
          <a:p>
            <a:pPr indent="0" lvl="0" marL="0" rtl="0" algn="l">
              <a:lnSpc>
                <a:spcPct val="146739"/>
              </a:lnSpc>
              <a:spcBef>
                <a:spcPts val="1500"/>
              </a:spcBef>
              <a:spcAft>
                <a:spcPts val="0"/>
              </a:spcAft>
              <a:buNone/>
            </a:pPr>
            <a:r>
              <a:rPr b="1" lang="en" sz="2300">
                <a:solidFill>
                  <a:srgbClr val="000000"/>
                </a:solidFill>
                <a:highlight>
                  <a:srgbClr val="FFFFFF"/>
                </a:highlight>
                <a:latin typeface="Arial"/>
                <a:ea typeface="Arial"/>
                <a:cs typeface="Arial"/>
                <a:sym typeface="Arial"/>
              </a:rPr>
              <a:t>Why multiple inheritance is not supported in java?</a:t>
            </a:r>
            <a:endParaRPr b="1" sz="2300">
              <a:solidFill>
                <a:srgbClr val="000000"/>
              </a:solidFill>
              <a:highlight>
                <a:srgbClr val="FFFFFF"/>
              </a:highlight>
              <a:latin typeface="Arial"/>
              <a:ea typeface="Arial"/>
              <a:cs typeface="Arial"/>
              <a:sym typeface="Arial"/>
            </a:endParaRPr>
          </a:p>
          <a:p>
            <a:pPr indent="0" lvl="0" marL="0" rtl="0" algn="l">
              <a:spcBef>
                <a:spcPts val="1500"/>
              </a:spcBef>
              <a:spcAft>
                <a:spcPts val="1200"/>
              </a:spcAft>
              <a:buNone/>
            </a:pPr>
            <a:r>
              <a:rPr lang="en" sz="1200">
                <a:solidFill>
                  <a:srgbClr val="24292E"/>
                </a:solidFill>
                <a:highlight>
                  <a:srgbClr val="FFFFFF"/>
                </a:highlight>
                <a:latin typeface="Arial"/>
                <a:ea typeface="Arial"/>
                <a:cs typeface="Arial"/>
                <a:sym typeface="Arial"/>
              </a:rPr>
              <a:t>To reduce the complexity and simplify the language, multiple inheritances is not supported in java.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Polymorphism</a:t>
            </a:r>
            <a:endParaRPr/>
          </a:p>
        </p:txBody>
      </p:sp>
      <p:sp>
        <p:nvSpPr>
          <p:cNvPr id="272" name="Google Shape;272;p36"/>
          <p:cNvSpPr txBox="1"/>
          <p:nvPr>
            <p:ph idx="1" type="body"/>
          </p:nvPr>
        </p:nvSpPr>
        <p:spPr>
          <a:xfrm>
            <a:off x="819150" y="1572350"/>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The process of representing one form in multiple forms is known as Polymorphism.</a:t>
            </a:r>
            <a:endParaRPr b="1"/>
          </a:p>
        </p:txBody>
      </p:sp>
      <p:pic>
        <p:nvPicPr>
          <p:cNvPr id="273" name="Google Shape;273;p36"/>
          <p:cNvPicPr preferRelativeResize="0"/>
          <p:nvPr/>
        </p:nvPicPr>
        <p:blipFill>
          <a:blip r:embed="rId3">
            <a:alphaModFix/>
          </a:blip>
          <a:stretch>
            <a:fillRect/>
          </a:stretch>
        </p:blipFill>
        <p:spPr>
          <a:xfrm>
            <a:off x="819150" y="2024150"/>
            <a:ext cx="7505700" cy="2701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 of Polymorphism in Java</a:t>
            </a:r>
            <a:endParaRPr/>
          </a:p>
        </p:txBody>
      </p:sp>
      <p:sp>
        <p:nvSpPr>
          <p:cNvPr id="279" name="Google Shape;279;p3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Compile time polymorphism</a:t>
            </a:r>
            <a:r>
              <a:rPr lang="en"/>
              <a:t> or </a:t>
            </a:r>
            <a:r>
              <a:rPr b="1" lang="en"/>
              <a:t>method overloading</a:t>
            </a:r>
            <a:r>
              <a:rPr lang="en"/>
              <a:t> or </a:t>
            </a:r>
            <a:r>
              <a:rPr b="1" lang="en"/>
              <a:t>static banding</a:t>
            </a:r>
            <a:endParaRPr b="1"/>
          </a:p>
          <a:p>
            <a:pPr indent="0" lvl="0" marL="0" rtl="0" algn="l">
              <a:spcBef>
                <a:spcPts val="1200"/>
              </a:spcBef>
              <a:spcAft>
                <a:spcPts val="0"/>
              </a:spcAft>
              <a:buNone/>
            </a:pPr>
            <a:r>
              <a:rPr b="1" lang="en"/>
              <a:t>Runtime polymorphism</a:t>
            </a:r>
            <a:r>
              <a:rPr lang="en"/>
              <a:t> or </a:t>
            </a:r>
            <a:r>
              <a:rPr b="1" lang="en"/>
              <a:t>method overriding</a:t>
            </a:r>
            <a:r>
              <a:rPr lang="en"/>
              <a:t> or </a:t>
            </a:r>
            <a:r>
              <a:rPr b="1" lang="en"/>
              <a:t>dynamic binding</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lang="en"/>
              <a:t>When a type of object is determined at a compiled time(by the compiler), it is known as </a:t>
            </a:r>
            <a:r>
              <a:rPr b="1" lang="en"/>
              <a:t>static binding</a:t>
            </a:r>
            <a:r>
              <a:rPr lang="en"/>
              <a:t>.</a:t>
            </a:r>
            <a:endParaRPr/>
          </a:p>
          <a:p>
            <a:pPr indent="0" lvl="0" marL="0" rtl="0" algn="l">
              <a:spcBef>
                <a:spcPts val="1200"/>
              </a:spcBef>
              <a:spcAft>
                <a:spcPts val="0"/>
              </a:spcAft>
              <a:buNone/>
            </a:pPr>
            <a:r>
              <a:rPr lang="en"/>
              <a:t>When a type of object is determined at run-time, it is known as </a:t>
            </a:r>
            <a:r>
              <a:rPr b="1" lang="en"/>
              <a:t>dynamic binding</a:t>
            </a:r>
            <a:r>
              <a:rPr lang="en"/>
              <a:t>.</a:t>
            </a:r>
            <a:endParaRPr/>
          </a:p>
          <a:p>
            <a:pPr indent="0" lvl="0" marL="0" rtl="0" algn="l">
              <a:spcBef>
                <a:spcPts val="1200"/>
              </a:spcBef>
              <a:spcAft>
                <a:spcPts val="1200"/>
              </a:spcAft>
              <a:buNone/>
            </a:pPr>
            <a:r>
              <a:rPr b="1" lang="en"/>
              <a:t>Method Overloading</a:t>
            </a:r>
            <a:r>
              <a:rPr lang="en"/>
              <a:t>: changing </a:t>
            </a:r>
            <a:r>
              <a:rPr b="1" lang="en"/>
              <a:t>no. of arguments or </a:t>
            </a:r>
            <a:r>
              <a:rPr b="1" lang="en"/>
              <a:t>the data type of arguments</a:t>
            </a:r>
            <a:br>
              <a:rPr b="1" lang="en"/>
            </a:br>
            <a:r>
              <a:rPr b="1" lang="en"/>
              <a:t>Method overriding</a:t>
            </a:r>
            <a:r>
              <a:rPr lang="en"/>
              <a:t> is a process in which a call to an overridden method is resolved at runtime rather than compile-time.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